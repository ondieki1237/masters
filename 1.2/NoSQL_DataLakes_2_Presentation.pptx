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notesMaster" Target="notesMasters/notesMaster1.xml" /><Relationship Id="rId40"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088609DB-8170-4E4F-BB66-97B907AC7BEC}" type="datetimeFigureOut">
              <a:rPr lang="en-US" smtClean="0"/>
              <a:t>2/18/2026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6824DCAE-1598-0B4E-9BDC-714410D1BC7D}" type="slidenum">
              <a:rPr lang="en-US" smtClean="0"/>
              <a:t>‹#›</a:t>
            </a:fld>
            <a:endParaRPr lang="en-US"/>
          </a:p>
        </p:txBody>
      </p:sp>
    </p:spTree>
    <p:extLst>
      <p:ext uri="{BB962C8B-B14F-4D97-AF65-F5344CB8AC3E}">
        <p14:creationId xmlns:p14="http://schemas.microsoft.com/office/powerpoint/2010/main" val="687159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1.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1.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1.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1.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1.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6858000" y="-914400"/>
            <a:ext cx="4114800" cy="4114800"/>
          </a:xfrm>
          <a:prstGeom prst="ellipse">
            <a:avLst/>
          </a:prstGeom>
          <a:solidFill>
            <a:srgbClr val="028090">
              <a:alpha val="22000"/>
            </a:srgbClr>
          </a:solidFill>
          <a:ln w="12700">
            <a:solidFill>
              <a:srgbClr val="028090">
                <a:alpha val="22000"/>
              </a:srgbClr>
            </a:solidFill>
            <a:prstDash val="solid"/>
          </a:ln>
        </p:spPr>
      </p:sp>
      <p:sp>
        <p:nvSpPr>
          <p:cNvPr id="5" name="Shape 3"/>
          <p:cNvSpPr/>
          <p:nvPr/>
        </p:nvSpPr>
        <p:spPr>
          <a:xfrm>
            <a:off x="-1371600" y="3200400"/>
            <a:ext cx="3657600" cy="3657600"/>
          </a:xfrm>
          <a:prstGeom prst="ellipse">
            <a:avLst/>
          </a:prstGeom>
          <a:solidFill>
            <a:srgbClr val="00A896">
              <a:alpha val="18000"/>
            </a:srgbClr>
          </a:solidFill>
          <a:ln w="12700">
            <a:solidFill>
              <a:srgbClr val="00A896">
                <a:alpha val="18000"/>
              </a:srgbClr>
            </a:solidFill>
            <a:prstDash val="solid"/>
          </a:ln>
        </p:spPr>
      </p:sp>
      <p:sp>
        <p:nvSpPr>
          <p:cNvPr id="6" name="Text 4"/>
          <p:cNvSpPr/>
          <p:nvPr/>
        </p:nvSpPr>
        <p:spPr>
          <a:xfrm>
            <a:off x="457200" y="1005840"/>
            <a:ext cx="8229600" cy="146304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NoSQL &amp; Data Lakes</a:t>
            </a:r>
            <a:endParaRPr lang="en-US" sz="5200" dirty="0"/>
          </a:p>
        </p:txBody>
      </p:sp>
      <p:sp>
        <p:nvSpPr>
          <p:cNvPr id="7" name="Text 5"/>
          <p:cNvSpPr/>
          <p:nvPr/>
        </p:nvSpPr>
        <p:spPr>
          <a:xfrm>
            <a:off x="457200" y="2514600"/>
            <a:ext cx="8229600" cy="548640"/>
          </a:xfrm>
          <a:prstGeom prst="rect">
            <a:avLst/>
          </a:prstGeom>
          <a:noFill/>
          <a:ln/>
        </p:spPr>
        <p:txBody>
          <a:bodyPr wrap="square" rtlCol="0" anchor="ctr"/>
          <a:lstStyle/>
          <a:p>
            <a:pPr marL="0" indent="0" algn="ctr">
              <a:buNone/>
            </a:pPr>
            <a:r>
              <a:rPr lang="en-US" sz="2200" dirty="0">
                <a:solidFill>
                  <a:srgbClr val="F0C040"/>
                </a:solidFill>
                <a:latin typeface="Calibri" pitchFamily="34" charset="0"/>
                <a:ea typeface="Calibri" pitchFamily="34" charset="-122"/>
                <a:cs typeface="Calibri" pitchFamily="34" charset="-120"/>
              </a:rPr>
              <a:t>A Comprehensive 1-Hour Deep Dive</a:t>
            </a:r>
            <a:endParaRPr lang="en-US" sz="2200" dirty="0"/>
          </a:p>
        </p:txBody>
      </p:sp>
      <p:sp>
        <p:nvSpPr>
          <p:cNvPr id="8" name="Text 6"/>
          <p:cNvSpPr/>
          <p:nvPr/>
        </p:nvSpPr>
        <p:spPr>
          <a:xfrm>
            <a:off x="457200" y="3154680"/>
            <a:ext cx="8229600" cy="411480"/>
          </a:xfrm>
          <a:prstGeom prst="rect">
            <a:avLst/>
          </a:prstGeom>
          <a:noFill/>
          <a:ln/>
        </p:spPr>
        <p:txBody>
          <a:bodyPr wrap="square" rtlCol="0" anchor="ctr"/>
          <a:lstStyle/>
          <a:p>
            <a:pPr marL="0" indent="0" algn="ctr">
              <a:buNone/>
            </a:pPr>
            <a:r>
              <a:rPr lang="en-US" sz="1400" i="1" dirty="0">
                <a:solidFill>
                  <a:srgbClr val="02C39A"/>
                </a:solidFill>
                <a:latin typeface="Calibri" pitchFamily="34" charset="0"/>
                <a:ea typeface="Calibri" pitchFamily="34" charset="-122"/>
                <a:cs typeface="Calibri" pitchFamily="34" charset="-120"/>
              </a:rPr>
              <a:t>History · Concepts · Architecture · Public Health Application</a:t>
            </a:r>
            <a:endParaRPr lang="en-US" sz="1400" dirty="0"/>
          </a:p>
        </p:txBody>
      </p:sp>
      <p:sp>
        <p:nvSpPr>
          <p:cNvPr id="9" name="Text 7"/>
          <p:cNvSpPr/>
          <p:nvPr/>
        </p:nvSpPr>
        <p:spPr>
          <a:xfrm>
            <a:off x="457200" y="4480560"/>
            <a:ext cx="8229600" cy="365760"/>
          </a:xfrm>
          <a:prstGeom prst="rect">
            <a:avLst/>
          </a:prstGeom>
          <a:noFill/>
          <a:ln/>
        </p:spPr>
        <p:txBody>
          <a:bodyPr wrap="square"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Approx. 60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Session Roadmap — 8 Modules</a:t>
            </a:r>
            <a:endParaRPr lang="en-US" sz="2400" dirty="0"/>
          </a:p>
        </p:txBody>
      </p:sp>
      <p:sp>
        <p:nvSpPr>
          <p:cNvPr id="5" name="Shape 3"/>
          <p:cNvSpPr/>
          <p:nvPr/>
        </p:nvSpPr>
        <p:spPr>
          <a:xfrm>
            <a:off x="32004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sp>
      <p:sp>
        <p:nvSpPr>
          <p:cNvPr id="6" name="Shape 4"/>
          <p:cNvSpPr/>
          <p:nvPr/>
        </p:nvSpPr>
        <p:spPr>
          <a:xfrm>
            <a:off x="320040" y="1005840"/>
            <a:ext cx="2011680" cy="502920"/>
          </a:xfrm>
          <a:prstGeom prst="rect">
            <a:avLst/>
          </a:prstGeom>
          <a:solidFill>
            <a:srgbClr val="0A2342"/>
          </a:solidFill>
          <a:ln w="12700">
            <a:solidFill>
              <a:srgbClr val="0A2342"/>
            </a:solidFill>
            <a:prstDash val="solid"/>
          </a:ln>
        </p:spPr>
      </p:sp>
      <p:sp>
        <p:nvSpPr>
          <p:cNvPr id="7" name="Text 5"/>
          <p:cNvSpPr/>
          <p:nvPr/>
        </p:nvSpPr>
        <p:spPr>
          <a:xfrm>
            <a:off x="32004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A</a:t>
            </a:r>
            <a:endParaRPr lang="en-US" sz="2200" dirty="0"/>
          </a:p>
        </p:txBody>
      </p:sp>
      <p:sp>
        <p:nvSpPr>
          <p:cNvPr id="8" name="Text 6"/>
          <p:cNvSpPr/>
          <p:nvPr/>
        </p:nvSpPr>
        <p:spPr>
          <a:xfrm>
            <a:off x="39319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NoSQL History &amp; Evolution</a:t>
            </a:r>
            <a:endParaRPr lang="en-US" sz="1150" dirty="0"/>
          </a:p>
        </p:txBody>
      </p:sp>
      <p:sp>
        <p:nvSpPr>
          <p:cNvPr id="9" name="Shape 7"/>
          <p:cNvSpPr/>
          <p:nvPr/>
        </p:nvSpPr>
        <p:spPr>
          <a:xfrm>
            <a:off x="246888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sp>
      <p:sp>
        <p:nvSpPr>
          <p:cNvPr id="10" name="Shape 8"/>
          <p:cNvSpPr/>
          <p:nvPr/>
        </p:nvSpPr>
        <p:spPr>
          <a:xfrm>
            <a:off x="2468880" y="1005840"/>
            <a:ext cx="2011680" cy="502920"/>
          </a:xfrm>
          <a:prstGeom prst="rect">
            <a:avLst/>
          </a:prstGeom>
          <a:solidFill>
            <a:srgbClr val="0A2342"/>
          </a:solidFill>
          <a:ln w="12700">
            <a:solidFill>
              <a:srgbClr val="0A2342"/>
            </a:solidFill>
            <a:prstDash val="solid"/>
          </a:ln>
        </p:spPr>
      </p:sp>
      <p:sp>
        <p:nvSpPr>
          <p:cNvPr id="11" name="Text 9"/>
          <p:cNvSpPr/>
          <p:nvPr/>
        </p:nvSpPr>
        <p:spPr>
          <a:xfrm>
            <a:off x="246888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B</a:t>
            </a:r>
            <a:endParaRPr lang="en-US" sz="2200" dirty="0"/>
          </a:p>
        </p:txBody>
      </p:sp>
      <p:sp>
        <p:nvSpPr>
          <p:cNvPr id="12" name="Text 10"/>
          <p:cNvSpPr/>
          <p:nvPr/>
        </p:nvSpPr>
        <p:spPr>
          <a:xfrm>
            <a:off x="254203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Definitions &amp; Key Terms</a:t>
            </a:r>
            <a:endParaRPr lang="en-US" sz="1150" dirty="0"/>
          </a:p>
        </p:txBody>
      </p:sp>
      <p:sp>
        <p:nvSpPr>
          <p:cNvPr id="13" name="Shape 11"/>
          <p:cNvSpPr/>
          <p:nvPr/>
        </p:nvSpPr>
        <p:spPr>
          <a:xfrm>
            <a:off x="461772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sp>
      <p:sp>
        <p:nvSpPr>
          <p:cNvPr id="14" name="Shape 12"/>
          <p:cNvSpPr/>
          <p:nvPr/>
        </p:nvSpPr>
        <p:spPr>
          <a:xfrm>
            <a:off x="4617720" y="1005840"/>
            <a:ext cx="2011680" cy="502920"/>
          </a:xfrm>
          <a:prstGeom prst="rect">
            <a:avLst/>
          </a:prstGeom>
          <a:solidFill>
            <a:srgbClr val="0A2342"/>
          </a:solidFill>
          <a:ln w="12700">
            <a:solidFill>
              <a:srgbClr val="0A2342"/>
            </a:solidFill>
            <a:prstDash val="solid"/>
          </a:ln>
        </p:spPr>
      </p:sp>
      <p:sp>
        <p:nvSpPr>
          <p:cNvPr id="15" name="Text 13"/>
          <p:cNvSpPr/>
          <p:nvPr/>
        </p:nvSpPr>
        <p:spPr>
          <a:xfrm>
            <a:off x="461772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C</a:t>
            </a:r>
            <a:endParaRPr lang="en-US" sz="2200" dirty="0"/>
          </a:p>
        </p:txBody>
      </p:sp>
      <p:sp>
        <p:nvSpPr>
          <p:cNvPr id="16" name="Text 14"/>
          <p:cNvSpPr/>
          <p:nvPr/>
        </p:nvSpPr>
        <p:spPr>
          <a:xfrm>
            <a:off x="469087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Features, Design &amp; Deployment</a:t>
            </a:r>
            <a:endParaRPr lang="en-US" sz="1150" dirty="0"/>
          </a:p>
        </p:txBody>
      </p:sp>
      <p:sp>
        <p:nvSpPr>
          <p:cNvPr id="17" name="Shape 15"/>
          <p:cNvSpPr/>
          <p:nvPr/>
        </p:nvSpPr>
        <p:spPr>
          <a:xfrm>
            <a:off x="676656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sp>
      <p:sp>
        <p:nvSpPr>
          <p:cNvPr id="18" name="Shape 16"/>
          <p:cNvSpPr/>
          <p:nvPr/>
        </p:nvSpPr>
        <p:spPr>
          <a:xfrm>
            <a:off x="6766560" y="1005840"/>
            <a:ext cx="2011680" cy="502920"/>
          </a:xfrm>
          <a:prstGeom prst="rect">
            <a:avLst/>
          </a:prstGeom>
          <a:solidFill>
            <a:srgbClr val="0A2342"/>
          </a:solidFill>
          <a:ln w="12700">
            <a:solidFill>
              <a:srgbClr val="0A2342"/>
            </a:solidFill>
            <a:prstDash val="solid"/>
          </a:ln>
        </p:spPr>
      </p:sp>
      <p:sp>
        <p:nvSpPr>
          <p:cNvPr id="19" name="Text 17"/>
          <p:cNvSpPr/>
          <p:nvPr/>
        </p:nvSpPr>
        <p:spPr>
          <a:xfrm>
            <a:off x="676656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D</a:t>
            </a:r>
            <a:endParaRPr lang="en-US" sz="2200" dirty="0"/>
          </a:p>
        </p:txBody>
      </p:sp>
      <p:sp>
        <p:nvSpPr>
          <p:cNvPr id="20" name="Text 18"/>
          <p:cNvSpPr/>
          <p:nvPr/>
        </p:nvSpPr>
        <p:spPr>
          <a:xfrm>
            <a:off x="683971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Relational vs NoSQL &amp; Types</a:t>
            </a:r>
            <a:endParaRPr lang="en-US" sz="1150" dirty="0"/>
          </a:p>
        </p:txBody>
      </p:sp>
      <p:sp>
        <p:nvSpPr>
          <p:cNvPr id="21" name="Shape 19"/>
          <p:cNvSpPr/>
          <p:nvPr/>
        </p:nvSpPr>
        <p:spPr>
          <a:xfrm>
            <a:off x="32004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sp>
      <p:sp>
        <p:nvSpPr>
          <p:cNvPr id="22" name="Shape 20"/>
          <p:cNvSpPr/>
          <p:nvPr/>
        </p:nvSpPr>
        <p:spPr>
          <a:xfrm>
            <a:off x="320040" y="2926080"/>
            <a:ext cx="2011680" cy="502920"/>
          </a:xfrm>
          <a:prstGeom prst="rect">
            <a:avLst/>
          </a:prstGeom>
          <a:solidFill>
            <a:srgbClr val="028090"/>
          </a:solidFill>
          <a:ln w="12700">
            <a:solidFill>
              <a:srgbClr val="028090"/>
            </a:solidFill>
            <a:prstDash val="solid"/>
          </a:ln>
        </p:spPr>
      </p:sp>
      <p:sp>
        <p:nvSpPr>
          <p:cNvPr id="23" name="Text 21"/>
          <p:cNvSpPr/>
          <p:nvPr/>
        </p:nvSpPr>
        <p:spPr>
          <a:xfrm>
            <a:off x="32004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E</a:t>
            </a:r>
            <a:endParaRPr lang="en-US" sz="2200" dirty="0"/>
          </a:p>
        </p:txBody>
      </p:sp>
      <p:sp>
        <p:nvSpPr>
          <p:cNvPr id="24" name="Text 22"/>
          <p:cNvSpPr/>
          <p:nvPr/>
        </p:nvSpPr>
        <p:spPr>
          <a:xfrm>
            <a:off x="39319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Data Lakes: Intro &amp; History</a:t>
            </a:r>
            <a:endParaRPr lang="en-US" sz="1150" dirty="0"/>
          </a:p>
        </p:txBody>
      </p:sp>
      <p:sp>
        <p:nvSpPr>
          <p:cNvPr id="25" name="Shape 23"/>
          <p:cNvSpPr/>
          <p:nvPr/>
        </p:nvSpPr>
        <p:spPr>
          <a:xfrm>
            <a:off x="246888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sp>
      <p:sp>
        <p:nvSpPr>
          <p:cNvPr id="26" name="Shape 24"/>
          <p:cNvSpPr/>
          <p:nvPr/>
        </p:nvSpPr>
        <p:spPr>
          <a:xfrm>
            <a:off x="2468880" y="2926080"/>
            <a:ext cx="2011680" cy="502920"/>
          </a:xfrm>
          <a:prstGeom prst="rect">
            <a:avLst/>
          </a:prstGeom>
          <a:solidFill>
            <a:srgbClr val="028090"/>
          </a:solidFill>
          <a:ln w="12700">
            <a:solidFill>
              <a:srgbClr val="028090"/>
            </a:solidFill>
            <a:prstDash val="solid"/>
          </a:ln>
        </p:spPr>
      </p:sp>
      <p:sp>
        <p:nvSpPr>
          <p:cNvPr id="27" name="Text 25"/>
          <p:cNvSpPr/>
          <p:nvPr/>
        </p:nvSpPr>
        <p:spPr>
          <a:xfrm>
            <a:off x="246888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F</a:t>
            </a:r>
            <a:endParaRPr lang="en-US" sz="2200" dirty="0"/>
          </a:p>
        </p:txBody>
      </p:sp>
      <p:sp>
        <p:nvSpPr>
          <p:cNvPr id="28" name="Text 26"/>
          <p:cNvSpPr/>
          <p:nvPr/>
        </p:nvSpPr>
        <p:spPr>
          <a:xfrm>
            <a:off x="254203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Architectures &amp; Warehouse vs Lake</a:t>
            </a:r>
            <a:endParaRPr lang="en-US" sz="1150" dirty="0"/>
          </a:p>
        </p:txBody>
      </p:sp>
      <p:sp>
        <p:nvSpPr>
          <p:cNvPr id="29" name="Shape 27"/>
          <p:cNvSpPr/>
          <p:nvPr/>
        </p:nvSpPr>
        <p:spPr>
          <a:xfrm>
            <a:off x="461772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sp>
      <p:sp>
        <p:nvSpPr>
          <p:cNvPr id="30" name="Shape 28"/>
          <p:cNvSpPr/>
          <p:nvPr/>
        </p:nvSpPr>
        <p:spPr>
          <a:xfrm>
            <a:off x="4617720" y="2926080"/>
            <a:ext cx="2011680" cy="502920"/>
          </a:xfrm>
          <a:prstGeom prst="rect">
            <a:avLst/>
          </a:prstGeom>
          <a:solidFill>
            <a:srgbClr val="028090"/>
          </a:solidFill>
          <a:ln w="12700">
            <a:solidFill>
              <a:srgbClr val="028090"/>
            </a:solidFill>
            <a:prstDash val="solid"/>
          </a:ln>
        </p:spPr>
      </p:sp>
      <p:sp>
        <p:nvSpPr>
          <p:cNvPr id="31" name="Text 29"/>
          <p:cNvSpPr/>
          <p:nvPr/>
        </p:nvSpPr>
        <p:spPr>
          <a:xfrm>
            <a:off x="461772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G</a:t>
            </a:r>
            <a:endParaRPr lang="en-US" sz="2200" dirty="0"/>
          </a:p>
        </p:txBody>
      </p:sp>
      <p:sp>
        <p:nvSpPr>
          <p:cNvPr id="32" name="Text 30"/>
          <p:cNvSpPr/>
          <p:nvPr/>
        </p:nvSpPr>
        <p:spPr>
          <a:xfrm>
            <a:off x="469087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Data Lake Use Cases</a:t>
            </a:r>
            <a:endParaRPr lang="en-US" sz="1150" dirty="0"/>
          </a:p>
        </p:txBody>
      </p:sp>
      <p:sp>
        <p:nvSpPr>
          <p:cNvPr id="33" name="Shape 31"/>
          <p:cNvSpPr/>
          <p:nvPr/>
        </p:nvSpPr>
        <p:spPr>
          <a:xfrm>
            <a:off x="676656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sp>
      <p:sp>
        <p:nvSpPr>
          <p:cNvPr id="34" name="Shape 32"/>
          <p:cNvSpPr/>
          <p:nvPr/>
        </p:nvSpPr>
        <p:spPr>
          <a:xfrm>
            <a:off x="6766560" y="2926080"/>
            <a:ext cx="2011680" cy="502920"/>
          </a:xfrm>
          <a:prstGeom prst="rect">
            <a:avLst/>
          </a:prstGeom>
          <a:solidFill>
            <a:srgbClr val="028090"/>
          </a:solidFill>
          <a:ln w="12700">
            <a:solidFill>
              <a:srgbClr val="028090"/>
            </a:solidFill>
            <a:prstDash val="solid"/>
          </a:ln>
        </p:spPr>
      </p:sp>
      <p:sp>
        <p:nvSpPr>
          <p:cNvPr id="35" name="Text 33"/>
          <p:cNvSpPr/>
          <p:nvPr/>
        </p:nvSpPr>
        <p:spPr>
          <a:xfrm>
            <a:off x="676656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H</a:t>
            </a:r>
            <a:endParaRPr lang="en-US" sz="2200" dirty="0"/>
          </a:p>
        </p:txBody>
      </p:sp>
      <p:sp>
        <p:nvSpPr>
          <p:cNvPr id="36" name="Text 34"/>
          <p:cNvSpPr/>
          <p:nvPr/>
        </p:nvSpPr>
        <p:spPr>
          <a:xfrm>
            <a:off x="683971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Public Health Data Lake Project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A</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History &amp; Evolution of NoSQL Databases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The Pre-NoSQL Era: Relational Databases Dominate (1970s–2000s)</a:t>
            </a:r>
            <a:endParaRPr lang="en-US" sz="2400" dirty="0"/>
          </a:p>
        </p:txBody>
      </p:sp>
      <p:sp>
        <p:nvSpPr>
          <p:cNvPr id="5" name="Shape 3"/>
          <p:cNvSpPr/>
          <p:nvPr/>
        </p:nvSpPr>
        <p:spPr>
          <a:xfrm>
            <a:off x="365760" y="960120"/>
            <a:ext cx="4206240" cy="39319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65760" y="960120"/>
            <a:ext cx="91440" cy="3931920"/>
          </a:xfrm>
          <a:prstGeom prst="rect">
            <a:avLst/>
          </a:prstGeom>
          <a:solidFill>
            <a:srgbClr val="F0C040"/>
          </a:solidFill>
          <a:ln w="12700">
            <a:solidFill>
              <a:srgbClr val="F0C040"/>
            </a:solidFill>
            <a:prstDash val="solid"/>
          </a:ln>
        </p:spPr>
      </p:sp>
      <p:sp>
        <p:nvSpPr>
          <p:cNvPr id="7" name="Text 5"/>
          <p:cNvSpPr/>
          <p:nvPr/>
        </p:nvSpPr>
        <p:spPr>
          <a:xfrm>
            <a:off x="548640" y="1051560"/>
            <a:ext cx="3931920" cy="3749040"/>
          </a:xfrm>
          <a:prstGeom prst="rect">
            <a:avLst/>
          </a:prstGeom>
          <a:noFill/>
          <a:ln/>
        </p:spPr>
        <p:txBody>
          <a:bodyPr wrap="square" rtlCol="0" anchor="t"/>
          <a:lstStyle/>
          <a:p>
            <a:pPr marL="0" indent="0">
              <a:buNone/>
            </a:pPr>
            <a:r>
              <a:rPr lang="en-US" sz="1150" b="1" dirty="0">
                <a:solidFill>
                  <a:srgbClr val="0A2342"/>
                </a:solidFill>
                <a:latin typeface="Calibri" pitchFamily="34" charset="0"/>
                <a:ea typeface="Calibri" pitchFamily="34" charset="-122"/>
                <a:cs typeface="Calibri" pitchFamily="34" charset="-120"/>
              </a:rPr>
              <a:t>1970 — Edgar Codd's Relational Model
</a:t>
            </a:r>
            <a:r>
              <a:rPr lang="en-US" sz="1150" dirty="0">
                <a:solidFill>
                  <a:srgbClr val="4A5568"/>
                </a:solidFill>
                <a:latin typeface="Calibri" pitchFamily="34" charset="0"/>
                <a:ea typeface="Calibri" pitchFamily="34" charset="-122"/>
                <a:cs typeface="Calibri" pitchFamily="34" charset="-120"/>
              </a:rPr>
              <a:t>IBM researcher proposes tables, rows &amp; columns. SQL becomes the universal language.
</a:t>
            </a:r>
            <a:r>
              <a:rPr lang="en-US" sz="1150" b="1" dirty="0">
                <a:solidFill>
                  <a:srgbClr val="0A2342"/>
                </a:solidFill>
                <a:latin typeface="Calibri" pitchFamily="34" charset="0"/>
                <a:ea typeface="Calibri" pitchFamily="34" charset="-122"/>
                <a:cs typeface="Calibri" pitchFamily="34" charset="-120"/>
              </a:rPr>
              <a:t>1980s–90s — RDBMS Boom
</a:t>
            </a:r>
            <a:r>
              <a:rPr lang="en-US" sz="1150" dirty="0">
                <a:solidFill>
                  <a:srgbClr val="4A5568"/>
                </a:solidFill>
                <a:latin typeface="Calibri" pitchFamily="34" charset="0"/>
                <a:ea typeface="Calibri" pitchFamily="34" charset="-122"/>
                <a:cs typeface="Calibri" pitchFamily="34" charset="-120"/>
              </a:rPr>
              <a:t>Oracle, IBM DB2, Microsoft SQL Server dominate. Works perfectly for structured business data.
</a:t>
            </a:r>
            <a:r>
              <a:rPr lang="en-US" sz="1150" b="1" dirty="0">
                <a:solidFill>
                  <a:srgbClr val="0A2342"/>
                </a:solidFill>
                <a:latin typeface="Calibri" pitchFamily="34" charset="0"/>
                <a:ea typeface="Calibri" pitchFamily="34" charset="-122"/>
                <a:cs typeface="Calibri" pitchFamily="34" charset="-120"/>
              </a:rPr>
              <a:t>Late 1990s — The Web Explosion
</a:t>
            </a:r>
            <a:r>
              <a:rPr lang="en-US" sz="1150" dirty="0">
                <a:solidFill>
                  <a:srgbClr val="4A5568"/>
                </a:solidFill>
                <a:latin typeface="Calibri" pitchFamily="34" charset="0"/>
                <a:ea typeface="Calibri" pitchFamily="34" charset="-122"/>
                <a:cs typeface="Calibri" pitchFamily="34" charset="-120"/>
              </a:rPr>
              <a:t>Internet-scale applications expose cracks: rigid schemas, vertical scaling limits, high licensing costs.</a:t>
            </a:r>
            <a:endParaRPr lang="en-US" sz="1150" dirty="0"/>
          </a:p>
        </p:txBody>
      </p:sp>
      <p:sp>
        <p:nvSpPr>
          <p:cNvPr id="8" name="Text 6"/>
          <p:cNvSpPr/>
          <p:nvPr/>
        </p:nvSpPr>
        <p:spPr>
          <a:xfrm>
            <a:off x="4846320" y="960120"/>
            <a:ext cx="3931920" cy="411480"/>
          </a:xfrm>
          <a:prstGeom prst="rect">
            <a:avLst/>
          </a:prstGeom>
          <a:noFill/>
          <a:ln/>
        </p:spPr>
        <p:txBody>
          <a:bodyPr wrap="square" rtlCol="0" anchor="ctr"/>
          <a:lstStyle/>
          <a:p>
            <a:pPr marL="0" indent="0">
              <a:buNone/>
            </a:pPr>
            <a:r>
              <a:rPr lang="en-US" sz="1500" b="1" dirty="0">
                <a:solidFill>
                  <a:srgbClr val="0A2342"/>
                </a:solidFill>
                <a:latin typeface="Georgia" pitchFamily="34" charset="0"/>
                <a:ea typeface="Georgia" pitchFamily="34" charset="-122"/>
                <a:cs typeface="Georgia" pitchFamily="34" charset="-120"/>
              </a:rPr>
              <a:t>Key Timeline</a:t>
            </a:r>
            <a:endParaRPr lang="en-US" sz="1500" dirty="0"/>
          </a:p>
        </p:txBody>
      </p:sp>
      <p:sp>
        <p:nvSpPr>
          <p:cNvPr id="9" name="Shape 7"/>
          <p:cNvSpPr/>
          <p:nvPr/>
        </p:nvSpPr>
        <p:spPr>
          <a:xfrm>
            <a:off x="4846320" y="1508760"/>
            <a:ext cx="411480" cy="411480"/>
          </a:xfrm>
          <a:prstGeom prst="ellipse">
            <a:avLst/>
          </a:prstGeom>
          <a:solidFill>
            <a:srgbClr val="028090"/>
          </a:solidFill>
          <a:ln w="12700">
            <a:solidFill>
              <a:srgbClr val="028090"/>
            </a:solidFill>
            <a:prstDash val="solid"/>
          </a:ln>
        </p:spPr>
      </p:sp>
      <p:sp>
        <p:nvSpPr>
          <p:cNvPr id="10" name="Text 8"/>
          <p:cNvSpPr/>
          <p:nvPr/>
        </p:nvSpPr>
        <p:spPr>
          <a:xfrm>
            <a:off x="4846320" y="150876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1970</a:t>
            </a:r>
            <a:endParaRPr lang="en-US" sz="900" dirty="0"/>
          </a:p>
        </p:txBody>
      </p:sp>
      <p:sp>
        <p:nvSpPr>
          <p:cNvPr id="11" name="Text 9"/>
          <p:cNvSpPr/>
          <p:nvPr/>
        </p:nvSpPr>
        <p:spPr>
          <a:xfrm>
            <a:off x="5349240" y="1536192"/>
            <a:ext cx="3474720" cy="347472"/>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Codd's Relational Model published</a:t>
            </a:r>
            <a:endParaRPr lang="en-US" sz="1100" dirty="0"/>
          </a:p>
        </p:txBody>
      </p:sp>
      <p:sp>
        <p:nvSpPr>
          <p:cNvPr id="12" name="Shape 10"/>
          <p:cNvSpPr/>
          <p:nvPr/>
        </p:nvSpPr>
        <p:spPr>
          <a:xfrm>
            <a:off x="4846320" y="2011680"/>
            <a:ext cx="411480" cy="411480"/>
          </a:xfrm>
          <a:prstGeom prst="ellipse">
            <a:avLst/>
          </a:prstGeom>
          <a:solidFill>
            <a:srgbClr val="028090"/>
          </a:solidFill>
          <a:ln w="12700">
            <a:solidFill>
              <a:srgbClr val="028090"/>
            </a:solidFill>
            <a:prstDash val="solid"/>
          </a:ln>
        </p:spPr>
      </p:sp>
      <p:sp>
        <p:nvSpPr>
          <p:cNvPr id="13" name="Text 11"/>
          <p:cNvSpPr/>
          <p:nvPr/>
        </p:nvSpPr>
        <p:spPr>
          <a:xfrm>
            <a:off x="4846320" y="201168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1979</a:t>
            </a:r>
            <a:endParaRPr lang="en-US" sz="900" dirty="0"/>
          </a:p>
        </p:txBody>
      </p:sp>
      <p:sp>
        <p:nvSpPr>
          <p:cNvPr id="14" name="Text 12"/>
          <p:cNvSpPr/>
          <p:nvPr/>
        </p:nvSpPr>
        <p:spPr>
          <a:xfrm>
            <a:off x="5349240" y="2039112"/>
            <a:ext cx="3474720" cy="347472"/>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Oracle 2 — first commercial RDBMS</a:t>
            </a:r>
            <a:endParaRPr lang="en-US" sz="1100" dirty="0"/>
          </a:p>
        </p:txBody>
      </p:sp>
      <p:sp>
        <p:nvSpPr>
          <p:cNvPr id="15" name="Shape 13"/>
          <p:cNvSpPr/>
          <p:nvPr/>
        </p:nvSpPr>
        <p:spPr>
          <a:xfrm>
            <a:off x="4846320" y="2514600"/>
            <a:ext cx="411480" cy="411480"/>
          </a:xfrm>
          <a:prstGeom prst="ellipse">
            <a:avLst/>
          </a:prstGeom>
          <a:solidFill>
            <a:srgbClr val="028090"/>
          </a:solidFill>
          <a:ln w="12700">
            <a:solidFill>
              <a:srgbClr val="028090"/>
            </a:solidFill>
            <a:prstDash val="solid"/>
          </a:ln>
        </p:spPr>
      </p:sp>
      <p:sp>
        <p:nvSpPr>
          <p:cNvPr id="16" name="Text 14"/>
          <p:cNvSpPr/>
          <p:nvPr/>
        </p:nvSpPr>
        <p:spPr>
          <a:xfrm>
            <a:off x="4846320" y="251460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1986</a:t>
            </a:r>
            <a:endParaRPr lang="en-US" sz="900" dirty="0"/>
          </a:p>
        </p:txBody>
      </p:sp>
      <p:sp>
        <p:nvSpPr>
          <p:cNvPr id="17" name="Text 15"/>
          <p:cNvSpPr/>
          <p:nvPr/>
        </p:nvSpPr>
        <p:spPr>
          <a:xfrm>
            <a:off x="5349240" y="2542032"/>
            <a:ext cx="3474720" cy="347472"/>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SQL becomes ANSI standard</a:t>
            </a:r>
            <a:endParaRPr lang="en-US" sz="1100" dirty="0"/>
          </a:p>
        </p:txBody>
      </p:sp>
      <p:sp>
        <p:nvSpPr>
          <p:cNvPr id="18" name="Shape 16"/>
          <p:cNvSpPr/>
          <p:nvPr/>
        </p:nvSpPr>
        <p:spPr>
          <a:xfrm>
            <a:off x="4846320" y="3017520"/>
            <a:ext cx="411480" cy="411480"/>
          </a:xfrm>
          <a:prstGeom prst="ellipse">
            <a:avLst/>
          </a:prstGeom>
          <a:solidFill>
            <a:srgbClr val="028090"/>
          </a:solidFill>
          <a:ln w="12700">
            <a:solidFill>
              <a:srgbClr val="028090"/>
            </a:solidFill>
            <a:prstDash val="solid"/>
          </a:ln>
        </p:spPr>
      </p:sp>
      <p:sp>
        <p:nvSpPr>
          <p:cNvPr id="19" name="Text 17"/>
          <p:cNvSpPr/>
          <p:nvPr/>
        </p:nvSpPr>
        <p:spPr>
          <a:xfrm>
            <a:off x="4846320" y="301752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1995</a:t>
            </a:r>
            <a:endParaRPr lang="en-US" sz="900" dirty="0"/>
          </a:p>
        </p:txBody>
      </p:sp>
      <p:sp>
        <p:nvSpPr>
          <p:cNvPr id="20" name="Text 18"/>
          <p:cNvSpPr/>
          <p:nvPr/>
        </p:nvSpPr>
        <p:spPr>
          <a:xfrm>
            <a:off x="5349240" y="3044952"/>
            <a:ext cx="3474720" cy="347472"/>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MySQL released (open source)</a:t>
            </a:r>
            <a:endParaRPr lang="en-US" sz="1100" dirty="0"/>
          </a:p>
        </p:txBody>
      </p:sp>
      <p:sp>
        <p:nvSpPr>
          <p:cNvPr id="21" name="Shape 19"/>
          <p:cNvSpPr/>
          <p:nvPr/>
        </p:nvSpPr>
        <p:spPr>
          <a:xfrm>
            <a:off x="4846320" y="3520440"/>
            <a:ext cx="411480" cy="411480"/>
          </a:xfrm>
          <a:prstGeom prst="ellipse">
            <a:avLst/>
          </a:prstGeom>
          <a:solidFill>
            <a:srgbClr val="02C39A"/>
          </a:solidFill>
          <a:ln w="12700">
            <a:solidFill>
              <a:srgbClr val="02C39A"/>
            </a:solidFill>
            <a:prstDash val="solid"/>
          </a:ln>
        </p:spPr>
      </p:sp>
      <p:sp>
        <p:nvSpPr>
          <p:cNvPr id="22" name="Text 20"/>
          <p:cNvSpPr/>
          <p:nvPr/>
        </p:nvSpPr>
        <p:spPr>
          <a:xfrm>
            <a:off x="4846320" y="352044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1998</a:t>
            </a:r>
            <a:endParaRPr lang="en-US" sz="900" dirty="0"/>
          </a:p>
        </p:txBody>
      </p:sp>
      <p:sp>
        <p:nvSpPr>
          <p:cNvPr id="23" name="Text 21"/>
          <p:cNvSpPr/>
          <p:nvPr/>
        </p:nvSpPr>
        <p:spPr>
          <a:xfrm>
            <a:off x="5349240" y="3547872"/>
            <a:ext cx="3474720" cy="347472"/>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Carlo Strozzi coins 'NoSQL' term</a:t>
            </a:r>
            <a:endParaRPr lang="en-US" sz="1100" dirty="0"/>
          </a:p>
        </p:txBody>
      </p:sp>
      <p:sp>
        <p:nvSpPr>
          <p:cNvPr id="24" name="Shape 22"/>
          <p:cNvSpPr/>
          <p:nvPr/>
        </p:nvSpPr>
        <p:spPr>
          <a:xfrm>
            <a:off x="4846320" y="4023360"/>
            <a:ext cx="411480" cy="411480"/>
          </a:xfrm>
          <a:prstGeom prst="ellipse">
            <a:avLst/>
          </a:prstGeom>
          <a:solidFill>
            <a:srgbClr val="02C39A"/>
          </a:solidFill>
          <a:ln w="12700">
            <a:solidFill>
              <a:srgbClr val="02C39A"/>
            </a:solidFill>
            <a:prstDash val="solid"/>
          </a:ln>
        </p:spPr>
      </p:sp>
      <p:sp>
        <p:nvSpPr>
          <p:cNvPr id="25" name="Text 23"/>
          <p:cNvSpPr/>
          <p:nvPr/>
        </p:nvSpPr>
        <p:spPr>
          <a:xfrm>
            <a:off x="4846320" y="402336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2004</a:t>
            </a:r>
            <a:endParaRPr lang="en-US" sz="900" dirty="0"/>
          </a:p>
        </p:txBody>
      </p:sp>
      <p:sp>
        <p:nvSpPr>
          <p:cNvPr id="26" name="Text 24"/>
          <p:cNvSpPr/>
          <p:nvPr/>
        </p:nvSpPr>
        <p:spPr>
          <a:xfrm>
            <a:off x="5349240" y="4050792"/>
            <a:ext cx="3474720" cy="347472"/>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Google publishes BigTable paper</a:t>
            </a:r>
            <a:endParaRPr lang="en-US" sz="1100" dirty="0"/>
          </a:p>
        </p:txBody>
      </p:sp>
      <p:sp>
        <p:nvSpPr>
          <p:cNvPr id="27" name="Shape 25"/>
          <p:cNvSpPr/>
          <p:nvPr/>
        </p:nvSpPr>
        <p:spPr>
          <a:xfrm>
            <a:off x="4846320" y="4526280"/>
            <a:ext cx="411480" cy="411480"/>
          </a:xfrm>
          <a:prstGeom prst="ellipse">
            <a:avLst/>
          </a:prstGeom>
          <a:solidFill>
            <a:srgbClr val="02C39A"/>
          </a:solidFill>
          <a:ln w="12700">
            <a:solidFill>
              <a:srgbClr val="02C39A"/>
            </a:solidFill>
            <a:prstDash val="solid"/>
          </a:ln>
        </p:spPr>
      </p:sp>
      <p:sp>
        <p:nvSpPr>
          <p:cNvPr id="28" name="Text 26"/>
          <p:cNvSpPr/>
          <p:nvPr/>
        </p:nvSpPr>
        <p:spPr>
          <a:xfrm>
            <a:off x="4846320" y="452628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2007</a:t>
            </a:r>
            <a:endParaRPr lang="en-US" sz="900" dirty="0"/>
          </a:p>
        </p:txBody>
      </p:sp>
      <p:sp>
        <p:nvSpPr>
          <p:cNvPr id="29" name="Text 27"/>
          <p:cNvSpPr/>
          <p:nvPr/>
        </p:nvSpPr>
        <p:spPr>
          <a:xfrm>
            <a:off x="5349240" y="4553712"/>
            <a:ext cx="3474720" cy="347472"/>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Amazon Dynamo paper published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The NoSQL Revolution: 2000s to Present</a:t>
            </a:r>
            <a:endParaRPr lang="en-US" sz="2400" dirty="0"/>
          </a:p>
        </p:txBody>
      </p:sp>
      <p:sp>
        <p:nvSpPr>
          <p:cNvPr id="5" name="Shape 3"/>
          <p:cNvSpPr/>
          <p:nvPr/>
        </p:nvSpPr>
        <p:spPr>
          <a:xfrm>
            <a:off x="320040" y="96012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2743200" cy="457200"/>
          </a:xfrm>
          <a:prstGeom prst="rect">
            <a:avLst/>
          </a:prstGeom>
          <a:solidFill>
            <a:srgbClr val="0A2342"/>
          </a:solidFill>
          <a:ln w="12700">
            <a:solidFill>
              <a:srgbClr val="0A2342"/>
            </a:solidFill>
            <a:prstDash val="solid"/>
          </a:ln>
        </p:spPr>
      </p:sp>
      <p:sp>
        <p:nvSpPr>
          <p:cNvPr id="7" name="Text 5"/>
          <p:cNvSpPr/>
          <p:nvPr/>
        </p:nvSpPr>
        <p:spPr>
          <a:xfrm>
            <a:off x="393192" y="96012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2004</a:t>
            </a:r>
            <a:endParaRPr lang="en-US" sz="1300" dirty="0"/>
          </a:p>
        </p:txBody>
      </p:sp>
      <p:sp>
        <p:nvSpPr>
          <p:cNvPr id="8" name="Text 6"/>
          <p:cNvSpPr/>
          <p:nvPr/>
        </p:nvSpPr>
        <p:spPr>
          <a:xfrm>
            <a:off x="1234440" y="96012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Google BigTable</a:t>
            </a:r>
            <a:endParaRPr lang="en-US" sz="1100" dirty="0"/>
          </a:p>
        </p:txBody>
      </p:sp>
      <p:sp>
        <p:nvSpPr>
          <p:cNvPr id="9" name="Text 7"/>
          <p:cNvSpPr/>
          <p:nvPr/>
        </p:nvSpPr>
        <p:spPr>
          <a:xfrm>
            <a:off x="411480" y="146304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Google publishes paper on BigTable — distributed storage for structured data across thousands of commodity servers.</a:t>
            </a:r>
            <a:endParaRPr lang="en-US" sz="1050" dirty="0"/>
          </a:p>
        </p:txBody>
      </p:sp>
      <p:sp>
        <p:nvSpPr>
          <p:cNvPr id="10" name="Shape 8"/>
          <p:cNvSpPr/>
          <p:nvPr/>
        </p:nvSpPr>
        <p:spPr>
          <a:xfrm>
            <a:off x="3200400" y="96012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1" name="Shape 9"/>
          <p:cNvSpPr/>
          <p:nvPr/>
        </p:nvSpPr>
        <p:spPr>
          <a:xfrm>
            <a:off x="3200400" y="960120"/>
            <a:ext cx="2743200" cy="457200"/>
          </a:xfrm>
          <a:prstGeom prst="rect">
            <a:avLst/>
          </a:prstGeom>
          <a:solidFill>
            <a:srgbClr val="028090"/>
          </a:solidFill>
          <a:ln w="12700">
            <a:solidFill>
              <a:srgbClr val="028090"/>
            </a:solidFill>
            <a:prstDash val="solid"/>
          </a:ln>
        </p:spPr>
      </p:sp>
      <p:sp>
        <p:nvSpPr>
          <p:cNvPr id="12" name="Text 10"/>
          <p:cNvSpPr/>
          <p:nvPr/>
        </p:nvSpPr>
        <p:spPr>
          <a:xfrm>
            <a:off x="3273552" y="96012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2007</a:t>
            </a:r>
            <a:endParaRPr lang="en-US" sz="1300" dirty="0"/>
          </a:p>
        </p:txBody>
      </p:sp>
      <p:sp>
        <p:nvSpPr>
          <p:cNvPr id="13" name="Text 11"/>
          <p:cNvSpPr/>
          <p:nvPr/>
        </p:nvSpPr>
        <p:spPr>
          <a:xfrm>
            <a:off x="4114800" y="96012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Amazon Dynamo</a:t>
            </a:r>
            <a:endParaRPr lang="en-US" sz="1100" dirty="0"/>
          </a:p>
        </p:txBody>
      </p:sp>
      <p:sp>
        <p:nvSpPr>
          <p:cNvPr id="14" name="Text 12"/>
          <p:cNvSpPr/>
          <p:nvPr/>
        </p:nvSpPr>
        <p:spPr>
          <a:xfrm>
            <a:off x="3291840" y="146304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Amazon's landmark paper on Dynamo introduces eventual consistency and key-value storage at web scale.</a:t>
            </a:r>
            <a:endParaRPr lang="en-US" sz="1050" dirty="0"/>
          </a:p>
        </p:txBody>
      </p:sp>
      <p:sp>
        <p:nvSpPr>
          <p:cNvPr id="15" name="Shape 13"/>
          <p:cNvSpPr/>
          <p:nvPr/>
        </p:nvSpPr>
        <p:spPr>
          <a:xfrm>
            <a:off x="6080760" y="96012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6" name="Shape 14"/>
          <p:cNvSpPr/>
          <p:nvPr/>
        </p:nvSpPr>
        <p:spPr>
          <a:xfrm>
            <a:off x="6080760" y="960120"/>
            <a:ext cx="2743200" cy="457200"/>
          </a:xfrm>
          <a:prstGeom prst="rect">
            <a:avLst/>
          </a:prstGeom>
          <a:solidFill>
            <a:srgbClr val="0A2342"/>
          </a:solidFill>
          <a:ln w="12700">
            <a:solidFill>
              <a:srgbClr val="0A2342"/>
            </a:solidFill>
            <a:prstDash val="solid"/>
          </a:ln>
        </p:spPr>
      </p:sp>
      <p:sp>
        <p:nvSpPr>
          <p:cNvPr id="17" name="Text 15"/>
          <p:cNvSpPr/>
          <p:nvPr/>
        </p:nvSpPr>
        <p:spPr>
          <a:xfrm>
            <a:off x="6153912" y="96012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2009</a:t>
            </a:r>
            <a:endParaRPr lang="en-US" sz="1300" dirty="0"/>
          </a:p>
        </p:txBody>
      </p:sp>
      <p:sp>
        <p:nvSpPr>
          <p:cNvPr id="18" name="Text 16"/>
          <p:cNvSpPr/>
          <p:nvPr/>
        </p:nvSpPr>
        <p:spPr>
          <a:xfrm>
            <a:off x="6995160" y="96012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'NoSQL' Recoined</a:t>
            </a:r>
            <a:endParaRPr lang="en-US" sz="1100" dirty="0"/>
          </a:p>
        </p:txBody>
      </p:sp>
      <p:sp>
        <p:nvSpPr>
          <p:cNvPr id="19" name="Text 17"/>
          <p:cNvSpPr/>
          <p:nvPr/>
        </p:nvSpPr>
        <p:spPr>
          <a:xfrm>
            <a:off x="6172200" y="146304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Johan Oskarsson's meetup in San Francisco popularizes 'NoSQL' to describe the new wave of non-relational databases.</a:t>
            </a:r>
            <a:endParaRPr lang="en-US" sz="1050" dirty="0"/>
          </a:p>
        </p:txBody>
      </p:sp>
      <p:sp>
        <p:nvSpPr>
          <p:cNvPr id="20" name="Shape 18"/>
          <p:cNvSpPr/>
          <p:nvPr/>
        </p:nvSpPr>
        <p:spPr>
          <a:xfrm>
            <a:off x="320040" y="292608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1" name="Shape 19"/>
          <p:cNvSpPr/>
          <p:nvPr/>
        </p:nvSpPr>
        <p:spPr>
          <a:xfrm>
            <a:off x="320040" y="2926080"/>
            <a:ext cx="2743200" cy="457200"/>
          </a:xfrm>
          <a:prstGeom prst="rect">
            <a:avLst/>
          </a:prstGeom>
          <a:solidFill>
            <a:srgbClr val="028090"/>
          </a:solidFill>
          <a:ln w="12700">
            <a:solidFill>
              <a:srgbClr val="028090"/>
            </a:solidFill>
            <a:prstDash val="solid"/>
          </a:ln>
        </p:spPr>
      </p:sp>
      <p:sp>
        <p:nvSpPr>
          <p:cNvPr id="22" name="Text 20"/>
          <p:cNvSpPr/>
          <p:nvPr/>
        </p:nvSpPr>
        <p:spPr>
          <a:xfrm>
            <a:off x="393192" y="292608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2010</a:t>
            </a:r>
            <a:endParaRPr lang="en-US" sz="1300" dirty="0"/>
          </a:p>
        </p:txBody>
      </p:sp>
      <p:sp>
        <p:nvSpPr>
          <p:cNvPr id="23" name="Text 21"/>
          <p:cNvSpPr/>
          <p:nvPr/>
        </p:nvSpPr>
        <p:spPr>
          <a:xfrm>
            <a:off x="1234440" y="292608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Cassandra &amp; MongoDB Rise</a:t>
            </a:r>
            <a:endParaRPr lang="en-US" sz="1100" dirty="0"/>
          </a:p>
        </p:txBody>
      </p:sp>
      <p:sp>
        <p:nvSpPr>
          <p:cNvPr id="24" name="Text 22"/>
          <p:cNvSpPr/>
          <p:nvPr/>
        </p:nvSpPr>
        <p:spPr>
          <a:xfrm>
            <a:off x="411480" y="342900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Apache Cassandra (Facebook origin) and MongoDB gain massive enterprise and startup adoption.</a:t>
            </a:r>
            <a:endParaRPr lang="en-US" sz="1050" dirty="0"/>
          </a:p>
        </p:txBody>
      </p:sp>
      <p:sp>
        <p:nvSpPr>
          <p:cNvPr id="25" name="Shape 23"/>
          <p:cNvSpPr/>
          <p:nvPr/>
        </p:nvSpPr>
        <p:spPr>
          <a:xfrm>
            <a:off x="3200400" y="292608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6" name="Shape 24"/>
          <p:cNvSpPr/>
          <p:nvPr/>
        </p:nvSpPr>
        <p:spPr>
          <a:xfrm>
            <a:off x="3200400" y="2926080"/>
            <a:ext cx="2743200" cy="457200"/>
          </a:xfrm>
          <a:prstGeom prst="rect">
            <a:avLst/>
          </a:prstGeom>
          <a:solidFill>
            <a:srgbClr val="0A2342"/>
          </a:solidFill>
          <a:ln w="12700">
            <a:solidFill>
              <a:srgbClr val="0A2342"/>
            </a:solidFill>
            <a:prstDash val="solid"/>
          </a:ln>
        </p:spPr>
      </p:sp>
      <p:sp>
        <p:nvSpPr>
          <p:cNvPr id="27" name="Text 25"/>
          <p:cNvSpPr/>
          <p:nvPr/>
        </p:nvSpPr>
        <p:spPr>
          <a:xfrm>
            <a:off x="3273552" y="292608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2012+</a:t>
            </a:r>
            <a:endParaRPr lang="en-US" sz="1300" dirty="0"/>
          </a:p>
        </p:txBody>
      </p:sp>
      <p:sp>
        <p:nvSpPr>
          <p:cNvPr id="28" name="Text 26"/>
          <p:cNvSpPr/>
          <p:nvPr/>
        </p:nvSpPr>
        <p:spPr>
          <a:xfrm>
            <a:off x="4114800" y="292608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Cloud-Native Era</a:t>
            </a:r>
            <a:endParaRPr lang="en-US" sz="1100" dirty="0"/>
          </a:p>
        </p:txBody>
      </p:sp>
      <p:sp>
        <p:nvSpPr>
          <p:cNvPr id="29" name="Text 27"/>
          <p:cNvSpPr/>
          <p:nvPr/>
        </p:nvSpPr>
        <p:spPr>
          <a:xfrm>
            <a:off x="3291840" y="342900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AWS DynamoDB, Azure Cosmos DB, Google Firestore — NoSQL becomes a fully managed, cloud-first offering.</a:t>
            </a:r>
            <a:endParaRPr lang="en-US" sz="1050" dirty="0"/>
          </a:p>
        </p:txBody>
      </p:sp>
      <p:sp>
        <p:nvSpPr>
          <p:cNvPr id="30" name="Shape 28"/>
          <p:cNvSpPr/>
          <p:nvPr/>
        </p:nvSpPr>
        <p:spPr>
          <a:xfrm>
            <a:off x="6080760" y="292608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31" name="Shape 29"/>
          <p:cNvSpPr/>
          <p:nvPr/>
        </p:nvSpPr>
        <p:spPr>
          <a:xfrm>
            <a:off x="6080760" y="2926080"/>
            <a:ext cx="2743200" cy="457200"/>
          </a:xfrm>
          <a:prstGeom prst="rect">
            <a:avLst/>
          </a:prstGeom>
          <a:solidFill>
            <a:srgbClr val="028090"/>
          </a:solidFill>
          <a:ln w="12700">
            <a:solidFill>
              <a:srgbClr val="028090"/>
            </a:solidFill>
            <a:prstDash val="solid"/>
          </a:ln>
        </p:spPr>
      </p:sp>
      <p:sp>
        <p:nvSpPr>
          <p:cNvPr id="32" name="Text 30"/>
          <p:cNvSpPr/>
          <p:nvPr/>
        </p:nvSpPr>
        <p:spPr>
          <a:xfrm>
            <a:off x="6153912" y="292608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2020s</a:t>
            </a:r>
            <a:endParaRPr lang="en-US" sz="1300" dirty="0"/>
          </a:p>
        </p:txBody>
      </p:sp>
      <p:sp>
        <p:nvSpPr>
          <p:cNvPr id="33" name="Text 31"/>
          <p:cNvSpPr/>
          <p:nvPr/>
        </p:nvSpPr>
        <p:spPr>
          <a:xfrm>
            <a:off x="6995160" y="292608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Multi-Model &amp; NewSQL</a:t>
            </a:r>
            <a:endParaRPr lang="en-US" sz="1100" dirty="0"/>
          </a:p>
        </p:txBody>
      </p:sp>
      <p:sp>
        <p:nvSpPr>
          <p:cNvPr id="34" name="Text 32"/>
          <p:cNvSpPr/>
          <p:nvPr/>
        </p:nvSpPr>
        <p:spPr>
          <a:xfrm>
            <a:off x="6172200" y="342900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Databases blend SQL + NoSQL; NewSQL (CockroachDB, Spanner) emerges to combine both worlds.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B</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Definitions &amp; Key Terms in NoSQL</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What is NoSQL? Core Definitions</a:t>
            </a:r>
            <a:endParaRPr lang="en-US" sz="2400" dirty="0"/>
          </a:p>
        </p:txBody>
      </p:sp>
      <p:sp>
        <p:nvSpPr>
          <p:cNvPr id="5" name="Shape 3"/>
          <p:cNvSpPr/>
          <p:nvPr/>
        </p:nvSpPr>
        <p:spPr>
          <a:xfrm>
            <a:off x="320040" y="960120"/>
            <a:ext cx="4297680" cy="397764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sp>
      <p:sp>
        <p:nvSpPr>
          <p:cNvPr id="6" name="Text 4"/>
          <p:cNvSpPr/>
          <p:nvPr/>
        </p:nvSpPr>
        <p:spPr>
          <a:xfrm>
            <a:off x="411480" y="1051560"/>
            <a:ext cx="4114800" cy="548640"/>
          </a:xfrm>
          <a:prstGeom prst="rect">
            <a:avLst/>
          </a:prstGeom>
          <a:noFill/>
          <a:ln/>
        </p:spPr>
        <p:txBody>
          <a:bodyPr wrap="square" rtlCol="0" anchor="ctr"/>
          <a:lstStyle/>
          <a:p>
            <a:pPr marL="0" indent="0">
              <a:buNone/>
            </a:pPr>
            <a:r>
              <a:rPr lang="en-US" sz="2600" b="1" dirty="0">
                <a:solidFill>
                  <a:srgbClr val="F0C040"/>
                </a:solidFill>
                <a:latin typeface="Georgia" pitchFamily="34" charset="0"/>
                <a:ea typeface="Georgia" pitchFamily="34" charset="-122"/>
                <a:cs typeface="Georgia" pitchFamily="34" charset="-120"/>
              </a:rPr>
              <a:t>NoSQL</a:t>
            </a:r>
            <a:endParaRPr lang="en-US" sz="2600" dirty="0"/>
          </a:p>
        </p:txBody>
      </p:sp>
      <p:sp>
        <p:nvSpPr>
          <p:cNvPr id="7" name="Text 5"/>
          <p:cNvSpPr/>
          <p:nvPr/>
        </p:nvSpPr>
        <p:spPr>
          <a:xfrm>
            <a:off x="411480" y="1645920"/>
            <a:ext cx="4114800" cy="31089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"Not Only SQL" — a broad class of database management systems that differ from traditional relational databases in that they do not use SQL as their primary query language and do not require fixed table schemas.</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NoSQL databases are built for:</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Horizontal scalability</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Flexible data models</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High availability</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High write/read throughput</a:t>
            </a:r>
            <a:endParaRPr lang="en-US" sz="1200" dirty="0"/>
          </a:p>
        </p:txBody>
      </p:sp>
      <p:sp>
        <p:nvSpPr>
          <p:cNvPr id="8" name="Shape 6"/>
          <p:cNvSpPr/>
          <p:nvPr/>
        </p:nvSpPr>
        <p:spPr>
          <a:xfrm>
            <a:off x="4846320" y="96012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9" name="Shape 7"/>
          <p:cNvSpPr/>
          <p:nvPr/>
        </p:nvSpPr>
        <p:spPr>
          <a:xfrm>
            <a:off x="4846320" y="960120"/>
            <a:ext cx="73152" cy="914400"/>
          </a:xfrm>
          <a:prstGeom prst="rect">
            <a:avLst/>
          </a:prstGeom>
          <a:solidFill>
            <a:srgbClr val="02C39A"/>
          </a:solidFill>
          <a:ln w="12700">
            <a:solidFill>
              <a:srgbClr val="02C39A"/>
            </a:solidFill>
            <a:prstDash val="solid"/>
          </a:ln>
        </p:spPr>
      </p:sp>
      <p:sp>
        <p:nvSpPr>
          <p:cNvPr id="10" name="Text 8"/>
          <p:cNvSpPr/>
          <p:nvPr/>
        </p:nvSpPr>
        <p:spPr>
          <a:xfrm>
            <a:off x="5029200" y="100584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Horizontal Scaling</a:t>
            </a:r>
            <a:endParaRPr lang="en-US" sz="1300" dirty="0"/>
          </a:p>
        </p:txBody>
      </p:sp>
      <p:sp>
        <p:nvSpPr>
          <p:cNvPr id="11" name="Text 9"/>
          <p:cNvSpPr/>
          <p:nvPr/>
        </p:nvSpPr>
        <p:spPr>
          <a:xfrm>
            <a:off x="5029200" y="134416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Adding more servers (nodes) to distribute load, vs vertical scaling (bigger single server).</a:t>
            </a:r>
            <a:endParaRPr lang="en-US" sz="1050" dirty="0"/>
          </a:p>
        </p:txBody>
      </p:sp>
      <p:sp>
        <p:nvSpPr>
          <p:cNvPr id="12" name="Shape 10"/>
          <p:cNvSpPr/>
          <p:nvPr/>
        </p:nvSpPr>
        <p:spPr>
          <a:xfrm>
            <a:off x="4846320" y="196596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13" name="Shape 11"/>
          <p:cNvSpPr/>
          <p:nvPr/>
        </p:nvSpPr>
        <p:spPr>
          <a:xfrm>
            <a:off x="4846320" y="1965960"/>
            <a:ext cx="73152" cy="914400"/>
          </a:xfrm>
          <a:prstGeom prst="rect">
            <a:avLst/>
          </a:prstGeom>
          <a:solidFill>
            <a:srgbClr val="02C39A"/>
          </a:solidFill>
          <a:ln w="12700">
            <a:solidFill>
              <a:srgbClr val="02C39A"/>
            </a:solidFill>
            <a:prstDash val="solid"/>
          </a:ln>
        </p:spPr>
      </p:sp>
      <p:sp>
        <p:nvSpPr>
          <p:cNvPr id="14" name="Text 12"/>
          <p:cNvSpPr/>
          <p:nvPr/>
        </p:nvSpPr>
        <p:spPr>
          <a:xfrm>
            <a:off x="5029200" y="201168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Eventual Consistency</a:t>
            </a:r>
            <a:endParaRPr lang="en-US" sz="1300" dirty="0"/>
          </a:p>
        </p:txBody>
      </p:sp>
      <p:sp>
        <p:nvSpPr>
          <p:cNvPr id="15" name="Text 13"/>
          <p:cNvSpPr/>
          <p:nvPr/>
        </p:nvSpPr>
        <p:spPr>
          <a:xfrm>
            <a:off x="5029200" y="235000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will become consistent across nodes over time — not immediately (vs. ACID).</a:t>
            </a:r>
            <a:endParaRPr lang="en-US" sz="1050" dirty="0"/>
          </a:p>
        </p:txBody>
      </p:sp>
      <p:sp>
        <p:nvSpPr>
          <p:cNvPr id="16" name="Shape 14"/>
          <p:cNvSpPr/>
          <p:nvPr/>
        </p:nvSpPr>
        <p:spPr>
          <a:xfrm>
            <a:off x="4846320" y="297180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17" name="Shape 15"/>
          <p:cNvSpPr/>
          <p:nvPr/>
        </p:nvSpPr>
        <p:spPr>
          <a:xfrm>
            <a:off x="4846320" y="2971800"/>
            <a:ext cx="73152" cy="914400"/>
          </a:xfrm>
          <a:prstGeom prst="rect">
            <a:avLst/>
          </a:prstGeom>
          <a:solidFill>
            <a:srgbClr val="02C39A"/>
          </a:solidFill>
          <a:ln w="12700">
            <a:solidFill>
              <a:srgbClr val="02C39A"/>
            </a:solidFill>
            <a:prstDash val="solid"/>
          </a:ln>
        </p:spPr>
      </p:sp>
      <p:sp>
        <p:nvSpPr>
          <p:cNvPr id="18" name="Text 16"/>
          <p:cNvSpPr/>
          <p:nvPr/>
        </p:nvSpPr>
        <p:spPr>
          <a:xfrm>
            <a:off x="5029200" y="301752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CAP Theorem</a:t>
            </a:r>
            <a:endParaRPr lang="en-US" sz="1300" dirty="0"/>
          </a:p>
        </p:txBody>
      </p:sp>
      <p:sp>
        <p:nvSpPr>
          <p:cNvPr id="19" name="Text 17"/>
          <p:cNvSpPr/>
          <p:nvPr/>
        </p:nvSpPr>
        <p:spPr>
          <a:xfrm>
            <a:off x="5029200" y="335584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 distributed system can only guarantee 2 of 3: Consistency, Availability, Partition Tolerance.</a:t>
            </a:r>
            <a:endParaRPr lang="en-US" sz="1050" dirty="0"/>
          </a:p>
        </p:txBody>
      </p:sp>
      <p:sp>
        <p:nvSpPr>
          <p:cNvPr id="20" name="Shape 18"/>
          <p:cNvSpPr/>
          <p:nvPr/>
        </p:nvSpPr>
        <p:spPr>
          <a:xfrm>
            <a:off x="4846320" y="397764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21" name="Shape 19"/>
          <p:cNvSpPr/>
          <p:nvPr/>
        </p:nvSpPr>
        <p:spPr>
          <a:xfrm>
            <a:off x="4846320" y="3977640"/>
            <a:ext cx="73152" cy="914400"/>
          </a:xfrm>
          <a:prstGeom prst="rect">
            <a:avLst/>
          </a:prstGeom>
          <a:solidFill>
            <a:srgbClr val="02C39A"/>
          </a:solidFill>
          <a:ln w="12700">
            <a:solidFill>
              <a:srgbClr val="02C39A"/>
            </a:solidFill>
            <a:prstDash val="solid"/>
          </a:ln>
        </p:spPr>
      </p:sp>
      <p:sp>
        <p:nvSpPr>
          <p:cNvPr id="22" name="Text 20"/>
          <p:cNvSpPr/>
          <p:nvPr/>
        </p:nvSpPr>
        <p:spPr>
          <a:xfrm>
            <a:off x="5029200" y="402336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Schema-less</a:t>
            </a:r>
            <a:endParaRPr lang="en-US" sz="1300" dirty="0"/>
          </a:p>
        </p:txBody>
      </p:sp>
      <p:sp>
        <p:nvSpPr>
          <p:cNvPr id="23" name="Text 21"/>
          <p:cNvSpPr/>
          <p:nvPr/>
        </p:nvSpPr>
        <p:spPr>
          <a:xfrm>
            <a:off x="5029200" y="436168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No rigid predefined structure; each record can have different fields.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KEY Concepts: ACID vs BASE &amp; CAP Theorem</a:t>
            </a:r>
            <a:endParaRPr lang="en-US" sz="2400" dirty="0"/>
          </a:p>
        </p:txBody>
      </p:sp>
      <p:sp>
        <p:nvSpPr>
          <p:cNvPr id="5" name="Shape 3"/>
          <p:cNvSpPr/>
          <p:nvPr/>
        </p:nvSpPr>
        <p:spPr>
          <a:xfrm>
            <a:off x="320040" y="960120"/>
            <a:ext cx="3931920" cy="397764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3931920" cy="502920"/>
          </a:xfrm>
          <a:prstGeom prst="rect">
            <a:avLst/>
          </a:prstGeom>
          <a:solidFill>
            <a:srgbClr val="0A2342"/>
          </a:solidFill>
          <a:ln w="12700">
            <a:solidFill>
              <a:srgbClr val="0A2342"/>
            </a:solidFill>
            <a:prstDash val="solid"/>
          </a:ln>
        </p:spPr>
      </p:sp>
      <p:sp>
        <p:nvSpPr>
          <p:cNvPr id="7" name="Text 5"/>
          <p:cNvSpPr/>
          <p:nvPr/>
        </p:nvSpPr>
        <p:spPr>
          <a:xfrm>
            <a:off x="411480" y="960120"/>
            <a:ext cx="3749040" cy="5029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ACID (SQL Databases)</a:t>
            </a:r>
            <a:endParaRPr lang="en-US" sz="1500" dirty="0"/>
          </a:p>
        </p:txBody>
      </p:sp>
      <p:sp>
        <p:nvSpPr>
          <p:cNvPr id="8" name="Shape 6"/>
          <p:cNvSpPr/>
          <p:nvPr/>
        </p:nvSpPr>
        <p:spPr>
          <a:xfrm>
            <a:off x="411480" y="1554480"/>
            <a:ext cx="502920" cy="502920"/>
          </a:xfrm>
          <a:prstGeom prst="ellipse">
            <a:avLst/>
          </a:prstGeom>
          <a:solidFill>
            <a:srgbClr val="028090"/>
          </a:solidFill>
          <a:ln w="12700">
            <a:solidFill>
              <a:srgbClr val="028090"/>
            </a:solidFill>
            <a:prstDash val="solid"/>
          </a:ln>
        </p:spPr>
      </p:sp>
      <p:sp>
        <p:nvSpPr>
          <p:cNvPr id="9" name="Text 7"/>
          <p:cNvSpPr/>
          <p:nvPr/>
        </p:nvSpPr>
        <p:spPr>
          <a:xfrm>
            <a:off x="41148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a:t>
            </a:r>
            <a:endParaRPr lang="en-US" sz="1800" dirty="0"/>
          </a:p>
        </p:txBody>
      </p:sp>
      <p:sp>
        <p:nvSpPr>
          <p:cNvPr id="10" name="Text 8"/>
          <p:cNvSpPr/>
          <p:nvPr/>
        </p:nvSpPr>
        <p:spPr>
          <a:xfrm>
            <a:off x="1005840" y="157276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Atomicity</a:t>
            </a:r>
            <a:endParaRPr lang="en-US" sz="1200" dirty="0"/>
          </a:p>
        </p:txBody>
      </p:sp>
      <p:sp>
        <p:nvSpPr>
          <p:cNvPr id="11" name="Text 9"/>
          <p:cNvSpPr/>
          <p:nvPr/>
        </p:nvSpPr>
        <p:spPr>
          <a:xfrm>
            <a:off x="1005840" y="182880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All operations in a transaction succeed or all fail.</a:t>
            </a:r>
            <a:endParaRPr lang="en-US" sz="1050" dirty="0"/>
          </a:p>
        </p:txBody>
      </p:sp>
      <p:sp>
        <p:nvSpPr>
          <p:cNvPr id="12" name="Shape 10"/>
          <p:cNvSpPr/>
          <p:nvPr/>
        </p:nvSpPr>
        <p:spPr>
          <a:xfrm>
            <a:off x="411480" y="2377440"/>
            <a:ext cx="502920" cy="502920"/>
          </a:xfrm>
          <a:prstGeom prst="ellipse">
            <a:avLst/>
          </a:prstGeom>
          <a:solidFill>
            <a:srgbClr val="028090"/>
          </a:solidFill>
          <a:ln w="12700">
            <a:solidFill>
              <a:srgbClr val="028090"/>
            </a:solidFill>
            <a:prstDash val="solid"/>
          </a:ln>
        </p:spPr>
      </p:sp>
      <p:sp>
        <p:nvSpPr>
          <p:cNvPr id="13" name="Text 11"/>
          <p:cNvSpPr/>
          <p:nvPr/>
        </p:nvSpPr>
        <p:spPr>
          <a:xfrm>
            <a:off x="411480" y="2377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14" name="Text 12"/>
          <p:cNvSpPr/>
          <p:nvPr/>
        </p:nvSpPr>
        <p:spPr>
          <a:xfrm>
            <a:off x="1005840" y="239572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Consistency</a:t>
            </a:r>
            <a:endParaRPr lang="en-US" sz="1200" dirty="0"/>
          </a:p>
        </p:txBody>
      </p:sp>
      <p:sp>
        <p:nvSpPr>
          <p:cNvPr id="15" name="Text 13"/>
          <p:cNvSpPr/>
          <p:nvPr/>
        </p:nvSpPr>
        <p:spPr>
          <a:xfrm>
            <a:off x="1005840" y="265176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must always be in a valid state.</a:t>
            </a:r>
            <a:endParaRPr lang="en-US" sz="1050" dirty="0"/>
          </a:p>
        </p:txBody>
      </p:sp>
      <p:sp>
        <p:nvSpPr>
          <p:cNvPr id="16" name="Shape 14"/>
          <p:cNvSpPr/>
          <p:nvPr/>
        </p:nvSpPr>
        <p:spPr>
          <a:xfrm>
            <a:off x="411480" y="3200400"/>
            <a:ext cx="502920" cy="502920"/>
          </a:xfrm>
          <a:prstGeom prst="ellipse">
            <a:avLst/>
          </a:prstGeom>
          <a:solidFill>
            <a:srgbClr val="028090"/>
          </a:solidFill>
          <a:ln w="12700">
            <a:solidFill>
              <a:srgbClr val="028090"/>
            </a:solidFill>
            <a:prstDash val="solid"/>
          </a:ln>
        </p:spPr>
      </p:sp>
      <p:sp>
        <p:nvSpPr>
          <p:cNvPr id="17" name="Text 15"/>
          <p:cNvSpPr/>
          <p:nvPr/>
        </p:nvSpPr>
        <p:spPr>
          <a:xfrm>
            <a:off x="411480" y="3200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I</a:t>
            </a:r>
            <a:endParaRPr lang="en-US" sz="1800" dirty="0"/>
          </a:p>
        </p:txBody>
      </p:sp>
      <p:sp>
        <p:nvSpPr>
          <p:cNvPr id="18" name="Text 16"/>
          <p:cNvSpPr/>
          <p:nvPr/>
        </p:nvSpPr>
        <p:spPr>
          <a:xfrm>
            <a:off x="1005840" y="321868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Isolation</a:t>
            </a:r>
            <a:endParaRPr lang="en-US" sz="1200" dirty="0"/>
          </a:p>
        </p:txBody>
      </p:sp>
      <p:sp>
        <p:nvSpPr>
          <p:cNvPr id="19" name="Text 17"/>
          <p:cNvSpPr/>
          <p:nvPr/>
        </p:nvSpPr>
        <p:spPr>
          <a:xfrm>
            <a:off x="1005840" y="347472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Concurrent transactions don't interfere.</a:t>
            </a:r>
            <a:endParaRPr lang="en-US" sz="1050" dirty="0"/>
          </a:p>
        </p:txBody>
      </p:sp>
      <p:sp>
        <p:nvSpPr>
          <p:cNvPr id="20" name="Shape 18"/>
          <p:cNvSpPr/>
          <p:nvPr/>
        </p:nvSpPr>
        <p:spPr>
          <a:xfrm>
            <a:off x="411480" y="4023360"/>
            <a:ext cx="502920" cy="502920"/>
          </a:xfrm>
          <a:prstGeom prst="ellipse">
            <a:avLst/>
          </a:prstGeom>
          <a:solidFill>
            <a:srgbClr val="028090"/>
          </a:solidFill>
          <a:ln w="12700">
            <a:solidFill>
              <a:srgbClr val="028090"/>
            </a:solidFill>
            <a:prstDash val="solid"/>
          </a:ln>
        </p:spPr>
      </p:sp>
      <p:sp>
        <p:nvSpPr>
          <p:cNvPr id="21" name="Text 19"/>
          <p:cNvSpPr/>
          <p:nvPr/>
        </p:nvSpPr>
        <p:spPr>
          <a:xfrm>
            <a:off x="411480" y="4023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D</a:t>
            </a:r>
            <a:endParaRPr lang="en-US" sz="1800" dirty="0"/>
          </a:p>
        </p:txBody>
      </p:sp>
      <p:sp>
        <p:nvSpPr>
          <p:cNvPr id="22" name="Text 20"/>
          <p:cNvSpPr/>
          <p:nvPr/>
        </p:nvSpPr>
        <p:spPr>
          <a:xfrm>
            <a:off x="1005840" y="404164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Durability</a:t>
            </a:r>
            <a:endParaRPr lang="en-US" sz="1200" dirty="0"/>
          </a:p>
        </p:txBody>
      </p:sp>
      <p:sp>
        <p:nvSpPr>
          <p:cNvPr id="23" name="Text 21"/>
          <p:cNvSpPr/>
          <p:nvPr/>
        </p:nvSpPr>
        <p:spPr>
          <a:xfrm>
            <a:off x="1005840" y="429768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Committed data persists even after failures.</a:t>
            </a:r>
            <a:endParaRPr lang="en-US" sz="1050" dirty="0"/>
          </a:p>
        </p:txBody>
      </p:sp>
      <p:sp>
        <p:nvSpPr>
          <p:cNvPr id="24" name="Shape 22"/>
          <p:cNvSpPr/>
          <p:nvPr/>
        </p:nvSpPr>
        <p:spPr>
          <a:xfrm>
            <a:off x="4434840" y="960120"/>
            <a:ext cx="4389120" cy="397764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5" name="Shape 23"/>
          <p:cNvSpPr/>
          <p:nvPr/>
        </p:nvSpPr>
        <p:spPr>
          <a:xfrm>
            <a:off x="4434840" y="960120"/>
            <a:ext cx="4389120" cy="502920"/>
          </a:xfrm>
          <a:prstGeom prst="rect">
            <a:avLst/>
          </a:prstGeom>
          <a:solidFill>
            <a:srgbClr val="028090"/>
          </a:solidFill>
          <a:ln w="12700">
            <a:solidFill>
              <a:srgbClr val="028090"/>
            </a:solidFill>
            <a:prstDash val="solid"/>
          </a:ln>
        </p:spPr>
      </p:sp>
      <p:sp>
        <p:nvSpPr>
          <p:cNvPr id="26" name="Text 24"/>
          <p:cNvSpPr/>
          <p:nvPr/>
        </p:nvSpPr>
        <p:spPr>
          <a:xfrm>
            <a:off x="4526280" y="960120"/>
            <a:ext cx="4206240" cy="5029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BASE (NoSQL Databases)</a:t>
            </a:r>
            <a:endParaRPr lang="en-US" sz="1500" dirty="0"/>
          </a:p>
        </p:txBody>
      </p:sp>
      <p:sp>
        <p:nvSpPr>
          <p:cNvPr id="27" name="Shape 25"/>
          <p:cNvSpPr/>
          <p:nvPr/>
        </p:nvSpPr>
        <p:spPr>
          <a:xfrm>
            <a:off x="4526280" y="1554480"/>
            <a:ext cx="594360" cy="594360"/>
          </a:xfrm>
          <a:prstGeom prst="ellipse">
            <a:avLst/>
          </a:prstGeom>
          <a:solidFill>
            <a:srgbClr val="02C39A"/>
          </a:solidFill>
          <a:ln w="12700">
            <a:solidFill>
              <a:srgbClr val="02C39A"/>
            </a:solidFill>
            <a:prstDash val="solid"/>
          </a:ln>
        </p:spPr>
      </p:sp>
      <p:sp>
        <p:nvSpPr>
          <p:cNvPr id="28" name="Text 26"/>
          <p:cNvSpPr/>
          <p:nvPr/>
        </p:nvSpPr>
        <p:spPr>
          <a:xfrm>
            <a:off x="4526280" y="155448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BA</a:t>
            </a:r>
            <a:endParaRPr lang="en-US" sz="1100" dirty="0"/>
          </a:p>
        </p:txBody>
      </p:sp>
      <p:sp>
        <p:nvSpPr>
          <p:cNvPr id="29" name="Text 27"/>
          <p:cNvSpPr/>
          <p:nvPr/>
        </p:nvSpPr>
        <p:spPr>
          <a:xfrm>
            <a:off x="5230368" y="1591056"/>
            <a:ext cx="338328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Basically Available</a:t>
            </a:r>
            <a:endParaRPr lang="en-US" sz="1200" dirty="0"/>
          </a:p>
        </p:txBody>
      </p:sp>
      <p:sp>
        <p:nvSpPr>
          <p:cNvPr id="30" name="Text 28"/>
          <p:cNvSpPr/>
          <p:nvPr/>
        </p:nvSpPr>
        <p:spPr>
          <a:xfrm>
            <a:off x="5230368" y="1883664"/>
            <a:ext cx="3383280" cy="6400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System guarantees availability (some data may be stale).</a:t>
            </a:r>
            <a:endParaRPr lang="en-US" sz="1050" dirty="0"/>
          </a:p>
        </p:txBody>
      </p:sp>
      <p:sp>
        <p:nvSpPr>
          <p:cNvPr id="31" name="Shape 29"/>
          <p:cNvSpPr/>
          <p:nvPr/>
        </p:nvSpPr>
        <p:spPr>
          <a:xfrm>
            <a:off x="4526280" y="2651760"/>
            <a:ext cx="594360" cy="594360"/>
          </a:xfrm>
          <a:prstGeom prst="ellipse">
            <a:avLst/>
          </a:prstGeom>
          <a:solidFill>
            <a:srgbClr val="02C39A"/>
          </a:solidFill>
          <a:ln w="12700">
            <a:solidFill>
              <a:srgbClr val="02C39A"/>
            </a:solidFill>
            <a:prstDash val="solid"/>
          </a:ln>
        </p:spPr>
      </p:sp>
      <p:sp>
        <p:nvSpPr>
          <p:cNvPr id="32" name="Text 30"/>
          <p:cNvSpPr/>
          <p:nvPr/>
        </p:nvSpPr>
        <p:spPr>
          <a:xfrm>
            <a:off x="4526280" y="265176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S</a:t>
            </a:r>
            <a:endParaRPr lang="en-US" sz="1100" dirty="0"/>
          </a:p>
        </p:txBody>
      </p:sp>
      <p:sp>
        <p:nvSpPr>
          <p:cNvPr id="33" name="Text 31"/>
          <p:cNvSpPr/>
          <p:nvPr/>
        </p:nvSpPr>
        <p:spPr>
          <a:xfrm>
            <a:off x="5230368" y="2688336"/>
            <a:ext cx="338328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Soft State</a:t>
            </a:r>
            <a:endParaRPr lang="en-US" sz="1200" dirty="0"/>
          </a:p>
        </p:txBody>
      </p:sp>
      <p:sp>
        <p:nvSpPr>
          <p:cNvPr id="34" name="Text 32"/>
          <p:cNvSpPr/>
          <p:nvPr/>
        </p:nvSpPr>
        <p:spPr>
          <a:xfrm>
            <a:off x="5230368" y="2980944"/>
            <a:ext cx="3383280" cy="6400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State may change even without new input (due to eventual consistency).</a:t>
            </a:r>
            <a:endParaRPr lang="en-US" sz="1050" dirty="0"/>
          </a:p>
        </p:txBody>
      </p:sp>
      <p:sp>
        <p:nvSpPr>
          <p:cNvPr id="35" name="Shape 33"/>
          <p:cNvSpPr/>
          <p:nvPr/>
        </p:nvSpPr>
        <p:spPr>
          <a:xfrm>
            <a:off x="4526280" y="3749040"/>
            <a:ext cx="594360" cy="594360"/>
          </a:xfrm>
          <a:prstGeom prst="ellipse">
            <a:avLst/>
          </a:prstGeom>
          <a:solidFill>
            <a:srgbClr val="02C39A"/>
          </a:solidFill>
          <a:ln w="12700">
            <a:solidFill>
              <a:srgbClr val="02C39A"/>
            </a:solidFill>
            <a:prstDash val="solid"/>
          </a:ln>
        </p:spPr>
      </p:sp>
      <p:sp>
        <p:nvSpPr>
          <p:cNvPr id="36" name="Text 34"/>
          <p:cNvSpPr/>
          <p:nvPr/>
        </p:nvSpPr>
        <p:spPr>
          <a:xfrm>
            <a:off x="4526280" y="374904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E</a:t>
            </a:r>
            <a:endParaRPr lang="en-US" sz="1100" dirty="0"/>
          </a:p>
        </p:txBody>
      </p:sp>
      <p:sp>
        <p:nvSpPr>
          <p:cNvPr id="37" name="Text 35"/>
          <p:cNvSpPr/>
          <p:nvPr/>
        </p:nvSpPr>
        <p:spPr>
          <a:xfrm>
            <a:off x="5230368" y="3785616"/>
            <a:ext cx="338328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Eventual Consistency</a:t>
            </a:r>
            <a:endParaRPr lang="en-US" sz="1200" dirty="0"/>
          </a:p>
        </p:txBody>
      </p:sp>
      <p:sp>
        <p:nvSpPr>
          <p:cNvPr id="38" name="Text 36"/>
          <p:cNvSpPr/>
          <p:nvPr/>
        </p:nvSpPr>
        <p:spPr>
          <a:xfrm>
            <a:off x="5230368" y="4078224"/>
            <a:ext cx="3383280" cy="6400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System will become consistent over time without guaranteeing when.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C</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Main Features, Design &amp; Deployment Considerations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Main Features of NoSQL Databases</a:t>
            </a:r>
            <a:endParaRPr lang="en-US" sz="2400" dirty="0"/>
          </a:p>
        </p:txBody>
      </p:sp>
      <p:sp>
        <p:nvSpPr>
          <p:cNvPr id="5" name="Shape 3"/>
          <p:cNvSpPr/>
          <p:nvPr/>
        </p:nvSpPr>
        <p:spPr>
          <a:xfrm>
            <a:off x="320040" y="96012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73152" cy="1874520"/>
          </a:xfrm>
          <a:prstGeom prst="rect">
            <a:avLst/>
          </a:prstGeom>
          <a:solidFill>
            <a:srgbClr val="028090"/>
          </a:solidFill>
          <a:ln w="12700">
            <a:solidFill>
              <a:srgbClr val="028090"/>
            </a:solidFill>
            <a:prstDash val="solid"/>
          </a:ln>
        </p:spPr>
      </p:sp>
      <p:sp>
        <p:nvSpPr>
          <p:cNvPr id="7" name="Text 5"/>
          <p:cNvSpPr/>
          <p:nvPr/>
        </p:nvSpPr>
        <p:spPr>
          <a:xfrm>
            <a:off x="484632" y="106984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High Performance</a:t>
            </a:r>
            <a:endParaRPr lang="en-US" sz="1300" dirty="0"/>
          </a:p>
        </p:txBody>
      </p:sp>
      <p:sp>
        <p:nvSpPr>
          <p:cNvPr id="8" name="Text 6"/>
          <p:cNvSpPr/>
          <p:nvPr/>
        </p:nvSpPr>
        <p:spPr>
          <a:xfrm>
            <a:off x="484632" y="152704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Optimized read/write speeds. No JOIN overhead. Direct document or key access.</a:t>
            </a:r>
            <a:endParaRPr lang="en-US" sz="1100" dirty="0"/>
          </a:p>
        </p:txBody>
      </p:sp>
      <p:sp>
        <p:nvSpPr>
          <p:cNvPr id="9" name="Shape 7"/>
          <p:cNvSpPr/>
          <p:nvPr/>
        </p:nvSpPr>
        <p:spPr>
          <a:xfrm>
            <a:off x="3200400" y="96012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0" name="Shape 8"/>
          <p:cNvSpPr/>
          <p:nvPr/>
        </p:nvSpPr>
        <p:spPr>
          <a:xfrm>
            <a:off x="3200400" y="960120"/>
            <a:ext cx="73152" cy="1874520"/>
          </a:xfrm>
          <a:prstGeom prst="rect">
            <a:avLst/>
          </a:prstGeom>
          <a:solidFill>
            <a:srgbClr val="028090"/>
          </a:solidFill>
          <a:ln w="12700">
            <a:solidFill>
              <a:srgbClr val="028090"/>
            </a:solidFill>
            <a:prstDash val="solid"/>
          </a:ln>
        </p:spPr>
      </p:sp>
      <p:sp>
        <p:nvSpPr>
          <p:cNvPr id="11" name="Text 9"/>
          <p:cNvSpPr/>
          <p:nvPr/>
        </p:nvSpPr>
        <p:spPr>
          <a:xfrm>
            <a:off x="3364992" y="106984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Flexible Schema</a:t>
            </a:r>
            <a:endParaRPr lang="en-US" sz="1300" dirty="0"/>
          </a:p>
        </p:txBody>
      </p:sp>
      <p:sp>
        <p:nvSpPr>
          <p:cNvPr id="12" name="Text 10"/>
          <p:cNvSpPr/>
          <p:nvPr/>
        </p:nvSpPr>
        <p:spPr>
          <a:xfrm>
            <a:off x="3364992" y="152704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Add/remove fields without migrations. Each record can have different attributes.</a:t>
            </a:r>
            <a:endParaRPr lang="en-US" sz="1100" dirty="0"/>
          </a:p>
        </p:txBody>
      </p:sp>
      <p:sp>
        <p:nvSpPr>
          <p:cNvPr id="13" name="Shape 11"/>
          <p:cNvSpPr/>
          <p:nvPr/>
        </p:nvSpPr>
        <p:spPr>
          <a:xfrm>
            <a:off x="6080760" y="96012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4" name="Shape 12"/>
          <p:cNvSpPr/>
          <p:nvPr/>
        </p:nvSpPr>
        <p:spPr>
          <a:xfrm>
            <a:off x="6080760" y="960120"/>
            <a:ext cx="73152" cy="1874520"/>
          </a:xfrm>
          <a:prstGeom prst="rect">
            <a:avLst/>
          </a:prstGeom>
          <a:solidFill>
            <a:srgbClr val="028090"/>
          </a:solidFill>
          <a:ln w="12700">
            <a:solidFill>
              <a:srgbClr val="028090"/>
            </a:solidFill>
            <a:prstDash val="solid"/>
          </a:ln>
        </p:spPr>
      </p:sp>
      <p:sp>
        <p:nvSpPr>
          <p:cNvPr id="15" name="Text 13"/>
          <p:cNvSpPr/>
          <p:nvPr/>
        </p:nvSpPr>
        <p:spPr>
          <a:xfrm>
            <a:off x="6245352" y="106984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Horizontal Scalability</a:t>
            </a:r>
            <a:endParaRPr lang="en-US" sz="1300" dirty="0"/>
          </a:p>
        </p:txBody>
      </p:sp>
      <p:sp>
        <p:nvSpPr>
          <p:cNvPr id="16" name="Text 14"/>
          <p:cNvSpPr/>
          <p:nvPr/>
        </p:nvSpPr>
        <p:spPr>
          <a:xfrm>
            <a:off x="6245352" y="152704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Distribute data across commodity servers. Add nodes as data grows without downtime.</a:t>
            </a:r>
            <a:endParaRPr lang="en-US" sz="1100" dirty="0"/>
          </a:p>
        </p:txBody>
      </p:sp>
      <p:sp>
        <p:nvSpPr>
          <p:cNvPr id="17" name="Shape 15"/>
          <p:cNvSpPr/>
          <p:nvPr/>
        </p:nvSpPr>
        <p:spPr>
          <a:xfrm>
            <a:off x="320040" y="297180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8" name="Shape 16"/>
          <p:cNvSpPr/>
          <p:nvPr/>
        </p:nvSpPr>
        <p:spPr>
          <a:xfrm>
            <a:off x="320040" y="2971800"/>
            <a:ext cx="73152" cy="1874520"/>
          </a:xfrm>
          <a:prstGeom prst="rect">
            <a:avLst/>
          </a:prstGeom>
          <a:solidFill>
            <a:srgbClr val="02C39A"/>
          </a:solidFill>
          <a:ln w="12700">
            <a:solidFill>
              <a:srgbClr val="02C39A"/>
            </a:solidFill>
            <a:prstDash val="solid"/>
          </a:ln>
        </p:spPr>
      </p:sp>
      <p:sp>
        <p:nvSpPr>
          <p:cNvPr id="19" name="Text 17"/>
          <p:cNvSpPr/>
          <p:nvPr/>
        </p:nvSpPr>
        <p:spPr>
          <a:xfrm>
            <a:off x="484632" y="308152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Replication &amp; HA</a:t>
            </a:r>
            <a:endParaRPr lang="en-US" sz="1300" dirty="0"/>
          </a:p>
        </p:txBody>
      </p:sp>
      <p:sp>
        <p:nvSpPr>
          <p:cNvPr id="20" name="Text 18"/>
          <p:cNvSpPr/>
          <p:nvPr/>
        </p:nvSpPr>
        <p:spPr>
          <a:xfrm>
            <a:off x="484632" y="353872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Built-in replication across multiple nodes. Auto-failover for 99.99%+ uptime.</a:t>
            </a:r>
            <a:endParaRPr lang="en-US" sz="1100" dirty="0"/>
          </a:p>
        </p:txBody>
      </p:sp>
      <p:sp>
        <p:nvSpPr>
          <p:cNvPr id="21" name="Shape 19"/>
          <p:cNvSpPr/>
          <p:nvPr/>
        </p:nvSpPr>
        <p:spPr>
          <a:xfrm>
            <a:off x="3200400" y="297180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2" name="Shape 20"/>
          <p:cNvSpPr/>
          <p:nvPr/>
        </p:nvSpPr>
        <p:spPr>
          <a:xfrm>
            <a:off x="3200400" y="2971800"/>
            <a:ext cx="73152" cy="1874520"/>
          </a:xfrm>
          <a:prstGeom prst="rect">
            <a:avLst/>
          </a:prstGeom>
          <a:solidFill>
            <a:srgbClr val="02C39A"/>
          </a:solidFill>
          <a:ln w="12700">
            <a:solidFill>
              <a:srgbClr val="02C39A"/>
            </a:solidFill>
            <a:prstDash val="solid"/>
          </a:ln>
        </p:spPr>
      </p:sp>
      <p:sp>
        <p:nvSpPr>
          <p:cNvPr id="23" name="Text 21"/>
          <p:cNvSpPr/>
          <p:nvPr/>
        </p:nvSpPr>
        <p:spPr>
          <a:xfrm>
            <a:off x="3364992" y="308152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Geographically Distributed</a:t>
            </a:r>
            <a:endParaRPr lang="en-US" sz="1300" dirty="0"/>
          </a:p>
        </p:txBody>
      </p:sp>
      <p:sp>
        <p:nvSpPr>
          <p:cNvPr id="24" name="Text 22"/>
          <p:cNvSpPr/>
          <p:nvPr/>
        </p:nvSpPr>
        <p:spPr>
          <a:xfrm>
            <a:off x="3364992" y="353872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Multi-region clusters. Data stays close to users for low-latency global access.</a:t>
            </a:r>
            <a:endParaRPr lang="en-US" sz="1100" dirty="0"/>
          </a:p>
        </p:txBody>
      </p:sp>
      <p:sp>
        <p:nvSpPr>
          <p:cNvPr id="25" name="Shape 23"/>
          <p:cNvSpPr/>
          <p:nvPr/>
        </p:nvSpPr>
        <p:spPr>
          <a:xfrm>
            <a:off x="6080760" y="297180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6" name="Shape 24"/>
          <p:cNvSpPr/>
          <p:nvPr/>
        </p:nvSpPr>
        <p:spPr>
          <a:xfrm>
            <a:off x="6080760" y="2971800"/>
            <a:ext cx="73152" cy="1874520"/>
          </a:xfrm>
          <a:prstGeom prst="rect">
            <a:avLst/>
          </a:prstGeom>
          <a:solidFill>
            <a:srgbClr val="02C39A"/>
          </a:solidFill>
          <a:ln w="12700">
            <a:solidFill>
              <a:srgbClr val="02C39A"/>
            </a:solidFill>
            <a:prstDash val="solid"/>
          </a:ln>
        </p:spPr>
      </p:sp>
      <p:sp>
        <p:nvSpPr>
          <p:cNvPr id="27" name="Text 25"/>
          <p:cNvSpPr/>
          <p:nvPr/>
        </p:nvSpPr>
        <p:spPr>
          <a:xfrm>
            <a:off x="6245352" y="308152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Cost Efficiency</a:t>
            </a:r>
            <a:endParaRPr lang="en-US" sz="1300" dirty="0"/>
          </a:p>
        </p:txBody>
      </p:sp>
      <p:sp>
        <p:nvSpPr>
          <p:cNvPr id="28" name="Text 26"/>
          <p:cNvSpPr/>
          <p:nvPr/>
        </p:nvSpPr>
        <p:spPr>
          <a:xfrm>
            <a:off x="6245352" y="353872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Runs on commodity hardware. Open-source options. Pay-as-you-grow cloud models.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Design &amp; Deployment Considerations</a:t>
            </a:r>
            <a:endParaRPr lang="en-US" sz="2400" dirty="0"/>
          </a:p>
        </p:txBody>
      </p:sp>
      <p:sp>
        <p:nvSpPr>
          <p:cNvPr id="5" name="Text 3"/>
          <p:cNvSpPr/>
          <p:nvPr/>
        </p:nvSpPr>
        <p:spPr>
          <a:xfrm>
            <a:off x="365760" y="960120"/>
            <a:ext cx="8412480" cy="36576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Choosing and deploying a NoSQL database requires careful planning across several dimensions:</a:t>
            </a:r>
            <a:endParaRPr lang="en-US" sz="1200" dirty="0"/>
          </a:p>
        </p:txBody>
      </p:sp>
      <p:sp>
        <p:nvSpPr>
          <p:cNvPr id="6" name="Shape 4"/>
          <p:cNvSpPr/>
          <p:nvPr/>
        </p:nvSpPr>
        <p:spPr>
          <a:xfrm>
            <a:off x="320040" y="14173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7" name="Shape 5"/>
          <p:cNvSpPr/>
          <p:nvPr/>
        </p:nvSpPr>
        <p:spPr>
          <a:xfrm>
            <a:off x="320040" y="1417320"/>
            <a:ext cx="4206240" cy="438912"/>
          </a:xfrm>
          <a:prstGeom prst="rect">
            <a:avLst/>
          </a:prstGeom>
          <a:solidFill>
            <a:srgbClr val="0A2342"/>
          </a:solidFill>
          <a:ln w="12700">
            <a:solidFill>
              <a:srgbClr val="0A2342"/>
            </a:solidFill>
            <a:prstDash val="solid"/>
          </a:ln>
        </p:spPr>
      </p:sp>
      <p:sp>
        <p:nvSpPr>
          <p:cNvPr id="8" name="Text 6"/>
          <p:cNvSpPr/>
          <p:nvPr/>
        </p:nvSpPr>
        <p:spPr>
          <a:xfrm>
            <a:off x="429768" y="14173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Data Modeling</a:t>
            </a:r>
            <a:endParaRPr lang="en-US" sz="1400" dirty="0"/>
          </a:p>
        </p:txBody>
      </p:sp>
      <p:sp>
        <p:nvSpPr>
          <p:cNvPr id="9" name="Text 7"/>
          <p:cNvSpPr/>
          <p:nvPr/>
        </p:nvSpPr>
        <p:spPr>
          <a:xfrm>
            <a:off x="429768" y="18928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Understand access patterns FIRST, then model data</a:t>
            </a:r>
            <a:endParaRPr lang="en-US" sz="1050" dirty="0"/>
          </a:p>
        </p:txBody>
      </p:sp>
      <p:sp>
        <p:nvSpPr>
          <p:cNvPr id="10" name="Text 8"/>
          <p:cNvSpPr/>
          <p:nvPr/>
        </p:nvSpPr>
        <p:spPr>
          <a:xfrm>
            <a:off x="429768" y="22677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Denormalization is intentional and expected</a:t>
            </a:r>
            <a:endParaRPr lang="en-US" sz="1050" dirty="0"/>
          </a:p>
        </p:txBody>
      </p:sp>
      <p:sp>
        <p:nvSpPr>
          <p:cNvPr id="11" name="Text 9"/>
          <p:cNvSpPr/>
          <p:nvPr/>
        </p:nvSpPr>
        <p:spPr>
          <a:xfrm>
            <a:off x="429768" y="26426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Avoid thinking in relational tables</a:t>
            </a:r>
            <a:endParaRPr lang="en-US" sz="1050" dirty="0"/>
          </a:p>
        </p:txBody>
      </p:sp>
      <p:sp>
        <p:nvSpPr>
          <p:cNvPr id="12" name="Shape 10"/>
          <p:cNvSpPr/>
          <p:nvPr/>
        </p:nvSpPr>
        <p:spPr>
          <a:xfrm>
            <a:off x="4754880" y="14173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13" name="Shape 11"/>
          <p:cNvSpPr/>
          <p:nvPr/>
        </p:nvSpPr>
        <p:spPr>
          <a:xfrm>
            <a:off x="4754880" y="1417320"/>
            <a:ext cx="4206240" cy="438912"/>
          </a:xfrm>
          <a:prstGeom prst="rect">
            <a:avLst/>
          </a:prstGeom>
          <a:solidFill>
            <a:srgbClr val="028090"/>
          </a:solidFill>
          <a:ln w="12700">
            <a:solidFill>
              <a:srgbClr val="028090"/>
            </a:solidFill>
            <a:prstDash val="solid"/>
          </a:ln>
        </p:spPr>
      </p:sp>
      <p:sp>
        <p:nvSpPr>
          <p:cNvPr id="14" name="Text 12"/>
          <p:cNvSpPr/>
          <p:nvPr/>
        </p:nvSpPr>
        <p:spPr>
          <a:xfrm>
            <a:off x="4864608" y="14173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Consistency Needs</a:t>
            </a:r>
            <a:endParaRPr lang="en-US" sz="1400" dirty="0"/>
          </a:p>
        </p:txBody>
      </p:sp>
      <p:sp>
        <p:nvSpPr>
          <p:cNvPr id="15" name="Text 13"/>
          <p:cNvSpPr/>
          <p:nvPr/>
        </p:nvSpPr>
        <p:spPr>
          <a:xfrm>
            <a:off x="4864608" y="18928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Strong consistency → choose CP systems (HBase, Zookeeper)</a:t>
            </a:r>
            <a:endParaRPr lang="en-US" sz="1050" dirty="0"/>
          </a:p>
        </p:txBody>
      </p:sp>
      <p:sp>
        <p:nvSpPr>
          <p:cNvPr id="16" name="Text 14"/>
          <p:cNvSpPr/>
          <p:nvPr/>
        </p:nvSpPr>
        <p:spPr>
          <a:xfrm>
            <a:off x="4864608" y="22677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High availability → choose AP systems (Cassandra, CouchDB)</a:t>
            </a:r>
            <a:endParaRPr lang="en-US" sz="1050" dirty="0"/>
          </a:p>
        </p:txBody>
      </p:sp>
      <p:sp>
        <p:nvSpPr>
          <p:cNvPr id="17" name="Text 15"/>
          <p:cNvSpPr/>
          <p:nvPr/>
        </p:nvSpPr>
        <p:spPr>
          <a:xfrm>
            <a:off x="4864608" y="26426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Define acceptable staleness windows</a:t>
            </a:r>
            <a:endParaRPr lang="en-US" sz="1050" dirty="0"/>
          </a:p>
        </p:txBody>
      </p:sp>
      <p:sp>
        <p:nvSpPr>
          <p:cNvPr id="18" name="Shape 16"/>
          <p:cNvSpPr/>
          <p:nvPr/>
        </p:nvSpPr>
        <p:spPr>
          <a:xfrm>
            <a:off x="320040" y="32461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19" name="Shape 17"/>
          <p:cNvSpPr/>
          <p:nvPr/>
        </p:nvSpPr>
        <p:spPr>
          <a:xfrm>
            <a:off x="320040" y="3246120"/>
            <a:ext cx="4206240" cy="438912"/>
          </a:xfrm>
          <a:prstGeom prst="rect">
            <a:avLst/>
          </a:prstGeom>
          <a:solidFill>
            <a:srgbClr val="0A2342"/>
          </a:solidFill>
          <a:ln w="12700">
            <a:solidFill>
              <a:srgbClr val="0A2342"/>
            </a:solidFill>
            <a:prstDash val="solid"/>
          </a:ln>
        </p:spPr>
      </p:sp>
      <p:sp>
        <p:nvSpPr>
          <p:cNvPr id="20" name="Text 18"/>
          <p:cNvSpPr/>
          <p:nvPr/>
        </p:nvSpPr>
        <p:spPr>
          <a:xfrm>
            <a:off x="429768" y="32461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Scalability Strategy</a:t>
            </a:r>
            <a:endParaRPr lang="en-US" sz="1400" dirty="0"/>
          </a:p>
        </p:txBody>
      </p:sp>
      <p:sp>
        <p:nvSpPr>
          <p:cNvPr id="21" name="Text 19"/>
          <p:cNvSpPr/>
          <p:nvPr/>
        </p:nvSpPr>
        <p:spPr>
          <a:xfrm>
            <a:off x="429768" y="37216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Plan sharding/partitioning strategy early</a:t>
            </a:r>
            <a:endParaRPr lang="en-US" sz="1050" dirty="0"/>
          </a:p>
        </p:txBody>
      </p:sp>
      <p:sp>
        <p:nvSpPr>
          <p:cNvPr id="22" name="Text 20"/>
          <p:cNvSpPr/>
          <p:nvPr/>
        </p:nvSpPr>
        <p:spPr>
          <a:xfrm>
            <a:off x="429768" y="40965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Choose partition key carefully to avoid hotspots</a:t>
            </a:r>
            <a:endParaRPr lang="en-US" sz="1050" dirty="0"/>
          </a:p>
        </p:txBody>
      </p:sp>
      <p:sp>
        <p:nvSpPr>
          <p:cNvPr id="23" name="Text 21"/>
          <p:cNvSpPr/>
          <p:nvPr/>
        </p:nvSpPr>
        <p:spPr>
          <a:xfrm>
            <a:off x="429768" y="44714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Monitor node balance as data grows</a:t>
            </a:r>
            <a:endParaRPr lang="en-US" sz="1050" dirty="0"/>
          </a:p>
        </p:txBody>
      </p:sp>
      <p:sp>
        <p:nvSpPr>
          <p:cNvPr id="24" name="Shape 22"/>
          <p:cNvSpPr/>
          <p:nvPr/>
        </p:nvSpPr>
        <p:spPr>
          <a:xfrm>
            <a:off x="4754880" y="32461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25" name="Shape 23"/>
          <p:cNvSpPr/>
          <p:nvPr/>
        </p:nvSpPr>
        <p:spPr>
          <a:xfrm>
            <a:off x="4754880" y="3246120"/>
            <a:ext cx="4206240" cy="438912"/>
          </a:xfrm>
          <a:prstGeom prst="rect">
            <a:avLst/>
          </a:prstGeom>
          <a:solidFill>
            <a:srgbClr val="028090"/>
          </a:solidFill>
          <a:ln w="12700">
            <a:solidFill>
              <a:srgbClr val="028090"/>
            </a:solidFill>
            <a:prstDash val="solid"/>
          </a:ln>
        </p:spPr>
      </p:sp>
      <p:sp>
        <p:nvSpPr>
          <p:cNvPr id="26" name="Text 24"/>
          <p:cNvSpPr/>
          <p:nvPr/>
        </p:nvSpPr>
        <p:spPr>
          <a:xfrm>
            <a:off x="4864608" y="32461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Deployment Options</a:t>
            </a:r>
            <a:endParaRPr lang="en-US" sz="1400" dirty="0"/>
          </a:p>
        </p:txBody>
      </p:sp>
      <p:sp>
        <p:nvSpPr>
          <p:cNvPr id="27" name="Text 25"/>
          <p:cNvSpPr/>
          <p:nvPr/>
        </p:nvSpPr>
        <p:spPr>
          <a:xfrm>
            <a:off x="4864608" y="37216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Self-managed: full control, higher ops burden</a:t>
            </a:r>
            <a:endParaRPr lang="en-US" sz="1050" dirty="0"/>
          </a:p>
        </p:txBody>
      </p:sp>
      <p:sp>
        <p:nvSpPr>
          <p:cNvPr id="28" name="Text 26"/>
          <p:cNvSpPr/>
          <p:nvPr/>
        </p:nvSpPr>
        <p:spPr>
          <a:xfrm>
            <a:off x="4864608" y="40965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Managed cloud: AWS DynamoDB, Atlas, Cosmos DB</a:t>
            </a:r>
            <a:endParaRPr lang="en-US" sz="1050" dirty="0"/>
          </a:p>
        </p:txBody>
      </p:sp>
      <p:sp>
        <p:nvSpPr>
          <p:cNvPr id="29" name="Text 27"/>
          <p:cNvSpPr/>
          <p:nvPr/>
        </p:nvSpPr>
        <p:spPr>
          <a:xfrm>
            <a:off x="4864608" y="44714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Hybrid: on-premises + cloud for compliance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D</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Relational Databases vs NoSQL &amp; Types of NoSQL</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Traditional Relational vs NoSQL: Head-to-Head</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4023360"/>
        </p:xfrm>
        <a:graphic>
          <a:graphicData uri="http://schemas.openxmlformats.org/drawingml/2006/table">
            <a:tbl>
              <a:tblPr/>
              <a:tblGrid>
                <a:gridCol w="1920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47040">
                <a:tc>
                  <a:txBody>
                    <a:bodyPr/>
                    <a:lstStyle/>
                    <a:p>
                      <a:pPr marL="0" indent="0" algn="l">
                        <a:buNone/>
                      </a:pPr>
                      <a:r>
                        <a:rPr lang="en-US" sz="1300" b="1" dirty="0">
                          <a:solidFill>
                            <a:srgbClr val="FFFFFF"/>
                          </a:solidFill>
                          <a:latin typeface="Georgia" pitchFamily="34" charset="0"/>
                          <a:ea typeface="Georgia" pitchFamily="34" charset="-122"/>
                          <a:cs typeface="Georgia" pitchFamily="34" charset="-120"/>
                        </a:rPr>
                        <a:t>Dimension</a:t>
                      </a:r>
                      <a:endParaRPr lang="en-US" sz="130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300" b="1" dirty="0">
                          <a:solidFill>
                            <a:srgbClr val="FFFFFF"/>
                          </a:solidFill>
                          <a:latin typeface="Georgia" pitchFamily="34" charset="0"/>
                          <a:ea typeface="Georgia" pitchFamily="34" charset="-122"/>
                          <a:cs typeface="Georgia" pitchFamily="34" charset="-120"/>
                        </a:rPr>
                        <a:t>Relational (SQL)</a:t>
                      </a:r>
                      <a:endParaRPr lang="en-US" sz="130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300" b="1" dirty="0">
                          <a:solidFill>
                            <a:srgbClr val="FFFFFF"/>
                          </a:solidFill>
                          <a:latin typeface="Georgia" pitchFamily="34" charset="0"/>
                          <a:ea typeface="Georgia" pitchFamily="34" charset="-122"/>
                          <a:cs typeface="Georgia" pitchFamily="34" charset="-120"/>
                        </a:rPr>
                        <a:t>NoSQL</a:t>
                      </a:r>
                      <a:endParaRPr lang="en-US" sz="130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Data Model</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Tables, rows &amp; columns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Documents, K-V, Columns, Graphs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1"/>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Schema</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Fixed / predefined</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Dynamic / schema-less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2"/>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Scalability</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Vertical (scale up)</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Horizontal (scale out)</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3"/>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Query Language</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SQL — standardized</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Database-specific APIs &amp; languages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4"/>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Consistency</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Strong ACID guarantees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Eventual (BASE) by default</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5"/>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Transactions</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Multi-table ACID transactions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Limited (improving in modern NoSQL)</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6"/>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Best For</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Financial, ERP, transactional</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Big data, real-time, IoT, unstructured</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7"/>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Examples</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MySQL, PostgreSQL, Oracle</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MongoDB, Cassandra, Redis, Neo4j</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Types of NoSQL Databases</a:t>
            </a:r>
            <a:endParaRPr lang="en-US" sz="2400" dirty="0"/>
          </a:p>
        </p:txBody>
      </p:sp>
      <p:sp>
        <p:nvSpPr>
          <p:cNvPr id="5" name="Shape 3"/>
          <p:cNvSpPr/>
          <p:nvPr/>
        </p:nvSpPr>
        <p:spPr>
          <a:xfrm>
            <a:off x="320040" y="96012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4206240" cy="475488"/>
          </a:xfrm>
          <a:prstGeom prst="rect">
            <a:avLst/>
          </a:prstGeom>
          <a:solidFill>
            <a:srgbClr val="0A2342"/>
          </a:solidFill>
          <a:ln w="12700">
            <a:solidFill>
              <a:srgbClr val="0A2342"/>
            </a:solidFill>
            <a:prstDash val="solid"/>
          </a:ln>
        </p:spPr>
      </p:sp>
      <p:sp>
        <p:nvSpPr>
          <p:cNvPr id="7" name="Text 5"/>
          <p:cNvSpPr/>
          <p:nvPr/>
        </p:nvSpPr>
        <p:spPr>
          <a:xfrm>
            <a:off x="411480" y="96012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Document Store</a:t>
            </a:r>
            <a:endParaRPr lang="en-US" sz="1500" dirty="0"/>
          </a:p>
        </p:txBody>
      </p:sp>
      <p:sp>
        <p:nvSpPr>
          <p:cNvPr id="8" name="Text 6"/>
          <p:cNvSpPr/>
          <p:nvPr/>
        </p:nvSpPr>
        <p:spPr>
          <a:xfrm>
            <a:off x="411480" y="1481328"/>
            <a:ext cx="4023360" cy="320040"/>
          </a:xfrm>
          <a:prstGeom prst="rect">
            <a:avLst/>
          </a:prstGeom>
          <a:noFill/>
          <a:ln/>
        </p:spPr>
        <p:txBody>
          <a:bodyPr wrap="square" lIns="0" tIns="0" rIns="0" bIns="0" rtlCol="0" anchor="ctr"/>
          <a:lstStyle/>
          <a:p>
            <a:pPr marL="0" indent="0">
              <a:buNone/>
            </a:pPr>
            <a:r>
              <a:rPr lang="en-US" sz="1050" b="1" i="1" dirty="0">
                <a:solidFill>
                  <a:srgbClr val="0A2342"/>
                </a:solidFill>
                <a:latin typeface="Calibri" pitchFamily="34" charset="0"/>
                <a:ea typeface="Calibri" pitchFamily="34" charset="-122"/>
                <a:cs typeface="Calibri" pitchFamily="34" charset="-120"/>
              </a:rPr>
              <a:t>e.g. MongoDB, CouchDB, Firestore</a:t>
            </a:r>
            <a:endParaRPr lang="en-US" sz="1050" dirty="0"/>
          </a:p>
        </p:txBody>
      </p:sp>
      <p:sp>
        <p:nvSpPr>
          <p:cNvPr id="9" name="Text 7"/>
          <p:cNvSpPr/>
          <p:nvPr/>
        </p:nvSpPr>
        <p:spPr>
          <a:xfrm>
            <a:off x="411480" y="182880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Stores data as JSON/BSON documents. Each document can have a different structure. Ideal for content management, user profiles, e-commerce catalogues.</a:t>
            </a:r>
            <a:endParaRPr lang="en-US" sz="1050" dirty="0"/>
          </a:p>
        </p:txBody>
      </p:sp>
      <p:sp>
        <p:nvSpPr>
          <p:cNvPr id="10" name="Shape 8"/>
          <p:cNvSpPr/>
          <p:nvPr/>
        </p:nvSpPr>
        <p:spPr>
          <a:xfrm>
            <a:off x="411480" y="2624328"/>
            <a:ext cx="3977640" cy="228600"/>
          </a:xfrm>
          <a:prstGeom prst="rect">
            <a:avLst/>
          </a:prstGeom>
          <a:solidFill>
            <a:srgbClr val="0A2342">
              <a:alpha val="20000"/>
            </a:srgbClr>
          </a:solidFill>
          <a:ln w="12700">
            <a:solidFill>
              <a:srgbClr val="0A2342">
                <a:alpha val="20000"/>
              </a:srgbClr>
            </a:solidFill>
            <a:prstDash val="solid"/>
          </a:ln>
        </p:spPr>
      </p:sp>
      <p:sp>
        <p:nvSpPr>
          <p:cNvPr id="11" name="Text 9"/>
          <p:cNvSpPr/>
          <p:nvPr/>
        </p:nvSpPr>
        <p:spPr>
          <a:xfrm>
            <a:off x="411480" y="2624328"/>
            <a:ext cx="4023360" cy="228600"/>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Best for: Hierarchical, nested, semi-structured data</a:t>
            </a:r>
            <a:endParaRPr lang="en-US" sz="950" dirty="0"/>
          </a:p>
        </p:txBody>
      </p:sp>
      <p:sp>
        <p:nvSpPr>
          <p:cNvPr id="12" name="Shape 10"/>
          <p:cNvSpPr/>
          <p:nvPr/>
        </p:nvSpPr>
        <p:spPr>
          <a:xfrm>
            <a:off x="4754880" y="96012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3" name="Shape 11"/>
          <p:cNvSpPr/>
          <p:nvPr/>
        </p:nvSpPr>
        <p:spPr>
          <a:xfrm>
            <a:off x="4754880" y="960120"/>
            <a:ext cx="4206240" cy="475488"/>
          </a:xfrm>
          <a:prstGeom prst="rect">
            <a:avLst/>
          </a:prstGeom>
          <a:solidFill>
            <a:srgbClr val="028090"/>
          </a:solidFill>
          <a:ln w="12700">
            <a:solidFill>
              <a:srgbClr val="028090"/>
            </a:solidFill>
            <a:prstDash val="solid"/>
          </a:ln>
        </p:spPr>
      </p:sp>
      <p:sp>
        <p:nvSpPr>
          <p:cNvPr id="14" name="Text 12"/>
          <p:cNvSpPr/>
          <p:nvPr/>
        </p:nvSpPr>
        <p:spPr>
          <a:xfrm>
            <a:off x="4846320" y="96012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Key-Value Store</a:t>
            </a:r>
            <a:endParaRPr lang="en-US" sz="1500" dirty="0"/>
          </a:p>
        </p:txBody>
      </p:sp>
      <p:sp>
        <p:nvSpPr>
          <p:cNvPr id="15" name="Text 13"/>
          <p:cNvSpPr/>
          <p:nvPr/>
        </p:nvSpPr>
        <p:spPr>
          <a:xfrm>
            <a:off x="4846320" y="1481328"/>
            <a:ext cx="4023360" cy="320040"/>
          </a:xfrm>
          <a:prstGeom prst="rect">
            <a:avLst/>
          </a:prstGeom>
          <a:noFill/>
          <a:ln/>
        </p:spPr>
        <p:txBody>
          <a:bodyPr wrap="square" lIns="0" tIns="0" rIns="0" bIns="0" rtlCol="0" anchor="ctr"/>
          <a:lstStyle/>
          <a:p>
            <a:pPr marL="0" indent="0">
              <a:buNone/>
            </a:pPr>
            <a:r>
              <a:rPr lang="en-US" sz="1050" b="1" i="1" dirty="0">
                <a:solidFill>
                  <a:srgbClr val="028090"/>
                </a:solidFill>
                <a:latin typeface="Calibri" pitchFamily="34" charset="0"/>
                <a:ea typeface="Calibri" pitchFamily="34" charset="-122"/>
                <a:cs typeface="Calibri" pitchFamily="34" charset="-120"/>
              </a:rPr>
              <a:t>e.g. Redis, DynamoDB, Riak</a:t>
            </a:r>
            <a:endParaRPr lang="en-US" sz="1050" dirty="0"/>
          </a:p>
        </p:txBody>
      </p:sp>
      <p:sp>
        <p:nvSpPr>
          <p:cNvPr id="16" name="Text 14"/>
          <p:cNvSpPr/>
          <p:nvPr/>
        </p:nvSpPr>
        <p:spPr>
          <a:xfrm>
            <a:off x="4846320" y="182880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Simplest model: unique key maps to a value (string, list, hash). Extremely fast O(1) lookups. Often used for caching and session management.</a:t>
            </a:r>
            <a:endParaRPr lang="en-US" sz="1050" dirty="0"/>
          </a:p>
        </p:txBody>
      </p:sp>
      <p:sp>
        <p:nvSpPr>
          <p:cNvPr id="17" name="Shape 15"/>
          <p:cNvSpPr/>
          <p:nvPr/>
        </p:nvSpPr>
        <p:spPr>
          <a:xfrm>
            <a:off x="4846320" y="2624328"/>
            <a:ext cx="3977640" cy="228600"/>
          </a:xfrm>
          <a:prstGeom prst="rect">
            <a:avLst/>
          </a:prstGeom>
          <a:solidFill>
            <a:srgbClr val="028090">
              <a:alpha val="20000"/>
            </a:srgbClr>
          </a:solidFill>
          <a:ln w="12700">
            <a:solidFill>
              <a:srgbClr val="028090">
                <a:alpha val="20000"/>
              </a:srgbClr>
            </a:solidFill>
            <a:prstDash val="solid"/>
          </a:ln>
        </p:spPr>
      </p:sp>
      <p:sp>
        <p:nvSpPr>
          <p:cNvPr id="18" name="Text 16"/>
          <p:cNvSpPr/>
          <p:nvPr/>
        </p:nvSpPr>
        <p:spPr>
          <a:xfrm>
            <a:off x="4846320" y="2624328"/>
            <a:ext cx="4023360" cy="228600"/>
          </a:xfrm>
          <a:prstGeom prst="rect">
            <a:avLst/>
          </a:prstGeom>
          <a:noFill/>
          <a:ln/>
        </p:spPr>
        <p:txBody>
          <a:bodyPr wrap="square" lIns="0" tIns="0" rIns="0" bIns="0"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Best for: Caching, session data, shopping carts</a:t>
            </a:r>
            <a:endParaRPr lang="en-US" sz="950" dirty="0"/>
          </a:p>
        </p:txBody>
      </p:sp>
      <p:sp>
        <p:nvSpPr>
          <p:cNvPr id="19" name="Shape 17"/>
          <p:cNvSpPr/>
          <p:nvPr/>
        </p:nvSpPr>
        <p:spPr>
          <a:xfrm>
            <a:off x="320040" y="306324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0" name="Shape 18"/>
          <p:cNvSpPr/>
          <p:nvPr/>
        </p:nvSpPr>
        <p:spPr>
          <a:xfrm>
            <a:off x="320040" y="3063240"/>
            <a:ext cx="4206240" cy="475488"/>
          </a:xfrm>
          <a:prstGeom prst="rect">
            <a:avLst/>
          </a:prstGeom>
          <a:solidFill>
            <a:srgbClr val="00A896"/>
          </a:solidFill>
          <a:ln w="12700">
            <a:solidFill>
              <a:srgbClr val="00A896"/>
            </a:solidFill>
            <a:prstDash val="solid"/>
          </a:ln>
        </p:spPr>
      </p:sp>
      <p:sp>
        <p:nvSpPr>
          <p:cNvPr id="21" name="Text 19"/>
          <p:cNvSpPr/>
          <p:nvPr/>
        </p:nvSpPr>
        <p:spPr>
          <a:xfrm>
            <a:off x="411480" y="306324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Column-Family Store</a:t>
            </a:r>
            <a:endParaRPr lang="en-US" sz="1500" dirty="0"/>
          </a:p>
        </p:txBody>
      </p:sp>
      <p:sp>
        <p:nvSpPr>
          <p:cNvPr id="22" name="Text 20"/>
          <p:cNvSpPr/>
          <p:nvPr/>
        </p:nvSpPr>
        <p:spPr>
          <a:xfrm>
            <a:off x="411480" y="3584448"/>
            <a:ext cx="4023360" cy="320040"/>
          </a:xfrm>
          <a:prstGeom prst="rect">
            <a:avLst/>
          </a:prstGeom>
          <a:noFill/>
          <a:ln/>
        </p:spPr>
        <p:txBody>
          <a:bodyPr wrap="square" lIns="0" tIns="0" rIns="0" bIns="0" rtlCol="0" anchor="ctr"/>
          <a:lstStyle/>
          <a:p>
            <a:pPr marL="0" indent="0">
              <a:buNone/>
            </a:pPr>
            <a:r>
              <a:rPr lang="en-US" sz="1050" b="1" i="1" dirty="0">
                <a:solidFill>
                  <a:srgbClr val="00A896"/>
                </a:solidFill>
                <a:latin typeface="Calibri" pitchFamily="34" charset="0"/>
                <a:ea typeface="Calibri" pitchFamily="34" charset="-122"/>
                <a:cs typeface="Calibri" pitchFamily="34" charset="-120"/>
              </a:rPr>
              <a:t>e.g. Apache Cassandra, HBase</a:t>
            </a:r>
            <a:endParaRPr lang="en-US" sz="1050" dirty="0"/>
          </a:p>
        </p:txBody>
      </p:sp>
      <p:sp>
        <p:nvSpPr>
          <p:cNvPr id="23" name="Text 21"/>
          <p:cNvSpPr/>
          <p:nvPr/>
        </p:nvSpPr>
        <p:spPr>
          <a:xfrm>
            <a:off x="411480" y="393192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organized in rows and dynamic columns grouped into 'families'. Optimized for heavy writes and time-series data across distributed clusters.</a:t>
            </a:r>
            <a:endParaRPr lang="en-US" sz="1050" dirty="0"/>
          </a:p>
        </p:txBody>
      </p:sp>
      <p:sp>
        <p:nvSpPr>
          <p:cNvPr id="24" name="Shape 22"/>
          <p:cNvSpPr/>
          <p:nvPr/>
        </p:nvSpPr>
        <p:spPr>
          <a:xfrm>
            <a:off x="411480" y="4727448"/>
            <a:ext cx="3977640" cy="228600"/>
          </a:xfrm>
          <a:prstGeom prst="rect">
            <a:avLst/>
          </a:prstGeom>
          <a:solidFill>
            <a:srgbClr val="00A896">
              <a:alpha val="20000"/>
            </a:srgbClr>
          </a:solidFill>
          <a:ln w="12700">
            <a:solidFill>
              <a:srgbClr val="00A896">
                <a:alpha val="20000"/>
              </a:srgbClr>
            </a:solidFill>
            <a:prstDash val="solid"/>
          </a:ln>
        </p:spPr>
      </p:sp>
      <p:sp>
        <p:nvSpPr>
          <p:cNvPr id="25" name="Text 23"/>
          <p:cNvSpPr/>
          <p:nvPr/>
        </p:nvSpPr>
        <p:spPr>
          <a:xfrm>
            <a:off x="411480" y="4727448"/>
            <a:ext cx="4023360" cy="2286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Best for: IoT data, analytics, time-series</a:t>
            </a:r>
            <a:endParaRPr lang="en-US" sz="950" dirty="0"/>
          </a:p>
        </p:txBody>
      </p:sp>
      <p:sp>
        <p:nvSpPr>
          <p:cNvPr id="26" name="Shape 24"/>
          <p:cNvSpPr/>
          <p:nvPr/>
        </p:nvSpPr>
        <p:spPr>
          <a:xfrm>
            <a:off x="4754880" y="306324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7" name="Shape 25"/>
          <p:cNvSpPr/>
          <p:nvPr/>
        </p:nvSpPr>
        <p:spPr>
          <a:xfrm>
            <a:off x="4754880" y="3063240"/>
            <a:ext cx="4206240" cy="475488"/>
          </a:xfrm>
          <a:prstGeom prst="rect">
            <a:avLst/>
          </a:prstGeom>
          <a:solidFill>
            <a:srgbClr val="02C39A"/>
          </a:solidFill>
          <a:ln w="12700">
            <a:solidFill>
              <a:srgbClr val="02C39A"/>
            </a:solidFill>
            <a:prstDash val="solid"/>
          </a:ln>
        </p:spPr>
      </p:sp>
      <p:sp>
        <p:nvSpPr>
          <p:cNvPr id="28" name="Text 26"/>
          <p:cNvSpPr/>
          <p:nvPr/>
        </p:nvSpPr>
        <p:spPr>
          <a:xfrm>
            <a:off x="4846320" y="306324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Graph Database</a:t>
            </a:r>
            <a:endParaRPr lang="en-US" sz="1500" dirty="0"/>
          </a:p>
        </p:txBody>
      </p:sp>
      <p:sp>
        <p:nvSpPr>
          <p:cNvPr id="29" name="Text 27"/>
          <p:cNvSpPr/>
          <p:nvPr/>
        </p:nvSpPr>
        <p:spPr>
          <a:xfrm>
            <a:off x="4846320" y="3584448"/>
            <a:ext cx="4023360" cy="320040"/>
          </a:xfrm>
          <a:prstGeom prst="rect">
            <a:avLst/>
          </a:prstGeom>
          <a:noFill/>
          <a:ln/>
        </p:spPr>
        <p:txBody>
          <a:bodyPr wrap="square" lIns="0" tIns="0" rIns="0" bIns="0" rtlCol="0" anchor="ctr"/>
          <a:lstStyle/>
          <a:p>
            <a:pPr marL="0" indent="0">
              <a:buNone/>
            </a:pPr>
            <a:r>
              <a:rPr lang="en-US" sz="1050" b="1" i="1" dirty="0">
                <a:solidFill>
                  <a:srgbClr val="02C39A"/>
                </a:solidFill>
                <a:latin typeface="Calibri" pitchFamily="34" charset="0"/>
                <a:ea typeface="Calibri" pitchFamily="34" charset="-122"/>
                <a:cs typeface="Calibri" pitchFamily="34" charset="-120"/>
              </a:rPr>
              <a:t>e.g. Neo4j, Amazon Neptune</a:t>
            </a:r>
            <a:endParaRPr lang="en-US" sz="1050" dirty="0"/>
          </a:p>
        </p:txBody>
      </p:sp>
      <p:sp>
        <p:nvSpPr>
          <p:cNvPr id="30" name="Text 28"/>
          <p:cNvSpPr/>
          <p:nvPr/>
        </p:nvSpPr>
        <p:spPr>
          <a:xfrm>
            <a:off x="4846320" y="393192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Stores entities as nodes and relationships as edges. Highly efficient for traversing complex relationships that would require expensive JOINs in SQL.</a:t>
            </a:r>
            <a:endParaRPr lang="en-US" sz="1050" dirty="0"/>
          </a:p>
        </p:txBody>
      </p:sp>
      <p:sp>
        <p:nvSpPr>
          <p:cNvPr id="31" name="Shape 29"/>
          <p:cNvSpPr/>
          <p:nvPr/>
        </p:nvSpPr>
        <p:spPr>
          <a:xfrm>
            <a:off x="4846320" y="4727448"/>
            <a:ext cx="3977640" cy="228600"/>
          </a:xfrm>
          <a:prstGeom prst="rect">
            <a:avLst/>
          </a:prstGeom>
          <a:solidFill>
            <a:srgbClr val="02C39A">
              <a:alpha val="20000"/>
            </a:srgbClr>
          </a:solidFill>
          <a:ln w="12700">
            <a:solidFill>
              <a:srgbClr val="02C39A">
                <a:alpha val="20000"/>
              </a:srgbClr>
            </a:solidFill>
            <a:prstDash val="solid"/>
          </a:ln>
        </p:spPr>
      </p:sp>
      <p:sp>
        <p:nvSpPr>
          <p:cNvPr id="32" name="Text 30"/>
          <p:cNvSpPr/>
          <p:nvPr/>
        </p:nvSpPr>
        <p:spPr>
          <a:xfrm>
            <a:off x="4846320" y="4727448"/>
            <a:ext cx="4023360" cy="228600"/>
          </a:xfrm>
          <a:prstGeom prst="rect">
            <a:avLst/>
          </a:prstGeom>
          <a:noFill/>
          <a:ln/>
        </p:spPr>
        <p:txBody>
          <a:bodyPr wrap="square" lIns="0" tIns="0" rIns="0" bIns="0" rtlCol="0" anchor="ctr"/>
          <a:lstStyle/>
          <a:p>
            <a:pPr marL="0" indent="0">
              <a:buNone/>
            </a:pPr>
            <a:r>
              <a:rPr lang="en-US" sz="950" b="1" dirty="0">
                <a:solidFill>
                  <a:srgbClr val="02C39A"/>
                </a:solidFill>
                <a:latin typeface="Calibri" pitchFamily="34" charset="0"/>
                <a:ea typeface="Calibri" pitchFamily="34" charset="-122"/>
                <a:cs typeface="Calibri" pitchFamily="34" charset="-120"/>
              </a:rPr>
              <a:t>Best for: Social networks, fraud detection, recommendations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Choosing the Right Database Type</a:t>
            </a:r>
            <a:endParaRPr lang="en-US" sz="2400" dirty="0"/>
          </a:p>
        </p:txBody>
      </p:sp>
      <p:sp>
        <p:nvSpPr>
          <p:cNvPr id="5" name="Text 3"/>
          <p:cNvSpPr/>
          <p:nvPr/>
        </p:nvSpPr>
        <p:spPr>
          <a:xfrm>
            <a:off x="365760" y="960120"/>
            <a:ext cx="8412480" cy="32004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Match your workload characteristics to the right NoSQL model:</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325880"/>
          <a:ext cx="8503920" cy="3657600"/>
        </p:xfrm>
        <a:graphic>
          <a:graphicData uri="http://schemas.openxmlformats.org/drawingml/2006/table">
            <a:tbl>
              <a:tblPr/>
              <a:tblGrid>
                <a:gridCol w="29260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22514">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Scenario</a:t>
                      </a:r>
                      <a:endParaRPr lang="en-US" sz="1200" dirty="0">
                        <a:latin typeface="Georgia" charset="0"/>
                        <a:ea typeface="Georgia" charset="0"/>
                        <a:cs typeface="Georgia"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Recommended Type</a:t>
                      </a:r>
                      <a:endParaRPr lang="en-US" sz="1200" dirty="0">
                        <a:latin typeface="Georgia" charset="0"/>
                        <a:ea typeface="Georgia" charset="0"/>
                        <a:cs typeface="Georgia"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Why</a:t>
                      </a:r>
                      <a:endParaRPr lang="en-US" sz="1200" dirty="0">
                        <a:latin typeface="Georgia" charset="0"/>
                        <a:ea typeface="Georgia" charset="0"/>
                        <a:cs typeface="Georgia"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Store patient medical records with varying fields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Document Store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Flexible schema handles varying data per patient</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Cache API responses for fast retrieval</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Key-Value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Simple lookup by request key, millisecond response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2"/>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Track sensor readings every second from 10,000 devices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Column-Family</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Optimized for time-series, heavy write throughput</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Detect fraudulent transaction patterns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Graph DB</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Traversing relationships is native and efficient</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4"/>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User profiles with nested addresses &amp; preferences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Document Store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Nested JSON maps naturally to document model</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Real-time leaderboards / ranking</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Key-Value (Redis)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Sorted sets provide O(log N) ranking operations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E</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Introduction to Data Lakes: History &amp; Evolution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History &amp; Evolution of Data Lakes</a:t>
            </a:r>
            <a:endParaRPr lang="en-US" sz="2400" dirty="0"/>
          </a:p>
        </p:txBody>
      </p:sp>
      <p:sp>
        <p:nvSpPr>
          <p:cNvPr id="5" name="Shape 3"/>
          <p:cNvSpPr/>
          <p:nvPr/>
        </p:nvSpPr>
        <p:spPr>
          <a:xfrm>
            <a:off x="320040" y="96012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73152" cy="1188720"/>
          </a:xfrm>
          <a:prstGeom prst="rect">
            <a:avLst/>
          </a:prstGeom>
          <a:solidFill>
            <a:srgbClr val="F0C040"/>
          </a:solidFill>
          <a:ln w="12700">
            <a:solidFill>
              <a:srgbClr val="F0C040"/>
            </a:solidFill>
            <a:prstDash val="solid"/>
          </a:ln>
        </p:spPr>
      </p:sp>
      <p:sp>
        <p:nvSpPr>
          <p:cNvPr id="7" name="Text 5"/>
          <p:cNvSpPr/>
          <p:nvPr/>
        </p:nvSpPr>
        <p:spPr>
          <a:xfrm>
            <a:off x="502920" y="103327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2010 — Term Coined</a:t>
            </a:r>
            <a:endParaRPr lang="en-US" sz="1300" dirty="0"/>
          </a:p>
        </p:txBody>
      </p:sp>
      <p:sp>
        <p:nvSpPr>
          <p:cNvPr id="8" name="Text 6"/>
          <p:cNvSpPr/>
          <p:nvPr/>
        </p:nvSpPr>
        <p:spPr>
          <a:xfrm>
            <a:off x="502920" y="141732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James Dixon (Pentaho CTO) introduces 'Data Lake' to contrast with data marts — a full reservoir vs. bottled water.</a:t>
            </a:r>
            <a:endParaRPr lang="en-US" sz="1050" dirty="0"/>
          </a:p>
        </p:txBody>
      </p:sp>
      <p:sp>
        <p:nvSpPr>
          <p:cNvPr id="9" name="Shape 7"/>
          <p:cNvSpPr/>
          <p:nvPr/>
        </p:nvSpPr>
        <p:spPr>
          <a:xfrm>
            <a:off x="4663440" y="96012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0" name="Shape 8"/>
          <p:cNvSpPr/>
          <p:nvPr/>
        </p:nvSpPr>
        <p:spPr>
          <a:xfrm>
            <a:off x="4663440" y="960120"/>
            <a:ext cx="73152" cy="1188720"/>
          </a:xfrm>
          <a:prstGeom prst="rect">
            <a:avLst/>
          </a:prstGeom>
          <a:solidFill>
            <a:srgbClr val="F0C040"/>
          </a:solidFill>
          <a:ln w="12700">
            <a:solidFill>
              <a:srgbClr val="F0C040"/>
            </a:solidFill>
            <a:prstDash val="solid"/>
          </a:ln>
        </p:spPr>
      </p:sp>
      <p:sp>
        <p:nvSpPr>
          <p:cNvPr id="11" name="Text 9"/>
          <p:cNvSpPr/>
          <p:nvPr/>
        </p:nvSpPr>
        <p:spPr>
          <a:xfrm>
            <a:off x="4846320" y="103327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2011 — Hadoop Era</a:t>
            </a:r>
            <a:endParaRPr lang="en-US" sz="1300" dirty="0"/>
          </a:p>
        </p:txBody>
      </p:sp>
      <p:sp>
        <p:nvSpPr>
          <p:cNvPr id="12" name="Text 10"/>
          <p:cNvSpPr/>
          <p:nvPr/>
        </p:nvSpPr>
        <p:spPr>
          <a:xfrm>
            <a:off x="4846320" y="141732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Apache Hadoop HDFS becomes the foundation for early data lakes — cheap, distributed, petabyte-scale storage.</a:t>
            </a:r>
            <a:endParaRPr lang="en-US" sz="1050" dirty="0"/>
          </a:p>
        </p:txBody>
      </p:sp>
      <p:sp>
        <p:nvSpPr>
          <p:cNvPr id="13" name="Shape 11"/>
          <p:cNvSpPr/>
          <p:nvPr/>
        </p:nvSpPr>
        <p:spPr>
          <a:xfrm>
            <a:off x="320040" y="96012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4" name="Shape 12"/>
          <p:cNvSpPr/>
          <p:nvPr/>
        </p:nvSpPr>
        <p:spPr>
          <a:xfrm>
            <a:off x="320040" y="960120"/>
            <a:ext cx="73152" cy="1188720"/>
          </a:xfrm>
          <a:prstGeom prst="rect">
            <a:avLst/>
          </a:prstGeom>
          <a:solidFill>
            <a:srgbClr val="00A896"/>
          </a:solidFill>
          <a:ln w="12700">
            <a:solidFill>
              <a:srgbClr val="00A896"/>
            </a:solidFill>
            <a:prstDash val="solid"/>
          </a:ln>
        </p:spPr>
      </p:sp>
      <p:sp>
        <p:nvSpPr>
          <p:cNvPr id="15" name="Text 13"/>
          <p:cNvSpPr/>
          <p:nvPr/>
        </p:nvSpPr>
        <p:spPr>
          <a:xfrm>
            <a:off x="502920" y="103327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2012 — Schema-on-Read</a:t>
            </a:r>
            <a:endParaRPr lang="en-US" sz="1300" dirty="0"/>
          </a:p>
        </p:txBody>
      </p:sp>
      <p:sp>
        <p:nvSpPr>
          <p:cNvPr id="16" name="Text 14"/>
          <p:cNvSpPr/>
          <p:nvPr/>
        </p:nvSpPr>
        <p:spPr>
          <a:xfrm>
            <a:off x="502920" y="141732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The concept of storing raw data and applying schema only when reading gains traction over traditional ETL.</a:t>
            </a:r>
            <a:endParaRPr lang="en-US" sz="1050" dirty="0"/>
          </a:p>
        </p:txBody>
      </p:sp>
      <p:sp>
        <p:nvSpPr>
          <p:cNvPr id="17" name="Shape 15"/>
          <p:cNvSpPr/>
          <p:nvPr/>
        </p:nvSpPr>
        <p:spPr>
          <a:xfrm>
            <a:off x="4663440" y="228600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8" name="Shape 16"/>
          <p:cNvSpPr/>
          <p:nvPr/>
        </p:nvSpPr>
        <p:spPr>
          <a:xfrm>
            <a:off x="4663440" y="2286000"/>
            <a:ext cx="73152" cy="1188720"/>
          </a:xfrm>
          <a:prstGeom prst="rect">
            <a:avLst/>
          </a:prstGeom>
          <a:solidFill>
            <a:srgbClr val="00A896"/>
          </a:solidFill>
          <a:ln w="12700">
            <a:solidFill>
              <a:srgbClr val="00A896"/>
            </a:solidFill>
            <a:prstDash val="solid"/>
          </a:ln>
        </p:spPr>
      </p:sp>
      <p:sp>
        <p:nvSpPr>
          <p:cNvPr id="19" name="Text 17"/>
          <p:cNvSpPr/>
          <p:nvPr/>
        </p:nvSpPr>
        <p:spPr>
          <a:xfrm>
            <a:off x="4846320" y="235915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2014 — Cloud Lakes Born</a:t>
            </a:r>
            <a:endParaRPr lang="en-US" sz="1300" dirty="0"/>
          </a:p>
        </p:txBody>
      </p:sp>
      <p:sp>
        <p:nvSpPr>
          <p:cNvPr id="20" name="Text 18"/>
          <p:cNvSpPr/>
          <p:nvPr/>
        </p:nvSpPr>
        <p:spPr>
          <a:xfrm>
            <a:off x="4846320" y="274320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AWS S3 + EMR, Azure Data Lake Storage emerge as cloud-native data lake solutions.</a:t>
            </a:r>
            <a:endParaRPr lang="en-US" sz="1050" dirty="0"/>
          </a:p>
        </p:txBody>
      </p:sp>
      <p:sp>
        <p:nvSpPr>
          <p:cNvPr id="21" name="Shape 19"/>
          <p:cNvSpPr/>
          <p:nvPr/>
        </p:nvSpPr>
        <p:spPr>
          <a:xfrm>
            <a:off x="320040" y="228600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2" name="Shape 20"/>
          <p:cNvSpPr/>
          <p:nvPr/>
        </p:nvSpPr>
        <p:spPr>
          <a:xfrm>
            <a:off x="320040" y="2286000"/>
            <a:ext cx="73152" cy="1188720"/>
          </a:xfrm>
          <a:prstGeom prst="rect">
            <a:avLst/>
          </a:prstGeom>
          <a:solidFill>
            <a:srgbClr val="02C39A"/>
          </a:solidFill>
          <a:ln w="12700">
            <a:solidFill>
              <a:srgbClr val="02C39A"/>
            </a:solidFill>
            <a:prstDash val="solid"/>
          </a:ln>
        </p:spPr>
      </p:sp>
      <p:sp>
        <p:nvSpPr>
          <p:cNvPr id="23" name="Text 21"/>
          <p:cNvSpPr/>
          <p:nvPr/>
        </p:nvSpPr>
        <p:spPr>
          <a:xfrm>
            <a:off x="502920" y="235915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2017 — Delta Lake / Lakehouse</a:t>
            </a:r>
            <a:endParaRPr lang="en-US" sz="1300" dirty="0"/>
          </a:p>
        </p:txBody>
      </p:sp>
      <p:sp>
        <p:nvSpPr>
          <p:cNvPr id="24" name="Text 22"/>
          <p:cNvSpPr/>
          <p:nvPr/>
        </p:nvSpPr>
        <p:spPr>
          <a:xfrm>
            <a:off x="502920" y="274320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Databricks introduces Delta Lake — adding ACID transactions and schema enforcement to raw lakes.</a:t>
            </a:r>
            <a:endParaRPr lang="en-US" sz="1050" dirty="0"/>
          </a:p>
        </p:txBody>
      </p:sp>
      <p:sp>
        <p:nvSpPr>
          <p:cNvPr id="25" name="Shape 23"/>
          <p:cNvSpPr/>
          <p:nvPr/>
        </p:nvSpPr>
        <p:spPr>
          <a:xfrm>
            <a:off x="4663440" y="228600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6" name="Shape 24"/>
          <p:cNvSpPr/>
          <p:nvPr/>
        </p:nvSpPr>
        <p:spPr>
          <a:xfrm>
            <a:off x="4663440" y="2286000"/>
            <a:ext cx="73152" cy="1188720"/>
          </a:xfrm>
          <a:prstGeom prst="rect">
            <a:avLst/>
          </a:prstGeom>
          <a:solidFill>
            <a:srgbClr val="02C39A"/>
          </a:solidFill>
          <a:ln w="12700">
            <a:solidFill>
              <a:srgbClr val="02C39A"/>
            </a:solidFill>
            <a:prstDash val="solid"/>
          </a:ln>
        </p:spPr>
      </p:sp>
      <p:sp>
        <p:nvSpPr>
          <p:cNvPr id="27" name="Text 25"/>
          <p:cNvSpPr/>
          <p:nvPr/>
        </p:nvSpPr>
        <p:spPr>
          <a:xfrm>
            <a:off x="4846320" y="235915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2020+ — Modern Lakehouse</a:t>
            </a:r>
            <a:endParaRPr lang="en-US" sz="1300" dirty="0"/>
          </a:p>
        </p:txBody>
      </p:sp>
      <p:sp>
        <p:nvSpPr>
          <p:cNvPr id="28" name="Text 26"/>
          <p:cNvSpPr/>
          <p:nvPr/>
        </p:nvSpPr>
        <p:spPr>
          <a:xfrm>
            <a:off x="4846320" y="274320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Lakehouse architecture merges data lake flexibility with data warehouse performance. Apache Iceberg, Hudi.</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Why Data Lakes? The Business Case</a:t>
            </a:r>
            <a:endParaRPr lang="en-US" sz="2400" dirty="0"/>
          </a:p>
        </p:txBody>
      </p:sp>
      <p:sp>
        <p:nvSpPr>
          <p:cNvPr id="5" name="Shape 3"/>
          <p:cNvSpPr/>
          <p:nvPr/>
        </p:nvSpPr>
        <p:spPr>
          <a:xfrm>
            <a:off x="457200" y="960120"/>
            <a:ext cx="2606040" cy="1188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sp>
      <p:sp>
        <p:nvSpPr>
          <p:cNvPr id="6" name="Text 4"/>
          <p:cNvSpPr/>
          <p:nvPr/>
        </p:nvSpPr>
        <p:spPr>
          <a:xfrm>
            <a:off x="457200" y="960120"/>
            <a:ext cx="2606040" cy="777240"/>
          </a:xfrm>
          <a:prstGeom prst="rect">
            <a:avLst/>
          </a:prstGeom>
          <a:noFill/>
          <a:ln/>
        </p:spPr>
        <p:txBody>
          <a:bodyPr wrap="square" rtlCol="0" anchor="ctr"/>
          <a:lstStyle/>
          <a:p>
            <a:pPr marL="0" indent="0" algn="ctr">
              <a:buNone/>
            </a:pPr>
            <a:r>
              <a:rPr lang="en-US" sz="4400" b="1" dirty="0">
                <a:solidFill>
                  <a:srgbClr val="F0C040"/>
                </a:solidFill>
                <a:latin typeface="Georgia" pitchFamily="34" charset="0"/>
                <a:ea typeface="Georgia" pitchFamily="34" charset="-122"/>
                <a:cs typeface="Georgia" pitchFamily="34" charset="-120"/>
              </a:rPr>
              <a:t>80%</a:t>
            </a:r>
            <a:endParaRPr lang="en-US" sz="4400" dirty="0"/>
          </a:p>
        </p:txBody>
      </p:sp>
      <p:sp>
        <p:nvSpPr>
          <p:cNvPr id="7" name="Text 5"/>
          <p:cNvSpPr/>
          <p:nvPr/>
        </p:nvSpPr>
        <p:spPr>
          <a:xfrm>
            <a:off x="457200" y="1691640"/>
            <a:ext cx="2606040" cy="411480"/>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of enterprise data is unstructured</a:t>
            </a:r>
            <a:endParaRPr lang="en-US" sz="1100" dirty="0"/>
          </a:p>
        </p:txBody>
      </p:sp>
      <p:sp>
        <p:nvSpPr>
          <p:cNvPr id="8" name="Shape 6"/>
          <p:cNvSpPr/>
          <p:nvPr/>
        </p:nvSpPr>
        <p:spPr>
          <a:xfrm>
            <a:off x="3291840" y="960120"/>
            <a:ext cx="2606040" cy="1188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sp>
      <p:sp>
        <p:nvSpPr>
          <p:cNvPr id="9" name="Text 7"/>
          <p:cNvSpPr/>
          <p:nvPr/>
        </p:nvSpPr>
        <p:spPr>
          <a:xfrm>
            <a:off x="3291840" y="960120"/>
            <a:ext cx="2606040" cy="777240"/>
          </a:xfrm>
          <a:prstGeom prst="rect">
            <a:avLst/>
          </a:prstGeom>
          <a:noFill/>
          <a:ln/>
        </p:spPr>
        <p:txBody>
          <a:bodyPr wrap="square" rtlCol="0" anchor="ctr"/>
          <a:lstStyle/>
          <a:p>
            <a:pPr marL="0" indent="0" algn="ctr">
              <a:buNone/>
            </a:pPr>
            <a:r>
              <a:rPr lang="en-US" sz="4400" b="1" dirty="0">
                <a:solidFill>
                  <a:srgbClr val="F0C040"/>
                </a:solidFill>
                <a:latin typeface="Georgia" pitchFamily="34" charset="0"/>
                <a:ea typeface="Georgia" pitchFamily="34" charset="-122"/>
                <a:cs typeface="Georgia" pitchFamily="34" charset="-120"/>
              </a:rPr>
              <a:t>3×</a:t>
            </a:r>
            <a:endParaRPr lang="en-US" sz="4400" dirty="0"/>
          </a:p>
        </p:txBody>
      </p:sp>
      <p:sp>
        <p:nvSpPr>
          <p:cNvPr id="10" name="Text 8"/>
          <p:cNvSpPr/>
          <p:nvPr/>
        </p:nvSpPr>
        <p:spPr>
          <a:xfrm>
            <a:off x="3291840" y="1691640"/>
            <a:ext cx="2606040" cy="411480"/>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faster insight than traditional warehouses</a:t>
            </a:r>
            <a:endParaRPr lang="en-US" sz="1100" dirty="0"/>
          </a:p>
        </p:txBody>
      </p:sp>
      <p:sp>
        <p:nvSpPr>
          <p:cNvPr id="11" name="Shape 9"/>
          <p:cNvSpPr/>
          <p:nvPr/>
        </p:nvSpPr>
        <p:spPr>
          <a:xfrm>
            <a:off x="6126480" y="960120"/>
            <a:ext cx="2606040" cy="1188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sp>
      <p:sp>
        <p:nvSpPr>
          <p:cNvPr id="12" name="Text 10"/>
          <p:cNvSpPr/>
          <p:nvPr/>
        </p:nvSpPr>
        <p:spPr>
          <a:xfrm>
            <a:off x="6126480" y="960120"/>
            <a:ext cx="2606040" cy="777240"/>
          </a:xfrm>
          <a:prstGeom prst="rect">
            <a:avLst/>
          </a:prstGeom>
          <a:noFill/>
          <a:ln/>
        </p:spPr>
        <p:txBody>
          <a:bodyPr wrap="square" rtlCol="0" anchor="ctr"/>
          <a:lstStyle/>
          <a:p>
            <a:pPr marL="0" indent="0" algn="ctr">
              <a:buNone/>
            </a:pPr>
            <a:r>
              <a:rPr lang="en-US" sz="4400" b="1" dirty="0">
                <a:solidFill>
                  <a:srgbClr val="F0C040"/>
                </a:solidFill>
                <a:latin typeface="Georgia" pitchFamily="34" charset="0"/>
                <a:ea typeface="Georgia" pitchFamily="34" charset="-122"/>
                <a:cs typeface="Georgia" pitchFamily="34" charset="-120"/>
              </a:rPr>
              <a:t>50%</a:t>
            </a:r>
            <a:endParaRPr lang="en-US" sz="4400" dirty="0"/>
          </a:p>
        </p:txBody>
      </p:sp>
      <p:sp>
        <p:nvSpPr>
          <p:cNvPr id="13" name="Text 11"/>
          <p:cNvSpPr/>
          <p:nvPr/>
        </p:nvSpPr>
        <p:spPr>
          <a:xfrm>
            <a:off x="6126480" y="1691640"/>
            <a:ext cx="2606040" cy="411480"/>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lower storage cost vs. data warehouses</a:t>
            </a:r>
            <a:endParaRPr lang="en-US" sz="1100" dirty="0"/>
          </a:p>
        </p:txBody>
      </p:sp>
      <p:sp>
        <p:nvSpPr>
          <p:cNvPr id="14" name="Shape 12"/>
          <p:cNvSpPr/>
          <p:nvPr/>
        </p:nvSpPr>
        <p:spPr>
          <a:xfrm>
            <a:off x="320040" y="22860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15" name="Shape 13"/>
          <p:cNvSpPr/>
          <p:nvPr/>
        </p:nvSpPr>
        <p:spPr>
          <a:xfrm>
            <a:off x="429768" y="2606040"/>
            <a:ext cx="457200" cy="457200"/>
          </a:xfrm>
          <a:prstGeom prst="ellipse">
            <a:avLst/>
          </a:prstGeom>
          <a:solidFill>
            <a:srgbClr val="028090"/>
          </a:solidFill>
          <a:ln w="12700">
            <a:solidFill>
              <a:srgbClr val="028090"/>
            </a:solidFill>
            <a:prstDash val="solid"/>
          </a:ln>
        </p:spPr>
      </p:sp>
      <p:sp>
        <p:nvSpPr>
          <p:cNvPr id="16" name="Text 14"/>
          <p:cNvSpPr/>
          <p:nvPr/>
        </p:nvSpPr>
        <p:spPr>
          <a:xfrm>
            <a:off x="429768" y="2606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17" name="Text 15"/>
          <p:cNvSpPr/>
          <p:nvPr/>
        </p:nvSpPr>
        <p:spPr>
          <a:xfrm>
            <a:off x="1005840" y="23591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Store Everything</a:t>
            </a:r>
            <a:endParaRPr lang="en-US" sz="1300" dirty="0"/>
          </a:p>
        </p:txBody>
      </p:sp>
      <p:sp>
        <p:nvSpPr>
          <p:cNvPr id="18" name="Text 16"/>
          <p:cNvSpPr/>
          <p:nvPr/>
        </p:nvSpPr>
        <p:spPr>
          <a:xfrm>
            <a:off x="1005840" y="27614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Ingest raw data immediately — structured, semi-structured, unstructured — without costly transformations.</a:t>
            </a:r>
            <a:endParaRPr lang="en-US" sz="1050" dirty="0"/>
          </a:p>
        </p:txBody>
      </p:sp>
      <p:sp>
        <p:nvSpPr>
          <p:cNvPr id="19" name="Shape 17"/>
          <p:cNvSpPr/>
          <p:nvPr/>
        </p:nvSpPr>
        <p:spPr>
          <a:xfrm>
            <a:off x="4754880" y="22860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20" name="Shape 18"/>
          <p:cNvSpPr/>
          <p:nvPr/>
        </p:nvSpPr>
        <p:spPr>
          <a:xfrm>
            <a:off x="4864608" y="2606040"/>
            <a:ext cx="457200" cy="457200"/>
          </a:xfrm>
          <a:prstGeom prst="ellipse">
            <a:avLst/>
          </a:prstGeom>
          <a:solidFill>
            <a:srgbClr val="028090"/>
          </a:solidFill>
          <a:ln w="12700">
            <a:solidFill>
              <a:srgbClr val="028090"/>
            </a:solidFill>
            <a:prstDash val="solid"/>
          </a:ln>
        </p:spPr>
      </p:sp>
      <p:sp>
        <p:nvSpPr>
          <p:cNvPr id="21" name="Text 19"/>
          <p:cNvSpPr/>
          <p:nvPr/>
        </p:nvSpPr>
        <p:spPr>
          <a:xfrm>
            <a:off x="4864608" y="2606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22" name="Text 20"/>
          <p:cNvSpPr/>
          <p:nvPr/>
        </p:nvSpPr>
        <p:spPr>
          <a:xfrm>
            <a:off x="5440680" y="23591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Serve Multiple Users</a:t>
            </a:r>
            <a:endParaRPr lang="en-US" sz="1300" dirty="0"/>
          </a:p>
        </p:txBody>
      </p:sp>
      <p:sp>
        <p:nvSpPr>
          <p:cNvPr id="23" name="Text 21"/>
          <p:cNvSpPr/>
          <p:nvPr/>
        </p:nvSpPr>
        <p:spPr>
          <a:xfrm>
            <a:off x="5440680" y="27614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scientists (Python/R), analysts (SQL), ML engineers — all query the same lake with different tools.</a:t>
            </a:r>
            <a:endParaRPr lang="en-US" sz="1050" dirty="0"/>
          </a:p>
        </p:txBody>
      </p:sp>
      <p:sp>
        <p:nvSpPr>
          <p:cNvPr id="24" name="Shape 22"/>
          <p:cNvSpPr/>
          <p:nvPr/>
        </p:nvSpPr>
        <p:spPr>
          <a:xfrm>
            <a:off x="320040" y="36576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25" name="Shape 23"/>
          <p:cNvSpPr/>
          <p:nvPr/>
        </p:nvSpPr>
        <p:spPr>
          <a:xfrm>
            <a:off x="429768" y="3977640"/>
            <a:ext cx="457200" cy="457200"/>
          </a:xfrm>
          <a:prstGeom prst="ellipse">
            <a:avLst/>
          </a:prstGeom>
          <a:solidFill>
            <a:srgbClr val="028090"/>
          </a:solidFill>
          <a:ln w="12700">
            <a:solidFill>
              <a:srgbClr val="028090"/>
            </a:solidFill>
            <a:prstDash val="solid"/>
          </a:ln>
        </p:spPr>
      </p:sp>
      <p:sp>
        <p:nvSpPr>
          <p:cNvPr id="26" name="Text 24"/>
          <p:cNvSpPr/>
          <p:nvPr/>
        </p:nvSpPr>
        <p:spPr>
          <a:xfrm>
            <a:off x="429768" y="3977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27" name="Text 25"/>
          <p:cNvSpPr/>
          <p:nvPr/>
        </p:nvSpPr>
        <p:spPr>
          <a:xfrm>
            <a:off x="1005840" y="37307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Future-Proof Analytics</a:t>
            </a:r>
            <a:endParaRPr lang="en-US" sz="1300" dirty="0"/>
          </a:p>
        </p:txBody>
      </p:sp>
      <p:sp>
        <p:nvSpPr>
          <p:cNvPr id="28" name="Text 26"/>
          <p:cNvSpPr/>
          <p:nvPr/>
        </p:nvSpPr>
        <p:spPr>
          <a:xfrm>
            <a:off x="1005840" y="41330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stored today can be analysed in ways not yet conceived. Raw data enables re-analysis anytime.</a:t>
            </a:r>
            <a:endParaRPr lang="en-US" sz="1050" dirty="0"/>
          </a:p>
        </p:txBody>
      </p:sp>
      <p:sp>
        <p:nvSpPr>
          <p:cNvPr id="29" name="Shape 27"/>
          <p:cNvSpPr/>
          <p:nvPr/>
        </p:nvSpPr>
        <p:spPr>
          <a:xfrm>
            <a:off x="4754880" y="36576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30" name="Shape 28"/>
          <p:cNvSpPr/>
          <p:nvPr/>
        </p:nvSpPr>
        <p:spPr>
          <a:xfrm>
            <a:off x="4864608" y="3977640"/>
            <a:ext cx="457200" cy="457200"/>
          </a:xfrm>
          <a:prstGeom prst="ellipse">
            <a:avLst/>
          </a:prstGeom>
          <a:solidFill>
            <a:srgbClr val="028090"/>
          </a:solidFill>
          <a:ln w="12700">
            <a:solidFill>
              <a:srgbClr val="028090"/>
            </a:solidFill>
            <a:prstDash val="solid"/>
          </a:ln>
        </p:spPr>
      </p:sp>
      <p:sp>
        <p:nvSpPr>
          <p:cNvPr id="31" name="Text 29"/>
          <p:cNvSpPr/>
          <p:nvPr/>
        </p:nvSpPr>
        <p:spPr>
          <a:xfrm>
            <a:off x="4864608" y="3977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32" name="Text 30"/>
          <p:cNvSpPr/>
          <p:nvPr/>
        </p:nvSpPr>
        <p:spPr>
          <a:xfrm>
            <a:off x="5440680" y="37307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AI &amp; ML Ready</a:t>
            </a:r>
            <a:endParaRPr lang="en-US" sz="1300" dirty="0"/>
          </a:p>
        </p:txBody>
      </p:sp>
      <p:sp>
        <p:nvSpPr>
          <p:cNvPr id="33" name="Text 31"/>
          <p:cNvSpPr/>
          <p:nvPr/>
        </p:nvSpPr>
        <p:spPr>
          <a:xfrm>
            <a:off x="5440680" y="41330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Train machine learning models directly on raw data at scale without moving or pre-aggregating datasets.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F</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Data Lake Architectures &amp; Data Lake vs Data Warehouse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Lake Architecture: The Layered Model</a:t>
            </a:r>
            <a:endParaRPr lang="en-US" sz="2400" dirty="0"/>
          </a:p>
        </p:txBody>
      </p:sp>
      <p:sp>
        <p:nvSpPr>
          <p:cNvPr id="5" name="Text 3"/>
          <p:cNvSpPr/>
          <p:nvPr/>
        </p:nvSpPr>
        <p:spPr>
          <a:xfrm>
            <a:off x="365760" y="960120"/>
            <a:ext cx="8412480" cy="347472"/>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A well-designed data lake is organized in distinct zones, not a single dumping ground:</a:t>
            </a:r>
            <a:endParaRPr lang="en-US" sz="1200" dirty="0"/>
          </a:p>
        </p:txBody>
      </p:sp>
      <p:sp>
        <p:nvSpPr>
          <p:cNvPr id="6" name="Shape 4"/>
          <p:cNvSpPr/>
          <p:nvPr/>
        </p:nvSpPr>
        <p:spPr>
          <a:xfrm>
            <a:off x="320040" y="1389888"/>
            <a:ext cx="8503920" cy="658368"/>
          </a:xfrm>
          <a:prstGeom prst="rect">
            <a:avLst/>
          </a:prstGeom>
          <a:solidFill>
            <a:srgbClr val="F0C040"/>
          </a:solidFill>
          <a:ln w="12700">
            <a:solidFill>
              <a:srgbClr val="F0C040"/>
            </a:solidFill>
            <a:prstDash val="solid"/>
          </a:ln>
        </p:spPr>
      </p:sp>
      <p:sp>
        <p:nvSpPr>
          <p:cNvPr id="7" name="Text 5"/>
          <p:cNvSpPr/>
          <p:nvPr/>
        </p:nvSpPr>
        <p:spPr>
          <a:xfrm>
            <a:off x="457200" y="1389888"/>
            <a:ext cx="2926080" cy="658368"/>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Ingestion / Landing Zone</a:t>
            </a:r>
            <a:endParaRPr lang="en-US" sz="1300" dirty="0"/>
          </a:p>
        </p:txBody>
      </p:sp>
      <p:sp>
        <p:nvSpPr>
          <p:cNvPr id="8" name="Text 6"/>
          <p:cNvSpPr/>
          <p:nvPr/>
        </p:nvSpPr>
        <p:spPr>
          <a:xfrm>
            <a:off x="3474720" y="1389888"/>
            <a:ext cx="525780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Raw data arrives here. No transformation. Files in original format (CSV, JSON, images, logs). Short retention.</a:t>
            </a:r>
            <a:endParaRPr lang="en-US" sz="1100" dirty="0"/>
          </a:p>
        </p:txBody>
      </p:sp>
      <p:sp>
        <p:nvSpPr>
          <p:cNvPr id="9" name="Shape 7"/>
          <p:cNvSpPr/>
          <p:nvPr/>
        </p:nvSpPr>
        <p:spPr>
          <a:xfrm>
            <a:off x="320040" y="2121408"/>
            <a:ext cx="8503920" cy="658368"/>
          </a:xfrm>
          <a:prstGeom prst="rect">
            <a:avLst/>
          </a:prstGeom>
          <a:solidFill>
            <a:srgbClr val="0A2342"/>
          </a:solidFill>
          <a:ln w="12700">
            <a:solidFill>
              <a:srgbClr val="0A2342"/>
            </a:solidFill>
            <a:prstDash val="solid"/>
          </a:ln>
        </p:spPr>
      </p:sp>
      <p:sp>
        <p:nvSpPr>
          <p:cNvPr id="10" name="Text 8"/>
          <p:cNvSpPr/>
          <p:nvPr/>
        </p:nvSpPr>
        <p:spPr>
          <a:xfrm>
            <a:off x="457200" y="2121408"/>
            <a:ext cx="2926080" cy="658368"/>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Raw / Bronze Layer</a:t>
            </a:r>
            <a:endParaRPr lang="en-US" sz="1300" dirty="0"/>
          </a:p>
        </p:txBody>
      </p:sp>
      <p:sp>
        <p:nvSpPr>
          <p:cNvPr id="11" name="Text 9"/>
          <p:cNvSpPr/>
          <p:nvPr/>
        </p:nvSpPr>
        <p:spPr>
          <a:xfrm>
            <a:off x="3474720" y="2121408"/>
            <a:ext cx="5257800" cy="65836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Persisted raw data. Schema-on-read. Data catalogued and tagged. Full historical retention.</a:t>
            </a:r>
            <a:endParaRPr lang="en-US" sz="1100" dirty="0"/>
          </a:p>
        </p:txBody>
      </p:sp>
      <p:sp>
        <p:nvSpPr>
          <p:cNvPr id="12" name="Shape 10"/>
          <p:cNvSpPr/>
          <p:nvPr/>
        </p:nvSpPr>
        <p:spPr>
          <a:xfrm>
            <a:off x="320040" y="2852928"/>
            <a:ext cx="8503920" cy="658368"/>
          </a:xfrm>
          <a:prstGeom prst="rect">
            <a:avLst/>
          </a:prstGeom>
          <a:solidFill>
            <a:srgbClr val="028090"/>
          </a:solidFill>
          <a:ln w="12700">
            <a:solidFill>
              <a:srgbClr val="028090"/>
            </a:solidFill>
            <a:prstDash val="solid"/>
          </a:ln>
        </p:spPr>
      </p:sp>
      <p:sp>
        <p:nvSpPr>
          <p:cNvPr id="13" name="Text 11"/>
          <p:cNvSpPr/>
          <p:nvPr/>
        </p:nvSpPr>
        <p:spPr>
          <a:xfrm>
            <a:off x="457200" y="2852928"/>
            <a:ext cx="2926080" cy="658368"/>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Cleansed / Silver Layer</a:t>
            </a:r>
            <a:endParaRPr lang="en-US" sz="1300" dirty="0"/>
          </a:p>
        </p:txBody>
      </p:sp>
      <p:sp>
        <p:nvSpPr>
          <p:cNvPr id="14" name="Text 12"/>
          <p:cNvSpPr/>
          <p:nvPr/>
        </p:nvSpPr>
        <p:spPr>
          <a:xfrm>
            <a:off x="3474720" y="2852928"/>
            <a:ext cx="5257800" cy="65836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Validated, deduplicated, standardized data. Business rules applied. Ready for exploration.</a:t>
            </a:r>
            <a:endParaRPr lang="en-US" sz="1100" dirty="0"/>
          </a:p>
        </p:txBody>
      </p:sp>
      <p:sp>
        <p:nvSpPr>
          <p:cNvPr id="15" name="Shape 13"/>
          <p:cNvSpPr/>
          <p:nvPr/>
        </p:nvSpPr>
        <p:spPr>
          <a:xfrm>
            <a:off x="320040" y="3584448"/>
            <a:ext cx="8503920" cy="658368"/>
          </a:xfrm>
          <a:prstGeom prst="rect">
            <a:avLst/>
          </a:prstGeom>
          <a:solidFill>
            <a:srgbClr val="02C39A"/>
          </a:solidFill>
          <a:ln w="12700">
            <a:solidFill>
              <a:srgbClr val="02C39A"/>
            </a:solidFill>
            <a:prstDash val="solid"/>
          </a:ln>
        </p:spPr>
      </p:sp>
      <p:sp>
        <p:nvSpPr>
          <p:cNvPr id="16" name="Text 14"/>
          <p:cNvSpPr/>
          <p:nvPr/>
        </p:nvSpPr>
        <p:spPr>
          <a:xfrm>
            <a:off x="457200" y="3584448"/>
            <a:ext cx="2926080" cy="658368"/>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Curated / Gold Layer</a:t>
            </a:r>
            <a:endParaRPr lang="en-US" sz="1300" dirty="0"/>
          </a:p>
        </p:txBody>
      </p:sp>
      <p:sp>
        <p:nvSpPr>
          <p:cNvPr id="17" name="Text 15"/>
          <p:cNvSpPr/>
          <p:nvPr/>
        </p:nvSpPr>
        <p:spPr>
          <a:xfrm>
            <a:off x="3474720" y="3584448"/>
            <a:ext cx="525780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Aggregated, business-ready datasets. Optimized for specific analytics use cases and reporting.</a:t>
            </a:r>
            <a:endParaRPr lang="en-US" sz="1100" dirty="0"/>
          </a:p>
        </p:txBody>
      </p:sp>
      <p:sp>
        <p:nvSpPr>
          <p:cNvPr id="18" name="Shape 16"/>
          <p:cNvSpPr/>
          <p:nvPr/>
        </p:nvSpPr>
        <p:spPr>
          <a:xfrm>
            <a:off x="320040" y="4315968"/>
            <a:ext cx="8503920" cy="658368"/>
          </a:xfrm>
          <a:prstGeom prst="rect">
            <a:avLst/>
          </a:prstGeom>
          <a:solidFill>
            <a:srgbClr val="00A896"/>
          </a:solidFill>
          <a:ln w="12700">
            <a:solidFill>
              <a:srgbClr val="00A896"/>
            </a:solidFill>
            <a:prstDash val="solid"/>
          </a:ln>
        </p:spPr>
      </p:sp>
      <p:sp>
        <p:nvSpPr>
          <p:cNvPr id="19" name="Text 17"/>
          <p:cNvSpPr/>
          <p:nvPr/>
        </p:nvSpPr>
        <p:spPr>
          <a:xfrm>
            <a:off x="457200" y="4315968"/>
            <a:ext cx="2926080" cy="658368"/>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Consumption Layer</a:t>
            </a:r>
            <a:endParaRPr lang="en-US" sz="1300" dirty="0"/>
          </a:p>
        </p:txBody>
      </p:sp>
      <p:sp>
        <p:nvSpPr>
          <p:cNvPr id="20" name="Text 18"/>
          <p:cNvSpPr/>
          <p:nvPr/>
        </p:nvSpPr>
        <p:spPr>
          <a:xfrm>
            <a:off x="3474720" y="4315968"/>
            <a:ext cx="525780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BI dashboards, ML models, APIs, data science notebooks consume gold layer data.</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Lake vs Data Warehouse vs Lakehouse</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4069080"/>
        </p:xfrm>
        <a:graphic>
          <a:graphicData uri="http://schemas.openxmlformats.org/drawingml/2006/table">
            <a:tbl>
              <a:tblPr/>
              <a:tblGrid>
                <a:gridCol w="17373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52120">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Dimension</a:t>
                      </a:r>
                      <a:endParaRPr lang="en-US" sz="12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Data Warehouse</a:t>
                      </a:r>
                      <a:endParaRPr lang="en-US" sz="12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Data Lake</a:t>
                      </a:r>
                      <a:endParaRPr lang="en-US" sz="12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Lakehouse</a:t>
                      </a:r>
                      <a:endParaRPr lang="en-US" sz="12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Data Type</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Structured only</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All types (raw)</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All types</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1"/>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Schema</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Schema-on-write</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Schema-on-read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Both (flexible)</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2"/>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Storage Cost</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Low-Medium</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3"/>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Processing</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ETL (transform first)</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ELT (load first)</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ELT + ACID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4"/>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Primary Users</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Business analysts</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Data scientists</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Both</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5"/>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Query Perf.</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Very high (optimized)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6"/>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Data Quality</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High (curated)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Variable (raw)</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High (enforced)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7"/>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Examples</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Snowflake, Redshift</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S3, ADLS, GCS</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Delta Lake, Iceberg</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The Modern Lakehouse Architecture</a:t>
            </a:r>
            <a:endParaRPr lang="en-US" sz="2400" dirty="0"/>
          </a:p>
        </p:txBody>
      </p:sp>
      <p:sp>
        <p:nvSpPr>
          <p:cNvPr id="5" name="Text 3"/>
          <p:cNvSpPr/>
          <p:nvPr/>
        </p:nvSpPr>
        <p:spPr>
          <a:xfrm>
            <a:off x="365760" y="960120"/>
            <a:ext cx="8412480" cy="36576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The Lakehouse bridges the gap — combining the flexibility of Data Lakes with the reliability of Data Warehouses.</a:t>
            </a:r>
            <a:endParaRPr lang="en-US" sz="1200" dirty="0"/>
          </a:p>
        </p:txBody>
      </p:sp>
      <p:sp>
        <p:nvSpPr>
          <p:cNvPr id="6" name="Shape 4"/>
          <p:cNvSpPr/>
          <p:nvPr/>
        </p:nvSpPr>
        <p:spPr>
          <a:xfrm>
            <a:off x="320040" y="1463040"/>
            <a:ext cx="1280160" cy="3474720"/>
          </a:xfrm>
          <a:prstGeom prst="rect">
            <a:avLst/>
          </a:prstGeom>
          <a:solidFill>
            <a:srgbClr val="F0C040"/>
          </a:solidFill>
          <a:ln w="12700">
            <a:solidFill>
              <a:srgbClr val="F0C040"/>
            </a:solidFill>
            <a:prstDash val="solid"/>
          </a:ln>
          <a:effectLst>
            <a:outerShdw blurRad="76200" dist="25400" dir="8100000" algn="bl" rotWithShape="0">
              <a:srgbClr val="000000">
                <a:alpha val="10000"/>
              </a:srgbClr>
            </a:outerShdw>
          </a:effectLst>
        </p:spPr>
      </p:sp>
      <p:sp>
        <p:nvSpPr>
          <p:cNvPr id="7" name="Text 5"/>
          <p:cNvSpPr/>
          <p:nvPr/>
        </p:nvSpPr>
        <p:spPr>
          <a:xfrm>
            <a:off x="320040" y="1536192"/>
            <a:ext cx="1280160" cy="1097280"/>
          </a:xfrm>
          <a:prstGeom prst="rect">
            <a:avLst/>
          </a:prstGeom>
          <a:noFill/>
          <a:ln/>
        </p:spPr>
        <p:txBody>
          <a:bodyPr wrap="square"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Data Sources</a:t>
            </a:r>
            <a:endParaRPr lang="en-US" sz="1100" dirty="0"/>
          </a:p>
        </p:txBody>
      </p:sp>
      <p:sp>
        <p:nvSpPr>
          <p:cNvPr id="8" name="Text 6"/>
          <p:cNvSpPr/>
          <p:nvPr/>
        </p:nvSpPr>
        <p:spPr>
          <a:xfrm>
            <a:off x="365760" y="2697480"/>
            <a:ext cx="1188720" cy="2103120"/>
          </a:xfrm>
          <a:prstGeom prst="rect">
            <a:avLst/>
          </a:prstGeom>
          <a:noFill/>
          <a:ln/>
        </p:spPr>
        <p:txBody>
          <a:bodyPr wrap="square" rtlCol="0" anchor="ctr"/>
          <a:lstStyle/>
          <a:p>
            <a:pPr marL="0" indent="0" algn="ctr">
              <a:buNone/>
            </a:pPr>
            <a:r>
              <a:rPr lang="en-US" sz="900" dirty="0">
                <a:solidFill>
                  <a:srgbClr val="1A3A2A"/>
                </a:solidFill>
                <a:latin typeface="Calibri" pitchFamily="34" charset="0"/>
                <a:ea typeface="Calibri" pitchFamily="34" charset="-122"/>
                <a:cs typeface="Calibri" pitchFamily="34" charset="-120"/>
              </a:rPr>
              <a:t>Databases · APIs · Streams · Files · IoT</a:t>
            </a:r>
            <a:endParaRPr lang="en-US" sz="900" dirty="0"/>
          </a:p>
        </p:txBody>
      </p:sp>
      <p:sp>
        <p:nvSpPr>
          <p:cNvPr id="9" name="Text 7"/>
          <p:cNvSpPr/>
          <p:nvPr/>
        </p:nvSpPr>
        <p:spPr>
          <a:xfrm>
            <a:off x="158191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10" name="Shape 8"/>
          <p:cNvSpPr/>
          <p:nvPr/>
        </p:nvSpPr>
        <p:spPr>
          <a:xfrm>
            <a:off x="1737360" y="1463040"/>
            <a:ext cx="1280160" cy="3474720"/>
          </a:xfrm>
          <a:prstGeom prst="rect">
            <a:avLst/>
          </a:prstGeom>
          <a:solidFill>
            <a:srgbClr val="028090"/>
          </a:solidFill>
          <a:ln w="12700">
            <a:solidFill>
              <a:srgbClr val="028090"/>
            </a:solidFill>
            <a:prstDash val="solid"/>
          </a:ln>
          <a:effectLst>
            <a:outerShdw blurRad="76200" dist="25400" dir="8100000" algn="bl" rotWithShape="0">
              <a:srgbClr val="000000">
                <a:alpha val="10000"/>
              </a:srgbClr>
            </a:outerShdw>
          </a:effectLst>
        </p:spPr>
      </p:sp>
      <p:sp>
        <p:nvSpPr>
          <p:cNvPr id="11" name="Text 9"/>
          <p:cNvSpPr/>
          <p:nvPr/>
        </p:nvSpPr>
        <p:spPr>
          <a:xfrm>
            <a:off x="1737360" y="1536192"/>
            <a:ext cx="1280160"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Ingestion</a:t>
            </a:r>
            <a:endParaRPr lang="en-US" sz="1100" dirty="0"/>
          </a:p>
        </p:txBody>
      </p:sp>
      <p:sp>
        <p:nvSpPr>
          <p:cNvPr id="12" name="Text 10"/>
          <p:cNvSpPr/>
          <p:nvPr/>
        </p:nvSpPr>
        <p:spPr>
          <a:xfrm>
            <a:off x="1783080" y="2697480"/>
            <a:ext cx="1188720" cy="2103120"/>
          </a:xfrm>
          <a:prstGeom prst="rect">
            <a:avLst/>
          </a:prstGeom>
          <a:noFill/>
          <a:ln/>
        </p:spPr>
        <p:txBody>
          <a:bodyPr wrap="square" rtlCol="0" anchor="ctr"/>
          <a:lstStyle/>
          <a:p>
            <a:pPr marL="0" indent="0" algn="ctr">
              <a:buNone/>
            </a:pPr>
            <a:r>
              <a:rPr lang="en-US" sz="900" dirty="0">
                <a:solidFill>
                  <a:srgbClr val="CCFFEE"/>
                </a:solidFill>
                <a:latin typeface="Calibri" pitchFamily="34" charset="0"/>
                <a:ea typeface="Calibri" pitchFamily="34" charset="-122"/>
                <a:cs typeface="Calibri" pitchFamily="34" charset="-120"/>
              </a:rPr>
              <a:t>Kafka · Spark Streaming · ADF · Glue</a:t>
            </a:r>
            <a:endParaRPr lang="en-US" sz="900" dirty="0"/>
          </a:p>
        </p:txBody>
      </p:sp>
      <p:sp>
        <p:nvSpPr>
          <p:cNvPr id="13" name="Text 11"/>
          <p:cNvSpPr/>
          <p:nvPr/>
        </p:nvSpPr>
        <p:spPr>
          <a:xfrm>
            <a:off x="299923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14" name="Shape 12"/>
          <p:cNvSpPr/>
          <p:nvPr/>
        </p:nvSpPr>
        <p:spPr>
          <a:xfrm>
            <a:off x="3154680" y="1463040"/>
            <a:ext cx="1280160" cy="3474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sp>
      <p:sp>
        <p:nvSpPr>
          <p:cNvPr id="15" name="Text 13"/>
          <p:cNvSpPr/>
          <p:nvPr/>
        </p:nvSpPr>
        <p:spPr>
          <a:xfrm>
            <a:off x="3154680" y="1536192"/>
            <a:ext cx="1280160"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Storage (Lake)</a:t>
            </a:r>
            <a:endParaRPr lang="en-US" sz="1100" dirty="0"/>
          </a:p>
        </p:txBody>
      </p:sp>
      <p:sp>
        <p:nvSpPr>
          <p:cNvPr id="16" name="Text 14"/>
          <p:cNvSpPr/>
          <p:nvPr/>
        </p:nvSpPr>
        <p:spPr>
          <a:xfrm>
            <a:off x="3200400" y="2697480"/>
            <a:ext cx="1188720" cy="2103120"/>
          </a:xfrm>
          <a:prstGeom prst="rect">
            <a:avLst/>
          </a:prstGeom>
          <a:noFill/>
          <a:ln/>
        </p:spPr>
        <p:txBody>
          <a:bodyPr wrap="square" rtlCol="0" anchor="ctr"/>
          <a:lstStyle/>
          <a:p>
            <a:pPr marL="0" indent="0" algn="ctr">
              <a:buNone/>
            </a:pPr>
            <a:r>
              <a:rPr lang="en-US" sz="900" dirty="0">
                <a:solidFill>
                  <a:srgbClr val="CCFFEE"/>
                </a:solidFill>
                <a:latin typeface="Calibri" pitchFamily="34" charset="0"/>
                <a:ea typeface="Calibri" pitchFamily="34" charset="-122"/>
                <a:cs typeface="Calibri" pitchFamily="34" charset="-120"/>
              </a:rPr>
              <a:t>S3 / ADLS / GCS  +  Delta / Iceberg / Hudi</a:t>
            </a:r>
            <a:endParaRPr lang="en-US" sz="900" dirty="0"/>
          </a:p>
        </p:txBody>
      </p:sp>
      <p:sp>
        <p:nvSpPr>
          <p:cNvPr id="17" name="Text 15"/>
          <p:cNvSpPr/>
          <p:nvPr/>
        </p:nvSpPr>
        <p:spPr>
          <a:xfrm>
            <a:off x="441655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18" name="Shape 16"/>
          <p:cNvSpPr/>
          <p:nvPr/>
        </p:nvSpPr>
        <p:spPr>
          <a:xfrm>
            <a:off x="4572000" y="1463040"/>
            <a:ext cx="1280160" cy="3474720"/>
          </a:xfrm>
          <a:prstGeom prst="rect">
            <a:avLst/>
          </a:prstGeom>
          <a:solidFill>
            <a:srgbClr val="00A896"/>
          </a:solidFill>
          <a:ln w="12700">
            <a:solidFill>
              <a:srgbClr val="00A896"/>
            </a:solidFill>
            <a:prstDash val="solid"/>
          </a:ln>
          <a:effectLst>
            <a:outerShdw blurRad="76200" dist="25400" dir="8100000" algn="bl" rotWithShape="0">
              <a:srgbClr val="000000">
                <a:alpha val="10000"/>
              </a:srgbClr>
            </a:outerShdw>
          </a:effectLst>
        </p:spPr>
      </p:sp>
      <p:sp>
        <p:nvSpPr>
          <p:cNvPr id="19" name="Text 17"/>
          <p:cNvSpPr/>
          <p:nvPr/>
        </p:nvSpPr>
        <p:spPr>
          <a:xfrm>
            <a:off x="4572000" y="1536192"/>
            <a:ext cx="1280160" cy="1097280"/>
          </a:xfrm>
          <a:prstGeom prst="rect">
            <a:avLst/>
          </a:prstGeom>
          <a:noFill/>
          <a:ln/>
        </p:spPr>
        <p:txBody>
          <a:bodyPr wrap="square"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Processing</a:t>
            </a:r>
            <a:endParaRPr lang="en-US" sz="1100" dirty="0"/>
          </a:p>
        </p:txBody>
      </p:sp>
      <p:sp>
        <p:nvSpPr>
          <p:cNvPr id="20" name="Text 18"/>
          <p:cNvSpPr/>
          <p:nvPr/>
        </p:nvSpPr>
        <p:spPr>
          <a:xfrm>
            <a:off x="4617720" y="2697480"/>
            <a:ext cx="1188720" cy="2103120"/>
          </a:xfrm>
          <a:prstGeom prst="rect">
            <a:avLst/>
          </a:prstGeom>
          <a:noFill/>
          <a:ln/>
        </p:spPr>
        <p:txBody>
          <a:bodyPr wrap="square" rtlCol="0" anchor="ctr"/>
          <a:lstStyle/>
          <a:p>
            <a:pPr marL="0" indent="0" algn="ctr">
              <a:buNone/>
            </a:pPr>
            <a:r>
              <a:rPr lang="en-US" sz="900" dirty="0">
                <a:solidFill>
                  <a:srgbClr val="1A3A2A"/>
                </a:solidFill>
                <a:latin typeface="Calibri" pitchFamily="34" charset="0"/>
                <a:ea typeface="Calibri" pitchFamily="34" charset="-122"/>
                <a:cs typeface="Calibri" pitchFamily="34" charset="-120"/>
              </a:rPr>
              <a:t>Apache Spark · Databricks · Flink</a:t>
            </a:r>
            <a:endParaRPr lang="en-US" sz="900" dirty="0"/>
          </a:p>
        </p:txBody>
      </p:sp>
      <p:sp>
        <p:nvSpPr>
          <p:cNvPr id="21" name="Text 19"/>
          <p:cNvSpPr/>
          <p:nvPr/>
        </p:nvSpPr>
        <p:spPr>
          <a:xfrm>
            <a:off x="583387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22" name="Shape 20"/>
          <p:cNvSpPr/>
          <p:nvPr/>
        </p:nvSpPr>
        <p:spPr>
          <a:xfrm>
            <a:off x="5989320" y="1463040"/>
            <a:ext cx="1280160" cy="3474720"/>
          </a:xfrm>
          <a:prstGeom prst="rect">
            <a:avLst/>
          </a:prstGeom>
          <a:solidFill>
            <a:srgbClr val="02C39A"/>
          </a:solidFill>
          <a:ln w="12700">
            <a:solidFill>
              <a:srgbClr val="02C39A"/>
            </a:solidFill>
            <a:prstDash val="solid"/>
          </a:ln>
          <a:effectLst>
            <a:outerShdw blurRad="76200" dist="25400" dir="8100000" algn="bl" rotWithShape="0">
              <a:srgbClr val="000000">
                <a:alpha val="10000"/>
              </a:srgbClr>
            </a:outerShdw>
          </a:effectLst>
        </p:spPr>
      </p:sp>
      <p:sp>
        <p:nvSpPr>
          <p:cNvPr id="23" name="Text 21"/>
          <p:cNvSpPr/>
          <p:nvPr/>
        </p:nvSpPr>
        <p:spPr>
          <a:xfrm>
            <a:off x="5989320" y="1536192"/>
            <a:ext cx="1280160" cy="1097280"/>
          </a:xfrm>
          <a:prstGeom prst="rect">
            <a:avLst/>
          </a:prstGeom>
          <a:noFill/>
          <a:ln/>
        </p:spPr>
        <p:txBody>
          <a:bodyPr wrap="square"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Governance</a:t>
            </a:r>
            <a:endParaRPr lang="en-US" sz="1100" dirty="0"/>
          </a:p>
        </p:txBody>
      </p:sp>
      <p:sp>
        <p:nvSpPr>
          <p:cNvPr id="24" name="Text 22"/>
          <p:cNvSpPr/>
          <p:nvPr/>
        </p:nvSpPr>
        <p:spPr>
          <a:xfrm>
            <a:off x="6035040" y="2697480"/>
            <a:ext cx="1188720" cy="2103120"/>
          </a:xfrm>
          <a:prstGeom prst="rect">
            <a:avLst/>
          </a:prstGeom>
          <a:noFill/>
          <a:ln/>
        </p:spPr>
        <p:txBody>
          <a:bodyPr wrap="square" rtlCol="0" anchor="ctr"/>
          <a:lstStyle/>
          <a:p>
            <a:pPr marL="0" indent="0" algn="ctr">
              <a:buNone/>
            </a:pPr>
            <a:r>
              <a:rPr lang="en-US" sz="900" dirty="0">
                <a:solidFill>
                  <a:srgbClr val="1A3A2A"/>
                </a:solidFill>
                <a:latin typeface="Calibri" pitchFamily="34" charset="0"/>
                <a:ea typeface="Calibri" pitchFamily="34" charset="-122"/>
                <a:cs typeface="Calibri" pitchFamily="34" charset="-120"/>
              </a:rPr>
              <a:t>Unity Catalog · Purview · Glue Data Catalog</a:t>
            </a:r>
            <a:endParaRPr lang="en-US" sz="900" dirty="0"/>
          </a:p>
        </p:txBody>
      </p:sp>
      <p:sp>
        <p:nvSpPr>
          <p:cNvPr id="25" name="Text 23"/>
          <p:cNvSpPr/>
          <p:nvPr/>
        </p:nvSpPr>
        <p:spPr>
          <a:xfrm>
            <a:off x="725119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26" name="Shape 24"/>
          <p:cNvSpPr/>
          <p:nvPr/>
        </p:nvSpPr>
        <p:spPr>
          <a:xfrm>
            <a:off x="7406640" y="1463040"/>
            <a:ext cx="1280160" cy="3474720"/>
          </a:xfrm>
          <a:prstGeom prst="rect">
            <a:avLst/>
          </a:prstGeom>
          <a:solidFill>
            <a:srgbClr val="40916C"/>
          </a:solidFill>
          <a:ln w="12700">
            <a:solidFill>
              <a:srgbClr val="40916C"/>
            </a:solidFill>
            <a:prstDash val="solid"/>
          </a:ln>
          <a:effectLst>
            <a:outerShdw blurRad="76200" dist="25400" dir="8100000" algn="bl" rotWithShape="0">
              <a:srgbClr val="000000">
                <a:alpha val="10000"/>
              </a:srgbClr>
            </a:outerShdw>
          </a:effectLst>
        </p:spPr>
      </p:sp>
      <p:sp>
        <p:nvSpPr>
          <p:cNvPr id="27" name="Text 25"/>
          <p:cNvSpPr/>
          <p:nvPr/>
        </p:nvSpPr>
        <p:spPr>
          <a:xfrm>
            <a:off x="7406640" y="1536192"/>
            <a:ext cx="1280160"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Consumption</a:t>
            </a:r>
            <a:endParaRPr lang="en-US" sz="1100" dirty="0"/>
          </a:p>
        </p:txBody>
      </p:sp>
      <p:sp>
        <p:nvSpPr>
          <p:cNvPr id="28" name="Text 26"/>
          <p:cNvSpPr/>
          <p:nvPr/>
        </p:nvSpPr>
        <p:spPr>
          <a:xfrm>
            <a:off x="7452360" y="2697480"/>
            <a:ext cx="1188720" cy="2103120"/>
          </a:xfrm>
          <a:prstGeom prst="rect">
            <a:avLst/>
          </a:prstGeom>
          <a:noFill/>
          <a:ln/>
        </p:spPr>
        <p:txBody>
          <a:bodyPr wrap="square" rtlCol="0" anchor="ctr"/>
          <a:lstStyle/>
          <a:p>
            <a:pPr marL="0" indent="0" algn="ctr">
              <a:buNone/>
            </a:pPr>
            <a:r>
              <a:rPr lang="en-US" sz="900" dirty="0">
                <a:solidFill>
                  <a:srgbClr val="CCFFEE"/>
                </a:solidFill>
                <a:latin typeface="Calibri" pitchFamily="34" charset="0"/>
                <a:ea typeface="Calibri" pitchFamily="34" charset="-122"/>
                <a:cs typeface="Calibri" pitchFamily="34" charset="-120"/>
              </a:rPr>
              <a:t>Power BI · Tableau · ML Models · SQL Queries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G</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Example Use Cases for Data Lakes</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Lake Use Cases Across Industries</a:t>
            </a:r>
            <a:endParaRPr lang="en-US" sz="2400" dirty="0"/>
          </a:p>
        </p:txBody>
      </p:sp>
      <p:sp>
        <p:nvSpPr>
          <p:cNvPr id="5" name="Shape 3"/>
          <p:cNvSpPr/>
          <p:nvPr/>
        </p:nvSpPr>
        <p:spPr>
          <a:xfrm>
            <a:off x="320040" y="96012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2743200" cy="502920"/>
          </a:xfrm>
          <a:prstGeom prst="rect">
            <a:avLst/>
          </a:prstGeom>
          <a:solidFill>
            <a:srgbClr val="0A2342"/>
          </a:solidFill>
          <a:ln w="12700">
            <a:solidFill>
              <a:srgbClr val="0A2342"/>
            </a:solidFill>
            <a:prstDash val="solid"/>
          </a:ln>
        </p:spPr>
      </p:sp>
      <p:sp>
        <p:nvSpPr>
          <p:cNvPr id="7" name="Text 5"/>
          <p:cNvSpPr/>
          <p:nvPr/>
        </p:nvSpPr>
        <p:spPr>
          <a:xfrm>
            <a:off x="411480" y="96012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Healthcare</a:t>
            </a:r>
            <a:endParaRPr lang="en-US" sz="1400" dirty="0"/>
          </a:p>
        </p:txBody>
      </p:sp>
      <p:sp>
        <p:nvSpPr>
          <p:cNvPr id="8" name="Text 6"/>
          <p:cNvSpPr/>
          <p:nvPr/>
        </p:nvSpPr>
        <p:spPr>
          <a:xfrm>
            <a:off x="411480" y="150876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Centralizing EHR, lab results, imaging data, and wearable device streams for population health analytics and clinical AI.</a:t>
            </a:r>
            <a:endParaRPr lang="en-US" sz="1050" dirty="0"/>
          </a:p>
        </p:txBody>
      </p:sp>
      <p:sp>
        <p:nvSpPr>
          <p:cNvPr id="9" name="Shape 7"/>
          <p:cNvSpPr/>
          <p:nvPr/>
        </p:nvSpPr>
        <p:spPr>
          <a:xfrm>
            <a:off x="3200400" y="96012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0" name="Shape 8"/>
          <p:cNvSpPr/>
          <p:nvPr/>
        </p:nvSpPr>
        <p:spPr>
          <a:xfrm>
            <a:off x="3200400" y="960120"/>
            <a:ext cx="2743200" cy="502920"/>
          </a:xfrm>
          <a:prstGeom prst="rect">
            <a:avLst/>
          </a:prstGeom>
          <a:solidFill>
            <a:srgbClr val="0A2342"/>
          </a:solidFill>
          <a:ln w="12700">
            <a:solidFill>
              <a:srgbClr val="0A2342"/>
            </a:solidFill>
            <a:prstDash val="solid"/>
          </a:ln>
        </p:spPr>
      </p:sp>
      <p:sp>
        <p:nvSpPr>
          <p:cNvPr id="11" name="Text 9"/>
          <p:cNvSpPr/>
          <p:nvPr/>
        </p:nvSpPr>
        <p:spPr>
          <a:xfrm>
            <a:off x="3291840" y="96012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Financial Services</a:t>
            </a:r>
            <a:endParaRPr lang="en-US" sz="1400" dirty="0"/>
          </a:p>
        </p:txBody>
      </p:sp>
      <p:sp>
        <p:nvSpPr>
          <p:cNvPr id="12" name="Text 10"/>
          <p:cNvSpPr/>
          <p:nvPr/>
        </p:nvSpPr>
        <p:spPr>
          <a:xfrm>
            <a:off x="3291840" y="150876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Ingesting transaction logs, market feeds, and customer behaviour to detect fraud, price risk, and personalise offers.</a:t>
            </a:r>
            <a:endParaRPr lang="en-US" sz="1050" dirty="0"/>
          </a:p>
        </p:txBody>
      </p:sp>
      <p:sp>
        <p:nvSpPr>
          <p:cNvPr id="13" name="Shape 11"/>
          <p:cNvSpPr/>
          <p:nvPr/>
        </p:nvSpPr>
        <p:spPr>
          <a:xfrm>
            <a:off x="6080760" y="96012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4" name="Shape 12"/>
          <p:cNvSpPr/>
          <p:nvPr/>
        </p:nvSpPr>
        <p:spPr>
          <a:xfrm>
            <a:off x="6080760" y="960120"/>
            <a:ext cx="2743200" cy="502920"/>
          </a:xfrm>
          <a:prstGeom prst="rect">
            <a:avLst/>
          </a:prstGeom>
          <a:solidFill>
            <a:srgbClr val="0A2342"/>
          </a:solidFill>
          <a:ln w="12700">
            <a:solidFill>
              <a:srgbClr val="0A2342"/>
            </a:solidFill>
            <a:prstDash val="solid"/>
          </a:ln>
        </p:spPr>
      </p:sp>
      <p:sp>
        <p:nvSpPr>
          <p:cNvPr id="15" name="Text 13"/>
          <p:cNvSpPr/>
          <p:nvPr/>
        </p:nvSpPr>
        <p:spPr>
          <a:xfrm>
            <a:off x="6172200" y="96012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Retail &amp; E-commerce</a:t>
            </a:r>
            <a:endParaRPr lang="en-US" sz="1400" dirty="0"/>
          </a:p>
        </p:txBody>
      </p:sp>
      <p:sp>
        <p:nvSpPr>
          <p:cNvPr id="16" name="Text 14"/>
          <p:cNvSpPr/>
          <p:nvPr/>
        </p:nvSpPr>
        <p:spPr>
          <a:xfrm>
            <a:off x="6172200" y="150876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Storing clickstreams, inventory, reviews, and supply chain data to optimize recommendations and demand forecasting.</a:t>
            </a:r>
            <a:endParaRPr lang="en-US" sz="1050" dirty="0"/>
          </a:p>
        </p:txBody>
      </p:sp>
      <p:sp>
        <p:nvSpPr>
          <p:cNvPr id="17" name="Shape 15"/>
          <p:cNvSpPr/>
          <p:nvPr/>
        </p:nvSpPr>
        <p:spPr>
          <a:xfrm>
            <a:off x="320040" y="306324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8" name="Shape 16"/>
          <p:cNvSpPr/>
          <p:nvPr/>
        </p:nvSpPr>
        <p:spPr>
          <a:xfrm>
            <a:off x="320040" y="3063240"/>
            <a:ext cx="2743200" cy="502920"/>
          </a:xfrm>
          <a:prstGeom prst="rect">
            <a:avLst/>
          </a:prstGeom>
          <a:solidFill>
            <a:srgbClr val="028090"/>
          </a:solidFill>
          <a:ln w="12700">
            <a:solidFill>
              <a:srgbClr val="028090"/>
            </a:solidFill>
            <a:prstDash val="solid"/>
          </a:ln>
        </p:spPr>
      </p:sp>
      <p:sp>
        <p:nvSpPr>
          <p:cNvPr id="19" name="Text 17"/>
          <p:cNvSpPr/>
          <p:nvPr/>
        </p:nvSpPr>
        <p:spPr>
          <a:xfrm>
            <a:off x="411480" y="306324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Telecommunications</a:t>
            </a:r>
            <a:endParaRPr lang="en-US" sz="1400" dirty="0"/>
          </a:p>
        </p:txBody>
      </p:sp>
      <p:sp>
        <p:nvSpPr>
          <p:cNvPr id="20" name="Text 18"/>
          <p:cNvSpPr/>
          <p:nvPr/>
        </p:nvSpPr>
        <p:spPr>
          <a:xfrm>
            <a:off x="411480" y="361188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Analysing call records, network logs, and device data to predict churn, optimise networks, and detect anomalies.</a:t>
            </a:r>
            <a:endParaRPr lang="en-US" sz="1050" dirty="0"/>
          </a:p>
        </p:txBody>
      </p:sp>
      <p:sp>
        <p:nvSpPr>
          <p:cNvPr id="21" name="Shape 19"/>
          <p:cNvSpPr/>
          <p:nvPr/>
        </p:nvSpPr>
        <p:spPr>
          <a:xfrm>
            <a:off x="3200400" y="306324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2" name="Shape 20"/>
          <p:cNvSpPr/>
          <p:nvPr/>
        </p:nvSpPr>
        <p:spPr>
          <a:xfrm>
            <a:off x="3200400" y="3063240"/>
            <a:ext cx="2743200" cy="502920"/>
          </a:xfrm>
          <a:prstGeom prst="rect">
            <a:avLst/>
          </a:prstGeom>
          <a:solidFill>
            <a:srgbClr val="028090"/>
          </a:solidFill>
          <a:ln w="12700">
            <a:solidFill>
              <a:srgbClr val="028090"/>
            </a:solidFill>
            <a:prstDash val="solid"/>
          </a:ln>
        </p:spPr>
      </p:sp>
      <p:sp>
        <p:nvSpPr>
          <p:cNvPr id="23" name="Text 21"/>
          <p:cNvSpPr/>
          <p:nvPr/>
        </p:nvSpPr>
        <p:spPr>
          <a:xfrm>
            <a:off x="3291840" y="306324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Agriculture</a:t>
            </a:r>
            <a:endParaRPr lang="en-US" sz="1400" dirty="0"/>
          </a:p>
        </p:txBody>
      </p:sp>
      <p:sp>
        <p:nvSpPr>
          <p:cNvPr id="24" name="Text 22"/>
          <p:cNvSpPr/>
          <p:nvPr/>
        </p:nvSpPr>
        <p:spPr>
          <a:xfrm>
            <a:off x="3291840" y="361188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Satellite imagery, sensor readings, weather data, and market prices to enable precision farming and yield prediction.</a:t>
            </a:r>
            <a:endParaRPr lang="en-US" sz="1050" dirty="0"/>
          </a:p>
        </p:txBody>
      </p:sp>
      <p:sp>
        <p:nvSpPr>
          <p:cNvPr id="25" name="Shape 23"/>
          <p:cNvSpPr/>
          <p:nvPr/>
        </p:nvSpPr>
        <p:spPr>
          <a:xfrm>
            <a:off x="6080760" y="306324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6" name="Shape 24"/>
          <p:cNvSpPr/>
          <p:nvPr/>
        </p:nvSpPr>
        <p:spPr>
          <a:xfrm>
            <a:off x="6080760" y="3063240"/>
            <a:ext cx="2743200" cy="502920"/>
          </a:xfrm>
          <a:prstGeom prst="rect">
            <a:avLst/>
          </a:prstGeom>
          <a:solidFill>
            <a:srgbClr val="028090"/>
          </a:solidFill>
          <a:ln w="12700">
            <a:solidFill>
              <a:srgbClr val="028090"/>
            </a:solidFill>
            <a:prstDash val="solid"/>
          </a:ln>
        </p:spPr>
      </p:sp>
      <p:sp>
        <p:nvSpPr>
          <p:cNvPr id="27" name="Text 25"/>
          <p:cNvSpPr/>
          <p:nvPr/>
        </p:nvSpPr>
        <p:spPr>
          <a:xfrm>
            <a:off x="6172200" y="306324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Government</a:t>
            </a:r>
            <a:endParaRPr lang="en-US" sz="1400" dirty="0"/>
          </a:p>
        </p:txBody>
      </p:sp>
      <p:sp>
        <p:nvSpPr>
          <p:cNvPr id="28" name="Text 26"/>
          <p:cNvSpPr/>
          <p:nvPr/>
        </p:nvSpPr>
        <p:spPr>
          <a:xfrm>
            <a:off x="6172200" y="361188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Consolidating citizen service records, tax data, and infrastructure data for policy analytics and fraud prevention.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Real-World Case Studies: Data Lakes in Action</a:t>
            </a:r>
            <a:endParaRPr lang="en-US" sz="2400" dirty="0"/>
          </a:p>
        </p:txBody>
      </p:sp>
      <p:sp>
        <p:nvSpPr>
          <p:cNvPr id="5" name="Shape 3"/>
          <p:cNvSpPr/>
          <p:nvPr/>
        </p:nvSpPr>
        <p:spPr>
          <a:xfrm>
            <a:off x="32004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2743200" cy="530352"/>
          </a:xfrm>
          <a:prstGeom prst="rect">
            <a:avLst/>
          </a:prstGeom>
          <a:solidFill>
            <a:srgbClr val="0A2342"/>
          </a:solidFill>
          <a:ln w="12700">
            <a:solidFill>
              <a:srgbClr val="0A2342"/>
            </a:solidFill>
            <a:prstDash val="solid"/>
          </a:ln>
        </p:spPr>
      </p:sp>
      <p:sp>
        <p:nvSpPr>
          <p:cNvPr id="7" name="Text 5"/>
          <p:cNvSpPr/>
          <p:nvPr/>
        </p:nvSpPr>
        <p:spPr>
          <a:xfrm>
            <a:off x="411480" y="960120"/>
            <a:ext cx="2578608" cy="530352"/>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Netflix</a:t>
            </a:r>
            <a:endParaRPr lang="en-US" sz="1800" dirty="0"/>
          </a:p>
        </p:txBody>
      </p:sp>
      <p:sp>
        <p:nvSpPr>
          <p:cNvPr id="8" name="Text 6"/>
          <p:cNvSpPr/>
          <p:nvPr/>
        </p:nvSpPr>
        <p:spPr>
          <a:xfrm>
            <a:off x="429768" y="1572768"/>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200+ PB data lake on AWS S3</a:t>
            </a:r>
            <a:endParaRPr lang="en-US" sz="1100" dirty="0"/>
          </a:p>
        </p:txBody>
      </p:sp>
      <p:sp>
        <p:nvSpPr>
          <p:cNvPr id="9" name="Text 7"/>
          <p:cNvSpPr/>
          <p:nvPr/>
        </p:nvSpPr>
        <p:spPr>
          <a:xfrm>
            <a:off x="429768" y="2350008"/>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Supports 8,000+ Spark jobs per day</a:t>
            </a:r>
            <a:endParaRPr lang="en-US" sz="1100" dirty="0"/>
          </a:p>
        </p:txBody>
      </p:sp>
      <p:sp>
        <p:nvSpPr>
          <p:cNvPr id="10" name="Text 8"/>
          <p:cNvSpPr/>
          <p:nvPr/>
        </p:nvSpPr>
        <p:spPr>
          <a:xfrm>
            <a:off x="429768" y="3127248"/>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Personalization, content performance, quality monitoring</a:t>
            </a:r>
            <a:endParaRPr lang="en-US" sz="1100" dirty="0"/>
          </a:p>
        </p:txBody>
      </p:sp>
      <p:sp>
        <p:nvSpPr>
          <p:cNvPr id="11" name="Text 9"/>
          <p:cNvSpPr/>
          <p:nvPr/>
        </p:nvSpPr>
        <p:spPr>
          <a:xfrm>
            <a:off x="429768" y="3904488"/>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Iceberg tables for ACID compliance on the lake</a:t>
            </a:r>
            <a:endParaRPr lang="en-US" sz="1100" dirty="0"/>
          </a:p>
        </p:txBody>
      </p:sp>
      <p:sp>
        <p:nvSpPr>
          <p:cNvPr id="12" name="Shape 10"/>
          <p:cNvSpPr/>
          <p:nvPr/>
        </p:nvSpPr>
        <p:spPr>
          <a:xfrm>
            <a:off x="320040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3" name="Shape 11"/>
          <p:cNvSpPr/>
          <p:nvPr/>
        </p:nvSpPr>
        <p:spPr>
          <a:xfrm>
            <a:off x="3200400" y="960120"/>
            <a:ext cx="2743200" cy="530352"/>
          </a:xfrm>
          <a:prstGeom prst="rect">
            <a:avLst/>
          </a:prstGeom>
          <a:solidFill>
            <a:srgbClr val="028090"/>
          </a:solidFill>
          <a:ln w="12700">
            <a:solidFill>
              <a:srgbClr val="028090"/>
            </a:solidFill>
            <a:prstDash val="solid"/>
          </a:ln>
        </p:spPr>
      </p:sp>
      <p:sp>
        <p:nvSpPr>
          <p:cNvPr id="14" name="Text 12"/>
          <p:cNvSpPr/>
          <p:nvPr/>
        </p:nvSpPr>
        <p:spPr>
          <a:xfrm>
            <a:off x="3291840" y="960120"/>
            <a:ext cx="2578608" cy="530352"/>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Uber</a:t>
            </a:r>
            <a:endParaRPr lang="en-US" sz="1800" dirty="0"/>
          </a:p>
        </p:txBody>
      </p:sp>
      <p:sp>
        <p:nvSpPr>
          <p:cNvPr id="15" name="Text 13"/>
          <p:cNvSpPr/>
          <p:nvPr/>
        </p:nvSpPr>
        <p:spPr>
          <a:xfrm>
            <a:off x="3310128" y="1572768"/>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Data Lake unifies 100+ petabytes of trip, driver, and pricing data</a:t>
            </a:r>
            <a:endParaRPr lang="en-US" sz="1100" dirty="0"/>
          </a:p>
        </p:txBody>
      </p:sp>
      <p:sp>
        <p:nvSpPr>
          <p:cNvPr id="16" name="Text 14"/>
          <p:cNvSpPr/>
          <p:nvPr/>
        </p:nvSpPr>
        <p:spPr>
          <a:xfrm>
            <a:off x="3310128" y="2350008"/>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Apache Hive + Presto + Spark for different query patterns</a:t>
            </a:r>
            <a:endParaRPr lang="en-US" sz="1100" dirty="0"/>
          </a:p>
        </p:txBody>
      </p:sp>
      <p:sp>
        <p:nvSpPr>
          <p:cNvPr id="17" name="Text 15"/>
          <p:cNvSpPr/>
          <p:nvPr/>
        </p:nvSpPr>
        <p:spPr>
          <a:xfrm>
            <a:off x="3310128" y="3127248"/>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Real-time + batch pipelines feed the lake from thousands of services</a:t>
            </a:r>
            <a:endParaRPr lang="en-US" sz="1100" dirty="0"/>
          </a:p>
        </p:txBody>
      </p:sp>
      <p:sp>
        <p:nvSpPr>
          <p:cNvPr id="18" name="Text 16"/>
          <p:cNvSpPr/>
          <p:nvPr/>
        </p:nvSpPr>
        <p:spPr>
          <a:xfrm>
            <a:off x="3310128" y="3904488"/>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Powers dynamic pricing, ETA models, fraud detection</a:t>
            </a:r>
            <a:endParaRPr lang="en-US" sz="1100" dirty="0"/>
          </a:p>
        </p:txBody>
      </p:sp>
      <p:sp>
        <p:nvSpPr>
          <p:cNvPr id="19" name="Shape 17"/>
          <p:cNvSpPr/>
          <p:nvPr/>
        </p:nvSpPr>
        <p:spPr>
          <a:xfrm>
            <a:off x="608076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0" name="Shape 18"/>
          <p:cNvSpPr/>
          <p:nvPr/>
        </p:nvSpPr>
        <p:spPr>
          <a:xfrm>
            <a:off x="6080760" y="960120"/>
            <a:ext cx="2743200" cy="530352"/>
          </a:xfrm>
          <a:prstGeom prst="rect">
            <a:avLst/>
          </a:prstGeom>
          <a:solidFill>
            <a:srgbClr val="00A896"/>
          </a:solidFill>
          <a:ln w="12700">
            <a:solidFill>
              <a:srgbClr val="00A896"/>
            </a:solidFill>
            <a:prstDash val="solid"/>
          </a:ln>
        </p:spPr>
      </p:sp>
      <p:sp>
        <p:nvSpPr>
          <p:cNvPr id="21" name="Text 19"/>
          <p:cNvSpPr/>
          <p:nvPr/>
        </p:nvSpPr>
        <p:spPr>
          <a:xfrm>
            <a:off x="6172200" y="960120"/>
            <a:ext cx="2578608" cy="530352"/>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Airbnb</a:t>
            </a:r>
            <a:endParaRPr lang="en-US" sz="1800" dirty="0"/>
          </a:p>
        </p:txBody>
      </p:sp>
      <p:sp>
        <p:nvSpPr>
          <p:cNvPr id="22" name="Text 20"/>
          <p:cNvSpPr/>
          <p:nvPr/>
        </p:nvSpPr>
        <p:spPr>
          <a:xfrm>
            <a:off x="6190488" y="1572768"/>
            <a:ext cx="2542032" cy="685800"/>
          </a:xfrm>
          <a:prstGeom prst="rect">
            <a:avLst/>
          </a:prstGeom>
          <a:noFill/>
          <a:ln/>
        </p:spPr>
        <p:txBody>
          <a:bodyPr wrap="square" lIns="0" tIns="0" rIns="0" bIns="0"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Lake ingests listing, booking, review, and search event data</a:t>
            </a:r>
            <a:endParaRPr lang="en-US" sz="1100" dirty="0"/>
          </a:p>
        </p:txBody>
      </p:sp>
      <p:sp>
        <p:nvSpPr>
          <p:cNvPr id="23" name="Text 21"/>
          <p:cNvSpPr/>
          <p:nvPr/>
        </p:nvSpPr>
        <p:spPr>
          <a:xfrm>
            <a:off x="6190488" y="2350008"/>
            <a:ext cx="2542032" cy="685800"/>
          </a:xfrm>
          <a:prstGeom prst="rect">
            <a:avLst/>
          </a:prstGeom>
          <a:noFill/>
          <a:ln/>
        </p:spPr>
        <p:txBody>
          <a:bodyPr wrap="square" lIns="0" tIns="0" rIns="0" bIns="0"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Minerva — internal metric layer built on top of the lake</a:t>
            </a:r>
            <a:endParaRPr lang="en-US" sz="1100" dirty="0"/>
          </a:p>
        </p:txBody>
      </p:sp>
      <p:sp>
        <p:nvSpPr>
          <p:cNvPr id="24" name="Text 22"/>
          <p:cNvSpPr/>
          <p:nvPr/>
        </p:nvSpPr>
        <p:spPr>
          <a:xfrm>
            <a:off x="6190488" y="3127248"/>
            <a:ext cx="2542032" cy="685800"/>
          </a:xfrm>
          <a:prstGeom prst="rect">
            <a:avLst/>
          </a:prstGeom>
          <a:noFill/>
          <a:ln/>
        </p:spPr>
        <p:txBody>
          <a:bodyPr wrap="square" lIns="0" tIns="0" rIns="0" bIns="0"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Enables A/B testing analytics at scale</a:t>
            </a:r>
            <a:endParaRPr lang="en-US" sz="1100" dirty="0"/>
          </a:p>
        </p:txBody>
      </p:sp>
      <p:sp>
        <p:nvSpPr>
          <p:cNvPr id="25" name="Text 23"/>
          <p:cNvSpPr/>
          <p:nvPr/>
        </p:nvSpPr>
        <p:spPr>
          <a:xfrm>
            <a:off x="6190488" y="3904488"/>
            <a:ext cx="2542032" cy="685800"/>
          </a:xfrm>
          <a:prstGeom prst="rect">
            <a:avLst/>
          </a:prstGeom>
          <a:noFill/>
          <a:ln/>
        </p:spPr>
        <p:txBody>
          <a:bodyPr wrap="square" lIns="0" tIns="0" rIns="0" bIns="0"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Apache Superset + Druid for dashboarding</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H</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Public Health Data Lake Design Project</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Project Brief: National Public Health Data Lake</a:t>
            </a:r>
            <a:endParaRPr lang="en-US" sz="2400" dirty="0"/>
          </a:p>
        </p:txBody>
      </p:sp>
      <p:sp>
        <p:nvSpPr>
          <p:cNvPr id="5" name="Shape 3"/>
          <p:cNvSpPr/>
          <p:nvPr/>
        </p:nvSpPr>
        <p:spPr>
          <a:xfrm>
            <a:off x="320040" y="960120"/>
            <a:ext cx="8503920" cy="105156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sp>
      <p:sp>
        <p:nvSpPr>
          <p:cNvPr id="6" name="Text 4"/>
          <p:cNvSpPr/>
          <p:nvPr/>
        </p:nvSpPr>
        <p:spPr>
          <a:xfrm>
            <a:off x="457200" y="1005840"/>
            <a:ext cx="1371600" cy="411480"/>
          </a:xfrm>
          <a:prstGeom prst="rect">
            <a:avLst/>
          </a:prstGeom>
          <a:noFill/>
          <a:ln/>
        </p:spPr>
        <p:txBody>
          <a:bodyPr wrap="square" rtlCol="0" anchor="ctr"/>
          <a:lstStyle/>
          <a:p>
            <a:pPr marL="0" indent="0">
              <a:buNone/>
            </a:pPr>
            <a:r>
              <a:rPr lang="en-US" sz="1400" b="1" dirty="0">
                <a:solidFill>
                  <a:srgbClr val="F0C040"/>
                </a:solidFill>
                <a:latin typeface="Georgia" pitchFamily="34" charset="0"/>
                <a:ea typeface="Georgia" pitchFamily="34" charset="-122"/>
                <a:cs typeface="Georgia" pitchFamily="34" charset="-120"/>
              </a:rPr>
              <a:t>Scenario</a:t>
            </a:r>
            <a:endParaRPr lang="en-US" sz="1400" dirty="0"/>
          </a:p>
        </p:txBody>
      </p:sp>
      <p:sp>
        <p:nvSpPr>
          <p:cNvPr id="7" name="Text 5"/>
          <p:cNvSpPr/>
          <p:nvPr/>
        </p:nvSpPr>
        <p:spPr>
          <a:xfrm>
            <a:off x="457200" y="1417320"/>
            <a:ext cx="8229600" cy="530352"/>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national Ministry of Health wants to build a centralized Data Lake to unify disease surveillance, patient records, laboratory results, vaccination data, and community health worker reports from 47 counties — supporting real-time outbreak response and long-term policy planning.</a:t>
            </a:r>
            <a:endParaRPr lang="en-US" sz="1150" dirty="0"/>
          </a:p>
        </p:txBody>
      </p:sp>
      <p:sp>
        <p:nvSpPr>
          <p:cNvPr id="8" name="Shape 6"/>
          <p:cNvSpPr/>
          <p:nvPr/>
        </p:nvSpPr>
        <p:spPr>
          <a:xfrm>
            <a:off x="320040" y="2148840"/>
            <a:ext cx="8503920" cy="658368"/>
          </a:xfrm>
          <a:prstGeom prst="rect">
            <a:avLst/>
          </a:prstGeom>
          <a:solidFill>
            <a:srgbClr val="FFFFFF"/>
          </a:solidFill>
          <a:ln w="12700">
            <a:solidFill>
              <a:srgbClr val="E8ECEF"/>
            </a:solidFill>
            <a:prstDash val="solid"/>
          </a:ln>
        </p:spPr>
      </p:sp>
      <p:sp>
        <p:nvSpPr>
          <p:cNvPr id="9" name="Shape 7"/>
          <p:cNvSpPr/>
          <p:nvPr/>
        </p:nvSpPr>
        <p:spPr>
          <a:xfrm>
            <a:off x="411480" y="2249424"/>
            <a:ext cx="457200" cy="457200"/>
          </a:xfrm>
          <a:prstGeom prst="ellipse">
            <a:avLst/>
          </a:prstGeom>
          <a:solidFill>
            <a:srgbClr val="028090"/>
          </a:solidFill>
          <a:ln w="12700">
            <a:solidFill>
              <a:srgbClr val="028090"/>
            </a:solidFill>
            <a:prstDash val="solid"/>
          </a:ln>
        </p:spPr>
      </p:sp>
      <p:sp>
        <p:nvSpPr>
          <p:cNvPr id="10" name="Text 8"/>
          <p:cNvSpPr/>
          <p:nvPr/>
        </p:nvSpPr>
        <p:spPr>
          <a:xfrm>
            <a:off x="411480" y="22494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1" name="Text 9"/>
          <p:cNvSpPr/>
          <p:nvPr/>
        </p:nvSpPr>
        <p:spPr>
          <a:xfrm>
            <a:off x="960120" y="222199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Ingest heterogeneous data: </a:t>
            </a:r>
            <a:endParaRPr lang="en-US" sz="1300" dirty="0"/>
          </a:p>
        </p:txBody>
      </p:sp>
      <p:sp>
        <p:nvSpPr>
          <p:cNvPr id="12" name="Text 10"/>
          <p:cNvSpPr/>
          <p:nvPr/>
        </p:nvSpPr>
        <p:spPr>
          <a:xfrm>
            <a:off x="3383280" y="222199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EHR (HL7/FHIR), CSV reports, mobile app data, lab JSON, satellite imagery</a:t>
            </a:r>
            <a:endParaRPr lang="en-US" sz="1150" dirty="0"/>
          </a:p>
        </p:txBody>
      </p:sp>
      <p:sp>
        <p:nvSpPr>
          <p:cNvPr id="13" name="Shape 11"/>
          <p:cNvSpPr/>
          <p:nvPr/>
        </p:nvSpPr>
        <p:spPr>
          <a:xfrm>
            <a:off x="320040" y="2880360"/>
            <a:ext cx="8503920" cy="658368"/>
          </a:xfrm>
          <a:prstGeom prst="rect">
            <a:avLst/>
          </a:prstGeom>
          <a:solidFill>
            <a:srgbClr val="E8ECEF"/>
          </a:solidFill>
          <a:ln w="12700">
            <a:solidFill>
              <a:srgbClr val="E8ECEF"/>
            </a:solidFill>
            <a:prstDash val="solid"/>
          </a:ln>
        </p:spPr>
      </p:sp>
      <p:sp>
        <p:nvSpPr>
          <p:cNvPr id="14" name="Shape 12"/>
          <p:cNvSpPr/>
          <p:nvPr/>
        </p:nvSpPr>
        <p:spPr>
          <a:xfrm>
            <a:off x="411480" y="2980944"/>
            <a:ext cx="457200" cy="457200"/>
          </a:xfrm>
          <a:prstGeom prst="ellipse">
            <a:avLst/>
          </a:prstGeom>
          <a:solidFill>
            <a:srgbClr val="028090"/>
          </a:solidFill>
          <a:ln w="12700">
            <a:solidFill>
              <a:srgbClr val="028090"/>
            </a:solidFill>
            <a:prstDash val="solid"/>
          </a:ln>
        </p:spPr>
      </p:sp>
      <p:sp>
        <p:nvSpPr>
          <p:cNvPr id="15" name="Text 13"/>
          <p:cNvSpPr/>
          <p:nvPr/>
        </p:nvSpPr>
        <p:spPr>
          <a:xfrm>
            <a:off x="411480" y="298094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Text 14"/>
          <p:cNvSpPr/>
          <p:nvPr/>
        </p:nvSpPr>
        <p:spPr>
          <a:xfrm>
            <a:off x="960120" y="295351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Enable real-time surveillance: </a:t>
            </a:r>
            <a:endParaRPr lang="en-US" sz="1300" dirty="0"/>
          </a:p>
        </p:txBody>
      </p:sp>
      <p:sp>
        <p:nvSpPr>
          <p:cNvPr id="17" name="Text 15"/>
          <p:cNvSpPr/>
          <p:nvPr/>
        </p:nvSpPr>
        <p:spPr>
          <a:xfrm>
            <a:off x="3383280" y="295351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Detect outbreak signals within hours, not weeks</a:t>
            </a:r>
            <a:endParaRPr lang="en-US" sz="1150" dirty="0"/>
          </a:p>
        </p:txBody>
      </p:sp>
      <p:sp>
        <p:nvSpPr>
          <p:cNvPr id="18" name="Shape 16"/>
          <p:cNvSpPr/>
          <p:nvPr/>
        </p:nvSpPr>
        <p:spPr>
          <a:xfrm>
            <a:off x="320040" y="3611880"/>
            <a:ext cx="8503920" cy="658368"/>
          </a:xfrm>
          <a:prstGeom prst="rect">
            <a:avLst/>
          </a:prstGeom>
          <a:solidFill>
            <a:srgbClr val="FFFFFF"/>
          </a:solidFill>
          <a:ln w="12700">
            <a:solidFill>
              <a:srgbClr val="E8ECEF"/>
            </a:solidFill>
            <a:prstDash val="solid"/>
          </a:ln>
        </p:spPr>
      </p:sp>
      <p:sp>
        <p:nvSpPr>
          <p:cNvPr id="19" name="Shape 17"/>
          <p:cNvSpPr/>
          <p:nvPr/>
        </p:nvSpPr>
        <p:spPr>
          <a:xfrm>
            <a:off x="411480" y="3712464"/>
            <a:ext cx="457200" cy="457200"/>
          </a:xfrm>
          <a:prstGeom prst="ellipse">
            <a:avLst/>
          </a:prstGeom>
          <a:solidFill>
            <a:srgbClr val="028090"/>
          </a:solidFill>
          <a:ln w="12700">
            <a:solidFill>
              <a:srgbClr val="028090"/>
            </a:solidFill>
            <a:prstDash val="solid"/>
          </a:ln>
        </p:spPr>
      </p:sp>
      <p:sp>
        <p:nvSpPr>
          <p:cNvPr id="20" name="Text 18"/>
          <p:cNvSpPr/>
          <p:nvPr/>
        </p:nvSpPr>
        <p:spPr>
          <a:xfrm>
            <a:off x="411480" y="37124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960120" y="368503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Support AI/ML models: </a:t>
            </a:r>
            <a:endParaRPr lang="en-US" sz="1300" dirty="0"/>
          </a:p>
        </p:txBody>
      </p:sp>
      <p:sp>
        <p:nvSpPr>
          <p:cNvPr id="22" name="Text 20"/>
          <p:cNvSpPr/>
          <p:nvPr/>
        </p:nvSpPr>
        <p:spPr>
          <a:xfrm>
            <a:off x="3383280" y="368503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Disease prediction, resource allocation, risk stratification</a:t>
            </a:r>
            <a:endParaRPr lang="en-US" sz="1150" dirty="0"/>
          </a:p>
        </p:txBody>
      </p:sp>
      <p:sp>
        <p:nvSpPr>
          <p:cNvPr id="23" name="Shape 21"/>
          <p:cNvSpPr/>
          <p:nvPr/>
        </p:nvSpPr>
        <p:spPr>
          <a:xfrm>
            <a:off x="320040" y="4343400"/>
            <a:ext cx="8503920" cy="658368"/>
          </a:xfrm>
          <a:prstGeom prst="rect">
            <a:avLst/>
          </a:prstGeom>
          <a:solidFill>
            <a:srgbClr val="E8ECEF"/>
          </a:solidFill>
          <a:ln w="12700">
            <a:solidFill>
              <a:srgbClr val="E8ECEF"/>
            </a:solidFill>
            <a:prstDash val="solid"/>
          </a:ln>
        </p:spPr>
      </p:sp>
      <p:sp>
        <p:nvSpPr>
          <p:cNvPr id="24" name="Shape 22"/>
          <p:cNvSpPr/>
          <p:nvPr/>
        </p:nvSpPr>
        <p:spPr>
          <a:xfrm>
            <a:off x="411480" y="4443984"/>
            <a:ext cx="457200" cy="457200"/>
          </a:xfrm>
          <a:prstGeom prst="ellipse">
            <a:avLst/>
          </a:prstGeom>
          <a:solidFill>
            <a:srgbClr val="028090"/>
          </a:solidFill>
          <a:ln w="12700">
            <a:solidFill>
              <a:srgbClr val="028090"/>
            </a:solidFill>
            <a:prstDash val="solid"/>
          </a:ln>
        </p:spPr>
      </p:sp>
      <p:sp>
        <p:nvSpPr>
          <p:cNvPr id="25" name="Text 23"/>
          <p:cNvSpPr/>
          <p:nvPr/>
        </p:nvSpPr>
        <p:spPr>
          <a:xfrm>
            <a:off x="411480" y="44439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6" name="Text 24"/>
          <p:cNvSpPr/>
          <p:nvPr/>
        </p:nvSpPr>
        <p:spPr>
          <a:xfrm>
            <a:off x="960120" y="441655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Ensure compliance: </a:t>
            </a:r>
            <a:endParaRPr lang="en-US" sz="1300" dirty="0"/>
          </a:p>
        </p:txBody>
      </p:sp>
      <p:sp>
        <p:nvSpPr>
          <p:cNvPr id="27" name="Text 25"/>
          <p:cNvSpPr/>
          <p:nvPr/>
        </p:nvSpPr>
        <p:spPr>
          <a:xfrm>
            <a:off x="3383280" y="441655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Data sovereignty, patient privacy (HIPAA-equivalent), audit trails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Public Health Data Sources &amp; Characteristics</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4069080"/>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452120">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Data Source</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Format</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Volume</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Ingestion Speed</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Key Challenge</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EHR / HMIS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HL7, FHIR, XML</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Batch daily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Inconsistent coding standards across hospitals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Lab Results (LIMS)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JSON, HL7</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Near real-time</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Multiple LIMS platforms, varying schemas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2"/>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Vaccination Registry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CSV, JSON</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Batch weekly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Duplicate patient identities across counties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Community Health (CHW)</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Mobile JSON</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Low-Med</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Daily sync</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Offline-first, data quality varies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4"/>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Disease Surveillance (IDSR)</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Excel, CSV</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Weekly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Still paper-based in some facilities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Pharmacy / KEMSA</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CSV, ERP export</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Batch</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Supply chain data not linked to clinical</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6"/>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Remote Sensing</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GeoTIFF, Raster</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Very High</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Weekly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Large file sizes, specialist tools needed</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mHealth / Patient App</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JSON, REST API</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Growing</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Real-time</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Consent management, data ownership</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Proposed Public Health Data Lake Architecture</a:t>
            </a:r>
            <a:endParaRPr lang="en-US" sz="2400" dirty="0"/>
          </a:p>
        </p:txBody>
      </p:sp>
      <p:sp>
        <p:nvSpPr>
          <p:cNvPr id="5" name="Shape 3"/>
          <p:cNvSpPr/>
          <p:nvPr/>
        </p:nvSpPr>
        <p:spPr>
          <a:xfrm>
            <a:off x="320040" y="960120"/>
            <a:ext cx="8503920" cy="640080"/>
          </a:xfrm>
          <a:prstGeom prst="rect">
            <a:avLst/>
          </a:prstGeom>
          <a:solidFill>
            <a:srgbClr val="F0C040"/>
          </a:solidFill>
          <a:ln w="12700">
            <a:solidFill>
              <a:srgbClr val="F0C040"/>
            </a:solidFill>
            <a:prstDash val="solid"/>
          </a:ln>
        </p:spPr>
      </p:sp>
      <p:sp>
        <p:nvSpPr>
          <p:cNvPr id="6" name="Text 4"/>
          <p:cNvSpPr/>
          <p:nvPr/>
        </p:nvSpPr>
        <p:spPr>
          <a:xfrm>
            <a:off x="411480" y="960120"/>
            <a:ext cx="2286000" cy="64008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DATA SOURCES</a:t>
            </a:r>
            <a:endParaRPr lang="en-US" sz="1100" dirty="0"/>
          </a:p>
        </p:txBody>
      </p:sp>
      <p:sp>
        <p:nvSpPr>
          <p:cNvPr id="7" name="Text 5"/>
          <p:cNvSpPr/>
          <p:nvPr/>
        </p:nvSpPr>
        <p:spPr>
          <a:xfrm>
            <a:off x="2743200" y="960120"/>
            <a:ext cx="5943600" cy="640080"/>
          </a:xfrm>
          <a:prstGeom prst="rect">
            <a:avLst/>
          </a:prstGeom>
          <a:noFill/>
          <a:ln/>
        </p:spPr>
        <p:txBody>
          <a:bodyPr wrap="square" rtlCol="0" anchor="ctr"/>
          <a:lstStyle/>
          <a:p>
            <a:pPr marL="0" indent="0">
              <a:buNone/>
            </a:pPr>
            <a:r>
              <a:rPr lang="en-US" sz="1050" dirty="0">
                <a:solidFill>
                  <a:srgbClr val="1A2F2F"/>
                </a:solidFill>
                <a:latin typeface="Calibri" pitchFamily="34" charset="0"/>
                <a:ea typeface="Calibri" pitchFamily="34" charset="-122"/>
                <a:cs typeface="Calibri" pitchFamily="34" charset="-120"/>
              </a:rPr>
              <a:t>EHR · Lab · Vaccination · CHW · Surveillance · Pharmacy · Remote Sensing · mHealth</a:t>
            </a:r>
            <a:endParaRPr lang="en-US" sz="1050" dirty="0"/>
          </a:p>
        </p:txBody>
      </p:sp>
      <p:sp>
        <p:nvSpPr>
          <p:cNvPr id="8" name="Shape 6"/>
          <p:cNvSpPr/>
          <p:nvPr/>
        </p:nvSpPr>
        <p:spPr>
          <a:xfrm>
            <a:off x="320040" y="1664208"/>
            <a:ext cx="8503920" cy="640080"/>
          </a:xfrm>
          <a:prstGeom prst="rect">
            <a:avLst/>
          </a:prstGeom>
          <a:solidFill>
            <a:srgbClr val="0A2342"/>
          </a:solidFill>
          <a:ln w="12700">
            <a:solidFill>
              <a:srgbClr val="0A2342"/>
            </a:solidFill>
            <a:prstDash val="solid"/>
          </a:ln>
        </p:spPr>
      </p:sp>
      <p:sp>
        <p:nvSpPr>
          <p:cNvPr id="9" name="Text 7"/>
          <p:cNvSpPr/>
          <p:nvPr/>
        </p:nvSpPr>
        <p:spPr>
          <a:xfrm>
            <a:off x="411480" y="1664208"/>
            <a:ext cx="2286000" cy="64008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INGESTION LAYER</a:t>
            </a:r>
            <a:endParaRPr lang="en-US" sz="1100" dirty="0"/>
          </a:p>
        </p:txBody>
      </p:sp>
      <p:sp>
        <p:nvSpPr>
          <p:cNvPr id="10" name="Text 8"/>
          <p:cNvSpPr/>
          <p:nvPr/>
        </p:nvSpPr>
        <p:spPr>
          <a:xfrm>
            <a:off x="2743200" y="1664208"/>
            <a:ext cx="5943600" cy="64008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Apache Kafka (streams)  ·  Azure Data Factory (batch ETL)  ·  FHIR API Gateway  ·  Mobile Sync (CouchDB)</a:t>
            </a:r>
            <a:endParaRPr lang="en-US" sz="1050" dirty="0"/>
          </a:p>
        </p:txBody>
      </p:sp>
      <p:sp>
        <p:nvSpPr>
          <p:cNvPr id="11" name="Shape 9"/>
          <p:cNvSpPr/>
          <p:nvPr/>
        </p:nvSpPr>
        <p:spPr>
          <a:xfrm>
            <a:off x="320040" y="2368296"/>
            <a:ext cx="8503920" cy="640080"/>
          </a:xfrm>
          <a:prstGeom prst="rect">
            <a:avLst/>
          </a:prstGeom>
          <a:solidFill>
            <a:srgbClr val="028090"/>
          </a:solidFill>
          <a:ln w="12700">
            <a:solidFill>
              <a:srgbClr val="028090"/>
            </a:solidFill>
            <a:prstDash val="solid"/>
          </a:ln>
        </p:spPr>
      </p:sp>
      <p:sp>
        <p:nvSpPr>
          <p:cNvPr id="12" name="Text 10"/>
          <p:cNvSpPr/>
          <p:nvPr/>
        </p:nvSpPr>
        <p:spPr>
          <a:xfrm>
            <a:off x="411480" y="2368296"/>
            <a:ext cx="2286000" cy="64008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RAW LAKE (Bronze)</a:t>
            </a:r>
            <a:endParaRPr lang="en-US" sz="1100" dirty="0"/>
          </a:p>
        </p:txBody>
      </p:sp>
      <p:sp>
        <p:nvSpPr>
          <p:cNvPr id="13" name="Text 11"/>
          <p:cNvSpPr/>
          <p:nvPr/>
        </p:nvSpPr>
        <p:spPr>
          <a:xfrm>
            <a:off x="2743200" y="2368296"/>
            <a:ext cx="5943600" cy="64008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Azure Data Lake Storage Gen2  ·  All data in original format  ·  Immutable, fully audited  ·  Partitioned by county + date</a:t>
            </a:r>
            <a:endParaRPr lang="en-US" sz="1050" dirty="0"/>
          </a:p>
        </p:txBody>
      </p:sp>
      <p:sp>
        <p:nvSpPr>
          <p:cNvPr id="14" name="Shape 12"/>
          <p:cNvSpPr/>
          <p:nvPr/>
        </p:nvSpPr>
        <p:spPr>
          <a:xfrm>
            <a:off x="320040" y="3072384"/>
            <a:ext cx="8503920" cy="640080"/>
          </a:xfrm>
          <a:prstGeom prst="rect">
            <a:avLst/>
          </a:prstGeom>
          <a:solidFill>
            <a:srgbClr val="00A896"/>
          </a:solidFill>
          <a:ln w="12700">
            <a:solidFill>
              <a:srgbClr val="00A896"/>
            </a:solidFill>
            <a:prstDash val="solid"/>
          </a:ln>
        </p:spPr>
      </p:sp>
      <p:sp>
        <p:nvSpPr>
          <p:cNvPr id="15" name="Text 13"/>
          <p:cNvSpPr/>
          <p:nvPr/>
        </p:nvSpPr>
        <p:spPr>
          <a:xfrm>
            <a:off x="411480" y="3072384"/>
            <a:ext cx="2286000" cy="64008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PROCESSING (Silver)</a:t>
            </a:r>
            <a:endParaRPr lang="en-US" sz="1100" dirty="0"/>
          </a:p>
        </p:txBody>
      </p:sp>
      <p:sp>
        <p:nvSpPr>
          <p:cNvPr id="16" name="Text 14"/>
          <p:cNvSpPr/>
          <p:nvPr/>
        </p:nvSpPr>
        <p:spPr>
          <a:xfrm>
            <a:off x="2743200" y="3072384"/>
            <a:ext cx="5943600" cy="640080"/>
          </a:xfrm>
          <a:prstGeom prst="rect">
            <a:avLst/>
          </a:prstGeom>
          <a:noFill/>
          <a:ln/>
        </p:spPr>
        <p:txBody>
          <a:bodyPr wrap="square" rtlCol="0" anchor="ctr"/>
          <a:lstStyle/>
          <a:p>
            <a:pPr marL="0" indent="0">
              <a:buNone/>
            </a:pPr>
            <a:r>
              <a:rPr lang="en-US" sz="1050" dirty="0">
                <a:solidFill>
                  <a:srgbClr val="1A2F2F"/>
                </a:solidFill>
                <a:latin typeface="Calibri" pitchFamily="34" charset="0"/>
                <a:ea typeface="Calibri" pitchFamily="34" charset="-122"/>
                <a:cs typeface="Calibri" pitchFamily="34" charset="-120"/>
              </a:rPr>
              <a:t>Apache Spark on Databricks  ·  Data validation, deduplication, standardization  ·  FHIR normalization  ·  PII tokenization</a:t>
            </a:r>
            <a:endParaRPr lang="en-US" sz="1050" dirty="0"/>
          </a:p>
        </p:txBody>
      </p:sp>
      <p:sp>
        <p:nvSpPr>
          <p:cNvPr id="17" name="Shape 15"/>
          <p:cNvSpPr/>
          <p:nvPr/>
        </p:nvSpPr>
        <p:spPr>
          <a:xfrm>
            <a:off x="320040" y="3776472"/>
            <a:ext cx="8503920" cy="640080"/>
          </a:xfrm>
          <a:prstGeom prst="rect">
            <a:avLst/>
          </a:prstGeom>
          <a:solidFill>
            <a:srgbClr val="02C39A"/>
          </a:solidFill>
          <a:ln w="12700">
            <a:solidFill>
              <a:srgbClr val="02C39A"/>
            </a:solidFill>
            <a:prstDash val="solid"/>
          </a:ln>
        </p:spPr>
      </p:sp>
      <p:sp>
        <p:nvSpPr>
          <p:cNvPr id="18" name="Text 16"/>
          <p:cNvSpPr/>
          <p:nvPr/>
        </p:nvSpPr>
        <p:spPr>
          <a:xfrm>
            <a:off x="411480" y="3776472"/>
            <a:ext cx="2286000" cy="64008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CURATED (Gold)</a:t>
            </a:r>
            <a:endParaRPr lang="en-US" sz="1100" dirty="0"/>
          </a:p>
        </p:txBody>
      </p:sp>
      <p:sp>
        <p:nvSpPr>
          <p:cNvPr id="19" name="Text 17"/>
          <p:cNvSpPr/>
          <p:nvPr/>
        </p:nvSpPr>
        <p:spPr>
          <a:xfrm>
            <a:off x="2743200" y="3776472"/>
            <a:ext cx="5943600" cy="640080"/>
          </a:xfrm>
          <a:prstGeom prst="rect">
            <a:avLst/>
          </a:prstGeom>
          <a:noFill/>
          <a:ln/>
        </p:spPr>
        <p:txBody>
          <a:bodyPr wrap="square" rtlCol="0" anchor="ctr"/>
          <a:lstStyle/>
          <a:p>
            <a:pPr marL="0" indent="0">
              <a:buNone/>
            </a:pPr>
            <a:r>
              <a:rPr lang="en-US" sz="1050" dirty="0">
                <a:solidFill>
                  <a:srgbClr val="1A2F2F"/>
                </a:solidFill>
                <a:latin typeface="Calibri" pitchFamily="34" charset="0"/>
                <a:ea typeface="Calibri" pitchFamily="34" charset="-122"/>
                <a:cs typeface="Calibri" pitchFamily="34" charset="-120"/>
              </a:rPr>
              <a:t>Disease indicators  ·  Aggregated county health metrics  ·  ML feature stores  ·  Report-ready datasets</a:t>
            </a:r>
            <a:endParaRPr lang="en-US" sz="1050" dirty="0"/>
          </a:p>
        </p:txBody>
      </p:sp>
      <p:sp>
        <p:nvSpPr>
          <p:cNvPr id="20" name="Shape 18"/>
          <p:cNvSpPr/>
          <p:nvPr/>
        </p:nvSpPr>
        <p:spPr>
          <a:xfrm>
            <a:off x="320040" y="4480560"/>
            <a:ext cx="8503920" cy="640080"/>
          </a:xfrm>
          <a:prstGeom prst="rect">
            <a:avLst/>
          </a:prstGeom>
          <a:solidFill>
            <a:srgbClr val="2D6A4F"/>
          </a:solidFill>
          <a:ln w="12700">
            <a:solidFill>
              <a:srgbClr val="2D6A4F"/>
            </a:solidFill>
            <a:prstDash val="solid"/>
          </a:ln>
        </p:spPr>
      </p:sp>
      <p:sp>
        <p:nvSpPr>
          <p:cNvPr id="21" name="Text 19"/>
          <p:cNvSpPr/>
          <p:nvPr/>
        </p:nvSpPr>
        <p:spPr>
          <a:xfrm>
            <a:off x="411480" y="4480560"/>
            <a:ext cx="2286000" cy="64008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CONSUMPTION</a:t>
            </a:r>
            <a:endParaRPr lang="en-US" sz="1100" dirty="0"/>
          </a:p>
        </p:txBody>
      </p:sp>
      <p:sp>
        <p:nvSpPr>
          <p:cNvPr id="22" name="Text 20"/>
          <p:cNvSpPr/>
          <p:nvPr/>
        </p:nvSpPr>
        <p:spPr>
          <a:xfrm>
            <a:off x="2743200" y="4480560"/>
            <a:ext cx="5943600" cy="64008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DHIS2 dashboards  ·  Power BI for MoH  ·  ML outbreak models  ·  County officer self-service SQL</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Role of NoSQL Databases in the Health Data Lake</a:t>
            </a:r>
            <a:endParaRPr lang="en-US" sz="2400" dirty="0"/>
          </a:p>
        </p:txBody>
      </p:sp>
      <p:sp>
        <p:nvSpPr>
          <p:cNvPr id="5" name="Text 3"/>
          <p:cNvSpPr/>
          <p:nvPr/>
        </p:nvSpPr>
        <p:spPr>
          <a:xfrm>
            <a:off x="365760" y="960120"/>
            <a:ext cx="8412480" cy="347472"/>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Different data types within the health lake are best served by different NoSQL models:</a:t>
            </a:r>
            <a:endParaRPr lang="en-US" sz="1200" dirty="0"/>
          </a:p>
        </p:txBody>
      </p:sp>
      <p:sp>
        <p:nvSpPr>
          <p:cNvPr id="6" name="Shape 4"/>
          <p:cNvSpPr/>
          <p:nvPr/>
        </p:nvSpPr>
        <p:spPr>
          <a:xfrm>
            <a:off x="320040" y="1389888"/>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7" name="Shape 5"/>
          <p:cNvSpPr/>
          <p:nvPr/>
        </p:nvSpPr>
        <p:spPr>
          <a:xfrm>
            <a:off x="320040" y="1389888"/>
            <a:ext cx="91440" cy="868680"/>
          </a:xfrm>
          <a:prstGeom prst="rect">
            <a:avLst/>
          </a:prstGeom>
          <a:solidFill>
            <a:srgbClr val="0A2342"/>
          </a:solidFill>
          <a:ln w="12700">
            <a:solidFill>
              <a:srgbClr val="0A2342"/>
            </a:solidFill>
            <a:prstDash val="solid"/>
          </a:ln>
        </p:spPr>
      </p:sp>
      <p:sp>
        <p:nvSpPr>
          <p:cNvPr id="8" name="Text 6"/>
          <p:cNvSpPr/>
          <p:nvPr/>
        </p:nvSpPr>
        <p:spPr>
          <a:xfrm>
            <a:off x="502920" y="1444752"/>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MongoDB (Document Store)</a:t>
            </a:r>
            <a:endParaRPr lang="en-US" sz="1300" dirty="0"/>
          </a:p>
        </p:txBody>
      </p:sp>
      <p:sp>
        <p:nvSpPr>
          <p:cNvPr id="9" name="Text 7"/>
          <p:cNvSpPr/>
          <p:nvPr/>
        </p:nvSpPr>
        <p:spPr>
          <a:xfrm>
            <a:off x="502920" y="1847088"/>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Patient records &amp; EHR</a:t>
            </a:r>
            <a:endParaRPr lang="en-US" sz="1100" dirty="0"/>
          </a:p>
        </p:txBody>
      </p:sp>
      <p:sp>
        <p:nvSpPr>
          <p:cNvPr id="10" name="Text 8"/>
          <p:cNvSpPr/>
          <p:nvPr/>
        </p:nvSpPr>
        <p:spPr>
          <a:xfrm>
            <a:off x="3566160" y="1481328"/>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Flexible schema handles varying clinical fields. Nested documents map naturally to FHIR resources.</a:t>
            </a:r>
            <a:endParaRPr lang="en-US" sz="1100" dirty="0"/>
          </a:p>
        </p:txBody>
      </p:sp>
      <p:sp>
        <p:nvSpPr>
          <p:cNvPr id="11" name="Shape 9"/>
          <p:cNvSpPr/>
          <p:nvPr/>
        </p:nvSpPr>
        <p:spPr>
          <a:xfrm>
            <a:off x="320040" y="2331720"/>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2" name="Shape 10"/>
          <p:cNvSpPr/>
          <p:nvPr/>
        </p:nvSpPr>
        <p:spPr>
          <a:xfrm>
            <a:off x="320040" y="2331720"/>
            <a:ext cx="91440" cy="868680"/>
          </a:xfrm>
          <a:prstGeom prst="rect">
            <a:avLst/>
          </a:prstGeom>
          <a:solidFill>
            <a:srgbClr val="028090"/>
          </a:solidFill>
          <a:ln w="12700">
            <a:solidFill>
              <a:srgbClr val="028090"/>
            </a:solidFill>
            <a:prstDash val="solid"/>
          </a:ln>
        </p:spPr>
      </p:sp>
      <p:sp>
        <p:nvSpPr>
          <p:cNvPr id="13" name="Text 11"/>
          <p:cNvSpPr/>
          <p:nvPr/>
        </p:nvSpPr>
        <p:spPr>
          <a:xfrm>
            <a:off x="502920" y="2386584"/>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Apache Cassandra (Column-Family)</a:t>
            </a:r>
            <a:endParaRPr lang="en-US" sz="1300" dirty="0"/>
          </a:p>
        </p:txBody>
      </p:sp>
      <p:sp>
        <p:nvSpPr>
          <p:cNvPr id="14" name="Text 12"/>
          <p:cNvSpPr/>
          <p:nvPr/>
        </p:nvSpPr>
        <p:spPr>
          <a:xfrm>
            <a:off x="502920" y="2788920"/>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Time-series vital signs &amp; sensor data</a:t>
            </a:r>
            <a:endParaRPr lang="en-US" sz="1100" dirty="0"/>
          </a:p>
        </p:txBody>
      </p:sp>
      <p:sp>
        <p:nvSpPr>
          <p:cNvPr id="15" name="Text 13"/>
          <p:cNvSpPr/>
          <p:nvPr/>
        </p:nvSpPr>
        <p:spPr>
          <a:xfrm>
            <a:off x="3566160" y="2423160"/>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Millions of readings per hour from hospital monitoring systems. Linear horizontal scaling.</a:t>
            </a:r>
            <a:endParaRPr lang="en-US" sz="1100" dirty="0"/>
          </a:p>
        </p:txBody>
      </p:sp>
      <p:sp>
        <p:nvSpPr>
          <p:cNvPr id="16" name="Shape 14"/>
          <p:cNvSpPr/>
          <p:nvPr/>
        </p:nvSpPr>
        <p:spPr>
          <a:xfrm>
            <a:off x="320040" y="3273552"/>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7" name="Shape 15"/>
          <p:cNvSpPr/>
          <p:nvPr/>
        </p:nvSpPr>
        <p:spPr>
          <a:xfrm>
            <a:off x="320040" y="3273552"/>
            <a:ext cx="91440" cy="868680"/>
          </a:xfrm>
          <a:prstGeom prst="rect">
            <a:avLst/>
          </a:prstGeom>
          <a:solidFill>
            <a:srgbClr val="00A896"/>
          </a:solidFill>
          <a:ln w="12700">
            <a:solidFill>
              <a:srgbClr val="00A896"/>
            </a:solidFill>
            <a:prstDash val="solid"/>
          </a:ln>
        </p:spPr>
      </p:sp>
      <p:sp>
        <p:nvSpPr>
          <p:cNvPr id="18" name="Text 16"/>
          <p:cNvSpPr/>
          <p:nvPr/>
        </p:nvSpPr>
        <p:spPr>
          <a:xfrm>
            <a:off x="502920" y="3328416"/>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Redis (Key-Value)</a:t>
            </a:r>
            <a:endParaRPr lang="en-US" sz="1300" dirty="0"/>
          </a:p>
        </p:txBody>
      </p:sp>
      <p:sp>
        <p:nvSpPr>
          <p:cNvPr id="19" name="Text 17"/>
          <p:cNvSpPr/>
          <p:nvPr/>
        </p:nvSpPr>
        <p:spPr>
          <a:xfrm>
            <a:off x="502920" y="3730752"/>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Real-time caching &amp; pub/sub alerts</a:t>
            </a:r>
            <a:endParaRPr lang="en-US" sz="1100" dirty="0"/>
          </a:p>
        </p:txBody>
      </p:sp>
      <p:sp>
        <p:nvSpPr>
          <p:cNvPr id="20" name="Text 18"/>
          <p:cNvSpPr/>
          <p:nvPr/>
        </p:nvSpPr>
        <p:spPr>
          <a:xfrm>
            <a:off x="3566160" y="3364992"/>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Sub-millisecond outbreak alert publishing. Cache hot disease indicator metrics for dashboards.</a:t>
            </a:r>
            <a:endParaRPr lang="en-US" sz="1100" dirty="0"/>
          </a:p>
        </p:txBody>
      </p:sp>
      <p:sp>
        <p:nvSpPr>
          <p:cNvPr id="21" name="Shape 19"/>
          <p:cNvSpPr/>
          <p:nvPr/>
        </p:nvSpPr>
        <p:spPr>
          <a:xfrm>
            <a:off x="320040" y="4215384"/>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2" name="Shape 20"/>
          <p:cNvSpPr/>
          <p:nvPr/>
        </p:nvSpPr>
        <p:spPr>
          <a:xfrm>
            <a:off x="320040" y="4215384"/>
            <a:ext cx="91440" cy="868680"/>
          </a:xfrm>
          <a:prstGeom prst="rect">
            <a:avLst/>
          </a:prstGeom>
          <a:solidFill>
            <a:srgbClr val="02C39A"/>
          </a:solidFill>
          <a:ln w="12700">
            <a:solidFill>
              <a:srgbClr val="02C39A"/>
            </a:solidFill>
            <a:prstDash val="solid"/>
          </a:ln>
        </p:spPr>
      </p:sp>
      <p:sp>
        <p:nvSpPr>
          <p:cNvPr id="23" name="Text 21"/>
          <p:cNvSpPr/>
          <p:nvPr/>
        </p:nvSpPr>
        <p:spPr>
          <a:xfrm>
            <a:off x="502920" y="4270248"/>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Neo4j (Graph DB)</a:t>
            </a:r>
            <a:endParaRPr lang="en-US" sz="1300" dirty="0"/>
          </a:p>
        </p:txBody>
      </p:sp>
      <p:sp>
        <p:nvSpPr>
          <p:cNvPr id="24" name="Text 22"/>
          <p:cNvSpPr/>
          <p:nvPr/>
        </p:nvSpPr>
        <p:spPr>
          <a:xfrm>
            <a:off x="502920" y="4672584"/>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Contact tracing &amp; disease networks</a:t>
            </a:r>
            <a:endParaRPr lang="en-US" sz="1100" dirty="0"/>
          </a:p>
        </p:txBody>
      </p:sp>
      <p:sp>
        <p:nvSpPr>
          <p:cNvPr id="25" name="Text 23"/>
          <p:cNvSpPr/>
          <p:nvPr/>
        </p:nvSpPr>
        <p:spPr>
          <a:xfrm>
            <a:off x="3566160" y="4306824"/>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Track transmission chains, identify super-spreaders, and map healthcare worker exposure networks.</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Governance, Privacy &amp; Compliance for Health Data</a:t>
            </a:r>
            <a:endParaRPr lang="en-US" sz="2400" dirty="0"/>
          </a:p>
        </p:txBody>
      </p:sp>
      <p:sp>
        <p:nvSpPr>
          <p:cNvPr id="5" name="Shape 3"/>
          <p:cNvSpPr/>
          <p:nvPr/>
        </p:nvSpPr>
        <p:spPr>
          <a:xfrm>
            <a:off x="320040" y="96012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4206240" cy="475488"/>
          </a:xfrm>
          <a:prstGeom prst="rect">
            <a:avLst/>
          </a:prstGeom>
          <a:solidFill>
            <a:srgbClr val="0A2342"/>
          </a:solidFill>
          <a:ln w="12700">
            <a:solidFill>
              <a:srgbClr val="0A2342"/>
            </a:solidFill>
            <a:prstDash val="solid"/>
          </a:ln>
        </p:spPr>
      </p:sp>
      <p:sp>
        <p:nvSpPr>
          <p:cNvPr id="7" name="Text 5"/>
          <p:cNvSpPr/>
          <p:nvPr/>
        </p:nvSpPr>
        <p:spPr>
          <a:xfrm>
            <a:off x="41148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Data Classification</a:t>
            </a:r>
            <a:endParaRPr lang="en-US" sz="1400" dirty="0"/>
          </a:p>
        </p:txBody>
      </p:sp>
      <p:sp>
        <p:nvSpPr>
          <p:cNvPr id="8" name="Text 6"/>
          <p:cNvSpPr/>
          <p:nvPr/>
        </p:nvSpPr>
        <p:spPr>
          <a:xfrm>
            <a:off x="411480" y="148132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Highly sensitive: patient identifiers, HIV status, MH</a:t>
            </a:r>
            <a:endParaRPr lang="en-US" sz="1050" dirty="0"/>
          </a:p>
        </p:txBody>
      </p:sp>
      <p:sp>
        <p:nvSpPr>
          <p:cNvPr id="9" name="Text 7"/>
          <p:cNvSpPr/>
          <p:nvPr/>
        </p:nvSpPr>
        <p:spPr>
          <a:xfrm>
            <a:off x="411480" y="183794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Sensitive: diagnosis codes, lab results</a:t>
            </a:r>
            <a:endParaRPr lang="en-US" sz="1050" dirty="0"/>
          </a:p>
        </p:txBody>
      </p:sp>
      <p:sp>
        <p:nvSpPr>
          <p:cNvPr id="10" name="Text 8"/>
          <p:cNvSpPr/>
          <p:nvPr/>
        </p:nvSpPr>
        <p:spPr>
          <a:xfrm>
            <a:off x="411480" y="219456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Internal: aggregate county statistics</a:t>
            </a:r>
            <a:endParaRPr lang="en-US" sz="1050" dirty="0"/>
          </a:p>
        </p:txBody>
      </p:sp>
      <p:sp>
        <p:nvSpPr>
          <p:cNvPr id="11" name="Text 9"/>
          <p:cNvSpPr/>
          <p:nvPr/>
        </p:nvSpPr>
        <p:spPr>
          <a:xfrm>
            <a:off x="411480" y="255117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Public: anonymized disease trends</a:t>
            </a:r>
            <a:endParaRPr lang="en-US" sz="1050" dirty="0"/>
          </a:p>
        </p:txBody>
      </p:sp>
      <p:sp>
        <p:nvSpPr>
          <p:cNvPr id="12" name="Shape 10"/>
          <p:cNvSpPr/>
          <p:nvPr/>
        </p:nvSpPr>
        <p:spPr>
          <a:xfrm>
            <a:off x="4754880" y="96012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13" name="Shape 11"/>
          <p:cNvSpPr/>
          <p:nvPr/>
        </p:nvSpPr>
        <p:spPr>
          <a:xfrm>
            <a:off x="4754880" y="960120"/>
            <a:ext cx="4206240" cy="475488"/>
          </a:xfrm>
          <a:prstGeom prst="rect">
            <a:avLst/>
          </a:prstGeom>
          <a:solidFill>
            <a:srgbClr val="028090"/>
          </a:solidFill>
          <a:ln w="12700">
            <a:solidFill>
              <a:srgbClr val="028090"/>
            </a:solidFill>
            <a:prstDash val="solid"/>
          </a:ln>
        </p:spPr>
      </p:sp>
      <p:sp>
        <p:nvSpPr>
          <p:cNvPr id="14" name="Text 12"/>
          <p:cNvSpPr/>
          <p:nvPr/>
        </p:nvSpPr>
        <p:spPr>
          <a:xfrm>
            <a:off x="484632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Privacy Controls</a:t>
            </a:r>
            <a:endParaRPr lang="en-US" sz="1400" dirty="0"/>
          </a:p>
        </p:txBody>
      </p:sp>
      <p:sp>
        <p:nvSpPr>
          <p:cNvPr id="15" name="Text 13"/>
          <p:cNvSpPr/>
          <p:nvPr/>
        </p:nvSpPr>
        <p:spPr>
          <a:xfrm>
            <a:off x="4846320" y="148132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PII tokenization at ingestion (patient IDs hashed)</a:t>
            </a:r>
            <a:endParaRPr lang="en-US" sz="1050" dirty="0"/>
          </a:p>
        </p:txBody>
      </p:sp>
      <p:sp>
        <p:nvSpPr>
          <p:cNvPr id="16" name="Text 14"/>
          <p:cNvSpPr/>
          <p:nvPr/>
        </p:nvSpPr>
        <p:spPr>
          <a:xfrm>
            <a:off x="4846320" y="183794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Role-based access control (RBAC) by county/facility</a:t>
            </a:r>
            <a:endParaRPr lang="en-US" sz="1050" dirty="0"/>
          </a:p>
        </p:txBody>
      </p:sp>
      <p:sp>
        <p:nvSpPr>
          <p:cNvPr id="17" name="Text 15"/>
          <p:cNvSpPr/>
          <p:nvPr/>
        </p:nvSpPr>
        <p:spPr>
          <a:xfrm>
            <a:off x="4846320" y="219456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Column-level encryption for sensitive fields</a:t>
            </a:r>
            <a:endParaRPr lang="en-US" sz="1050" dirty="0"/>
          </a:p>
        </p:txBody>
      </p:sp>
      <p:sp>
        <p:nvSpPr>
          <p:cNvPr id="18" name="Text 16"/>
          <p:cNvSpPr/>
          <p:nvPr/>
        </p:nvSpPr>
        <p:spPr>
          <a:xfrm>
            <a:off x="4846320" y="255117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Consent management and data subject rights</a:t>
            </a:r>
            <a:endParaRPr lang="en-US" sz="1050" dirty="0"/>
          </a:p>
        </p:txBody>
      </p:sp>
      <p:sp>
        <p:nvSpPr>
          <p:cNvPr id="19" name="Shape 17"/>
          <p:cNvSpPr/>
          <p:nvPr/>
        </p:nvSpPr>
        <p:spPr>
          <a:xfrm>
            <a:off x="320040" y="310896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20" name="Shape 18"/>
          <p:cNvSpPr/>
          <p:nvPr/>
        </p:nvSpPr>
        <p:spPr>
          <a:xfrm>
            <a:off x="320040" y="3108960"/>
            <a:ext cx="4206240" cy="475488"/>
          </a:xfrm>
          <a:prstGeom prst="rect">
            <a:avLst/>
          </a:prstGeom>
          <a:solidFill>
            <a:srgbClr val="0A2342"/>
          </a:solidFill>
          <a:ln w="12700">
            <a:solidFill>
              <a:srgbClr val="0A2342"/>
            </a:solidFill>
            <a:prstDash val="solid"/>
          </a:ln>
        </p:spPr>
      </p:sp>
      <p:sp>
        <p:nvSpPr>
          <p:cNvPr id="21" name="Text 19"/>
          <p:cNvSpPr/>
          <p:nvPr/>
        </p:nvSpPr>
        <p:spPr>
          <a:xfrm>
            <a:off x="41148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Compliance Framework</a:t>
            </a:r>
            <a:endParaRPr lang="en-US" sz="1400" dirty="0"/>
          </a:p>
        </p:txBody>
      </p:sp>
      <p:sp>
        <p:nvSpPr>
          <p:cNvPr id="22" name="Text 20"/>
          <p:cNvSpPr/>
          <p:nvPr/>
        </p:nvSpPr>
        <p:spPr>
          <a:xfrm>
            <a:off x="411480" y="363016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Kenya Data Protection Act 2019 compliance</a:t>
            </a:r>
            <a:endParaRPr lang="en-US" sz="1050" dirty="0"/>
          </a:p>
        </p:txBody>
      </p:sp>
      <p:sp>
        <p:nvSpPr>
          <p:cNvPr id="23" name="Text 21"/>
          <p:cNvSpPr/>
          <p:nvPr/>
        </p:nvSpPr>
        <p:spPr>
          <a:xfrm>
            <a:off x="411480" y="398678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HIPAA-equivalent standards for donor funding</a:t>
            </a:r>
            <a:endParaRPr lang="en-US" sz="1050" dirty="0"/>
          </a:p>
        </p:txBody>
      </p:sp>
      <p:sp>
        <p:nvSpPr>
          <p:cNvPr id="24" name="Text 22"/>
          <p:cNvSpPr/>
          <p:nvPr/>
        </p:nvSpPr>
        <p:spPr>
          <a:xfrm>
            <a:off x="411480" y="434340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GDPR considerations for international research</a:t>
            </a:r>
            <a:endParaRPr lang="en-US" sz="1050" dirty="0"/>
          </a:p>
        </p:txBody>
      </p:sp>
      <p:sp>
        <p:nvSpPr>
          <p:cNvPr id="25" name="Text 23"/>
          <p:cNvSpPr/>
          <p:nvPr/>
        </p:nvSpPr>
        <p:spPr>
          <a:xfrm>
            <a:off x="411480" y="470001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Audit logs for every data access event</a:t>
            </a:r>
            <a:endParaRPr lang="en-US" sz="1050" dirty="0"/>
          </a:p>
        </p:txBody>
      </p:sp>
      <p:sp>
        <p:nvSpPr>
          <p:cNvPr id="26" name="Shape 24"/>
          <p:cNvSpPr/>
          <p:nvPr/>
        </p:nvSpPr>
        <p:spPr>
          <a:xfrm>
            <a:off x="4754880" y="310896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sp>
      <p:sp>
        <p:nvSpPr>
          <p:cNvPr id="27" name="Shape 25"/>
          <p:cNvSpPr/>
          <p:nvPr/>
        </p:nvSpPr>
        <p:spPr>
          <a:xfrm>
            <a:off x="4754880" y="3108960"/>
            <a:ext cx="4206240" cy="475488"/>
          </a:xfrm>
          <a:prstGeom prst="rect">
            <a:avLst/>
          </a:prstGeom>
          <a:solidFill>
            <a:srgbClr val="028090"/>
          </a:solidFill>
          <a:ln w="12700">
            <a:solidFill>
              <a:srgbClr val="028090"/>
            </a:solidFill>
            <a:prstDash val="solid"/>
          </a:ln>
        </p:spPr>
      </p:sp>
      <p:sp>
        <p:nvSpPr>
          <p:cNvPr id="28" name="Text 26"/>
          <p:cNvSpPr/>
          <p:nvPr/>
        </p:nvSpPr>
        <p:spPr>
          <a:xfrm>
            <a:off x="484632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Data Quality</a:t>
            </a:r>
            <a:endParaRPr lang="en-US" sz="1400" dirty="0"/>
          </a:p>
        </p:txBody>
      </p:sp>
      <p:sp>
        <p:nvSpPr>
          <p:cNvPr id="29" name="Text 27"/>
          <p:cNvSpPr/>
          <p:nvPr/>
        </p:nvSpPr>
        <p:spPr>
          <a:xfrm>
            <a:off x="4846320" y="363016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Great Expectations for automated validation</a:t>
            </a:r>
            <a:endParaRPr lang="en-US" sz="1050" dirty="0"/>
          </a:p>
        </p:txBody>
      </p:sp>
      <p:sp>
        <p:nvSpPr>
          <p:cNvPr id="30" name="Text 28"/>
          <p:cNvSpPr/>
          <p:nvPr/>
        </p:nvSpPr>
        <p:spPr>
          <a:xfrm>
            <a:off x="4846320" y="398678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Duplicate patient record detection (MPI)</a:t>
            </a:r>
            <a:endParaRPr lang="en-US" sz="1050" dirty="0"/>
          </a:p>
        </p:txBody>
      </p:sp>
      <p:sp>
        <p:nvSpPr>
          <p:cNvPr id="31" name="Text 29"/>
          <p:cNvSpPr/>
          <p:nvPr/>
        </p:nvSpPr>
        <p:spPr>
          <a:xfrm>
            <a:off x="4846320" y="434340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Completeness monitoring by facility &amp; county</a:t>
            </a:r>
            <a:endParaRPr lang="en-US" sz="1050" dirty="0"/>
          </a:p>
        </p:txBody>
      </p:sp>
      <p:sp>
        <p:nvSpPr>
          <p:cNvPr id="32" name="Text 30"/>
          <p:cNvSpPr/>
          <p:nvPr/>
        </p:nvSpPr>
        <p:spPr>
          <a:xfrm>
            <a:off x="4846320" y="470001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Data lineage tracking via Apache Atlas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Implementation Roadmap: 18-Month Plan</a:t>
            </a:r>
            <a:endParaRPr lang="en-US" sz="2400" dirty="0"/>
          </a:p>
        </p:txBody>
      </p:sp>
      <p:sp>
        <p:nvSpPr>
          <p:cNvPr id="5" name="Shape 3"/>
          <p:cNvSpPr/>
          <p:nvPr/>
        </p:nvSpPr>
        <p:spPr>
          <a:xfrm>
            <a:off x="32004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2743200" cy="658368"/>
          </a:xfrm>
          <a:prstGeom prst="rect">
            <a:avLst/>
          </a:prstGeom>
          <a:solidFill>
            <a:srgbClr val="F0C040"/>
          </a:solidFill>
          <a:ln w="12700">
            <a:solidFill>
              <a:srgbClr val="F0C040"/>
            </a:solidFill>
            <a:prstDash val="solid"/>
          </a:ln>
        </p:spPr>
      </p:sp>
      <p:sp>
        <p:nvSpPr>
          <p:cNvPr id="7" name="Text 5"/>
          <p:cNvSpPr/>
          <p:nvPr/>
        </p:nvSpPr>
        <p:spPr>
          <a:xfrm>
            <a:off x="411480" y="960120"/>
            <a:ext cx="2578608" cy="384048"/>
          </a:xfrm>
          <a:prstGeom prst="rect">
            <a:avLst/>
          </a:prstGeom>
          <a:noFill/>
          <a:ln/>
        </p:spPr>
        <p:txBody>
          <a:bodyPr wrap="square" lIns="0" tIns="0" rIns="0" bIns="0" rtlCol="0" anchor="ctr"/>
          <a:lstStyle/>
          <a:p>
            <a:pPr marL="0" indent="0">
              <a:buNone/>
            </a:pPr>
            <a:r>
              <a:rPr lang="en-US" sz="1400" b="1" dirty="0">
                <a:solidFill>
                  <a:srgbClr val="1A1A2E"/>
                </a:solidFill>
                <a:latin typeface="Georgia" pitchFamily="34" charset="0"/>
                <a:ea typeface="Georgia" pitchFamily="34" charset="-122"/>
                <a:cs typeface="Georgia" pitchFamily="34" charset="-120"/>
              </a:rPr>
              <a:t>Phase 1: Foundation</a:t>
            </a:r>
            <a:endParaRPr lang="en-US" sz="1400" dirty="0"/>
          </a:p>
        </p:txBody>
      </p:sp>
      <p:sp>
        <p:nvSpPr>
          <p:cNvPr id="8" name="Text 6"/>
          <p:cNvSpPr/>
          <p:nvPr/>
        </p:nvSpPr>
        <p:spPr>
          <a:xfrm>
            <a:off x="411480" y="1325880"/>
            <a:ext cx="2578608"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Months 1–3</a:t>
            </a:r>
            <a:endParaRPr lang="en-US" sz="1100" dirty="0"/>
          </a:p>
        </p:txBody>
      </p:sp>
      <p:sp>
        <p:nvSpPr>
          <p:cNvPr id="9" name="Text 7"/>
          <p:cNvSpPr/>
          <p:nvPr/>
        </p:nvSpPr>
        <p:spPr>
          <a:xfrm>
            <a:off x="429768" y="170078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Cloud infrastructure setup (ADLS, ADF)</a:t>
            </a:r>
            <a:endParaRPr lang="en-US" sz="1100" dirty="0"/>
          </a:p>
        </p:txBody>
      </p:sp>
      <p:sp>
        <p:nvSpPr>
          <p:cNvPr id="10" name="Text 8"/>
          <p:cNvSpPr/>
          <p:nvPr/>
        </p:nvSpPr>
        <p:spPr>
          <a:xfrm>
            <a:off x="429768" y="247802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Data governance framework &amp; policies</a:t>
            </a:r>
            <a:endParaRPr lang="en-US" sz="1100" dirty="0"/>
          </a:p>
        </p:txBody>
      </p:sp>
      <p:sp>
        <p:nvSpPr>
          <p:cNvPr id="11" name="Text 9"/>
          <p:cNvSpPr/>
          <p:nvPr/>
        </p:nvSpPr>
        <p:spPr>
          <a:xfrm>
            <a:off x="429768" y="325526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Pilot with 2 counties (Nairobi, Mombasa)</a:t>
            </a:r>
            <a:endParaRPr lang="en-US" sz="1100" dirty="0"/>
          </a:p>
        </p:txBody>
      </p:sp>
      <p:sp>
        <p:nvSpPr>
          <p:cNvPr id="12" name="Text 10"/>
          <p:cNvSpPr/>
          <p:nvPr/>
        </p:nvSpPr>
        <p:spPr>
          <a:xfrm>
            <a:off x="429768" y="403250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EHR and lab data ingestion connectors</a:t>
            </a:r>
            <a:endParaRPr lang="en-US" sz="1100" dirty="0"/>
          </a:p>
        </p:txBody>
      </p:sp>
      <p:sp>
        <p:nvSpPr>
          <p:cNvPr id="13" name="Shape 11"/>
          <p:cNvSpPr/>
          <p:nvPr/>
        </p:nvSpPr>
        <p:spPr>
          <a:xfrm>
            <a:off x="320040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4" name="Shape 12"/>
          <p:cNvSpPr/>
          <p:nvPr/>
        </p:nvSpPr>
        <p:spPr>
          <a:xfrm>
            <a:off x="3200400" y="960120"/>
            <a:ext cx="2743200" cy="658368"/>
          </a:xfrm>
          <a:prstGeom prst="rect">
            <a:avLst/>
          </a:prstGeom>
          <a:solidFill>
            <a:srgbClr val="028090"/>
          </a:solidFill>
          <a:ln w="12700">
            <a:solidFill>
              <a:srgbClr val="028090"/>
            </a:solidFill>
            <a:prstDash val="solid"/>
          </a:ln>
        </p:spPr>
      </p:sp>
      <p:sp>
        <p:nvSpPr>
          <p:cNvPr id="15" name="Text 13"/>
          <p:cNvSpPr/>
          <p:nvPr/>
        </p:nvSpPr>
        <p:spPr>
          <a:xfrm>
            <a:off x="3291840" y="960120"/>
            <a:ext cx="2578608" cy="38404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Phase 2: Scale &amp; Enrich</a:t>
            </a:r>
            <a:endParaRPr lang="en-US" sz="1400" dirty="0"/>
          </a:p>
        </p:txBody>
      </p:sp>
      <p:sp>
        <p:nvSpPr>
          <p:cNvPr id="16" name="Text 14"/>
          <p:cNvSpPr/>
          <p:nvPr/>
        </p:nvSpPr>
        <p:spPr>
          <a:xfrm>
            <a:off x="3291840" y="1325880"/>
            <a:ext cx="2578608" cy="256032"/>
          </a:xfrm>
          <a:prstGeom prst="rect">
            <a:avLst/>
          </a:prstGeom>
          <a:noFill/>
          <a:ln/>
        </p:spPr>
        <p:txBody>
          <a:bodyPr wrap="square" lIns="0" tIns="0" rIns="0" bIns="0" rtlCol="0" anchor="ctr"/>
          <a:lstStyle/>
          <a:p>
            <a:pPr marL="0" indent="0">
              <a:buNone/>
            </a:pPr>
            <a:r>
              <a:rPr lang="en-US" sz="1100" i="1" dirty="0">
                <a:solidFill>
                  <a:srgbClr val="CCFFEE"/>
                </a:solidFill>
                <a:latin typeface="Calibri" pitchFamily="34" charset="0"/>
                <a:ea typeface="Calibri" pitchFamily="34" charset="-122"/>
                <a:cs typeface="Calibri" pitchFamily="34" charset="-120"/>
              </a:rPr>
              <a:t>Months 4–9</a:t>
            </a:r>
            <a:endParaRPr lang="en-US" sz="1100" dirty="0"/>
          </a:p>
        </p:txBody>
      </p:sp>
      <p:sp>
        <p:nvSpPr>
          <p:cNvPr id="17" name="Text 15"/>
          <p:cNvSpPr/>
          <p:nvPr/>
        </p:nvSpPr>
        <p:spPr>
          <a:xfrm>
            <a:off x="3310128" y="170078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Roll out to all 47 counties</a:t>
            </a:r>
            <a:endParaRPr lang="en-US" sz="1100" dirty="0"/>
          </a:p>
        </p:txBody>
      </p:sp>
      <p:sp>
        <p:nvSpPr>
          <p:cNvPr id="18" name="Text 16"/>
          <p:cNvSpPr/>
          <p:nvPr/>
        </p:nvSpPr>
        <p:spPr>
          <a:xfrm>
            <a:off x="3310128" y="247802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Add CHW mobile data &amp; vaccination registry</a:t>
            </a:r>
            <a:endParaRPr lang="en-US" sz="1100" dirty="0"/>
          </a:p>
        </p:txBody>
      </p:sp>
      <p:sp>
        <p:nvSpPr>
          <p:cNvPr id="19" name="Text 17"/>
          <p:cNvSpPr/>
          <p:nvPr/>
        </p:nvSpPr>
        <p:spPr>
          <a:xfrm>
            <a:off x="3310128" y="325526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Bronze → Silver processing pipelines</a:t>
            </a:r>
            <a:endParaRPr lang="en-US" sz="1100" dirty="0"/>
          </a:p>
        </p:txBody>
      </p:sp>
      <p:sp>
        <p:nvSpPr>
          <p:cNvPr id="20" name="Text 18"/>
          <p:cNvSpPr/>
          <p:nvPr/>
        </p:nvSpPr>
        <p:spPr>
          <a:xfrm>
            <a:off x="3310128" y="403250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DHIS2 integration &amp; dashboards live</a:t>
            </a:r>
            <a:endParaRPr lang="en-US" sz="1100" dirty="0"/>
          </a:p>
        </p:txBody>
      </p:sp>
      <p:sp>
        <p:nvSpPr>
          <p:cNvPr id="21" name="Shape 19"/>
          <p:cNvSpPr/>
          <p:nvPr/>
        </p:nvSpPr>
        <p:spPr>
          <a:xfrm>
            <a:off x="608076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2" name="Shape 20"/>
          <p:cNvSpPr/>
          <p:nvPr/>
        </p:nvSpPr>
        <p:spPr>
          <a:xfrm>
            <a:off x="6080760" y="960120"/>
            <a:ext cx="2743200" cy="658368"/>
          </a:xfrm>
          <a:prstGeom prst="rect">
            <a:avLst/>
          </a:prstGeom>
          <a:solidFill>
            <a:srgbClr val="0A2342"/>
          </a:solidFill>
          <a:ln w="12700">
            <a:solidFill>
              <a:srgbClr val="0A2342"/>
            </a:solidFill>
            <a:prstDash val="solid"/>
          </a:ln>
        </p:spPr>
      </p:sp>
      <p:sp>
        <p:nvSpPr>
          <p:cNvPr id="23" name="Text 21"/>
          <p:cNvSpPr/>
          <p:nvPr/>
        </p:nvSpPr>
        <p:spPr>
          <a:xfrm>
            <a:off x="6172200" y="960120"/>
            <a:ext cx="2578608" cy="38404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Phase 3: Intelligence</a:t>
            </a:r>
            <a:endParaRPr lang="en-US" sz="1400" dirty="0"/>
          </a:p>
        </p:txBody>
      </p:sp>
      <p:sp>
        <p:nvSpPr>
          <p:cNvPr id="24" name="Text 22"/>
          <p:cNvSpPr/>
          <p:nvPr/>
        </p:nvSpPr>
        <p:spPr>
          <a:xfrm>
            <a:off x="6172200" y="1325880"/>
            <a:ext cx="2578608" cy="256032"/>
          </a:xfrm>
          <a:prstGeom prst="rect">
            <a:avLst/>
          </a:prstGeom>
          <a:noFill/>
          <a:ln/>
        </p:spPr>
        <p:txBody>
          <a:bodyPr wrap="square" lIns="0" tIns="0" rIns="0" bIns="0" rtlCol="0" anchor="ctr"/>
          <a:lstStyle/>
          <a:p>
            <a:pPr marL="0" indent="0">
              <a:buNone/>
            </a:pPr>
            <a:r>
              <a:rPr lang="en-US" sz="1100" i="1" dirty="0">
                <a:solidFill>
                  <a:srgbClr val="CCFFEE"/>
                </a:solidFill>
                <a:latin typeface="Calibri" pitchFamily="34" charset="0"/>
                <a:ea typeface="Calibri" pitchFamily="34" charset="-122"/>
                <a:cs typeface="Calibri" pitchFamily="34" charset="-120"/>
              </a:rPr>
              <a:t>Months 10–18</a:t>
            </a:r>
            <a:endParaRPr lang="en-US" sz="1100" dirty="0"/>
          </a:p>
        </p:txBody>
      </p:sp>
      <p:sp>
        <p:nvSpPr>
          <p:cNvPr id="25" name="Text 23"/>
          <p:cNvSpPr/>
          <p:nvPr/>
        </p:nvSpPr>
        <p:spPr>
          <a:xfrm>
            <a:off x="6190488" y="170078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Gold layer ML feature store</a:t>
            </a:r>
            <a:endParaRPr lang="en-US" sz="1100" dirty="0"/>
          </a:p>
        </p:txBody>
      </p:sp>
      <p:sp>
        <p:nvSpPr>
          <p:cNvPr id="26" name="Text 24"/>
          <p:cNvSpPr/>
          <p:nvPr/>
        </p:nvSpPr>
        <p:spPr>
          <a:xfrm>
            <a:off x="6190488" y="247802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Outbreak detection ML model deployment</a:t>
            </a:r>
            <a:endParaRPr lang="en-US" sz="1100" dirty="0"/>
          </a:p>
        </p:txBody>
      </p:sp>
      <p:sp>
        <p:nvSpPr>
          <p:cNvPr id="27" name="Text 25"/>
          <p:cNvSpPr/>
          <p:nvPr/>
        </p:nvSpPr>
        <p:spPr>
          <a:xfrm>
            <a:off x="6190488" y="325526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Self-service analytics for county teams</a:t>
            </a:r>
            <a:endParaRPr lang="en-US" sz="1100" dirty="0"/>
          </a:p>
        </p:txBody>
      </p:sp>
      <p:sp>
        <p:nvSpPr>
          <p:cNvPr id="28" name="Text 26"/>
          <p:cNvSpPr/>
          <p:nvPr/>
        </p:nvSpPr>
        <p:spPr>
          <a:xfrm>
            <a:off x="6190488" y="403250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Remote sensing &amp; environmental data layer</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sp>
      <p:sp>
        <p:nvSpPr>
          <p:cNvPr id="3" name="Shape 1"/>
          <p:cNvSpPr/>
          <p:nvPr/>
        </p:nvSpPr>
        <p:spPr>
          <a:xfrm>
            <a:off x="0" y="0"/>
            <a:ext cx="109728" cy="868680"/>
          </a:xfrm>
          <a:prstGeom prst="rect">
            <a:avLst/>
          </a:prstGeom>
          <a:solidFill>
            <a:srgbClr val="02C39A"/>
          </a:solidFill>
          <a:ln w="12700">
            <a:solidFill>
              <a:srgbClr val="02C39A"/>
            </a:solidFill>
            <a:prstDash val="solid"/>
          </a:ln>
        </p:spPr>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Expected Outcomes &amp; Impact</a:t>
            </a:r>
            <a:endParaRPr lang="en-US" sz="2400" dirty="0"/>
          </a:p>
        </p:txBody>
      </p:sp>
      <p:sp>
        <p:nvSpPr>
          <p:cNvPr id="5" name="Shape 3"/>
          <p:cNvSpPr/>
          <p:nvPr/>
        </p:nvSpPr>
        <p:spPr>
          <a:xfrm>
            <a:off x="320040" y="96012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6" name="Shape 4"/>
          <p:cNvSpPr/>
          <p:nvPr/>
        </p:nvSpPr>
        <p:spPr>
          <a:xfrm>
            <a:off x="320040" y="960120"/>
            <a:ext cx="4206240" cy="475488"/>
          </a:xfrm>
          <a:prstGeom prst="rect">
            <a:avLst/>
          </a:prstGeom>
          <a:solidFill>
            <a:srgbClr val="0A2342"/>
          </a:solidFill>
          <a:ln w="12700">
            <a:solidFill>
              <a:srgbClr val="0A2342"/>
            </a:solidFill>
            <a:prstDash val="solid"/>
          </a:ln>
        </p:spPr>
      </p:sp>
      <p:sp>
        <p:nvSpPr>
          <p:cNvPr id="7" name="Text 5"/>
          <p:cNvSpPr/>
          <p:nvPr/>
        </p:nvSpPr>
        <p:spPr>
          <a:xfrm>
            <a:off x="41148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Operational Outcomes</a:t>
            </a:r>
            <a:endParaRPr lang="en-US" sz="1400" dirty="0"/>
          </a:p>
        </p:txBody>
      </p:sp>
      <p:sp>
        <p:nvSpPr>
          <p:cNvPr id="8" name="Text 6"/>
          <p:cNvSpPr/>
          <p:nvPr/>
        </p:nvSpPr>
        <p:spPr>
          <a:xfrm>
            <a:off x="411480" y="149047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Outbreak detection time: weeks → hours</a:t>
            </a:r>
            <a:endParaRPr lang="en-US" sz="1100" dirty="0"/>
          </a:p>
        </p:txBody>
      </p:sp>
      <p:sp>
        <p:nvSpPr>
          <p:cNvPr id="9" name="Text 7"/>
          <p:cNvSpPr/>
          <p:nvPr/>
        </p:nvSpPr>
        <p:spPr>
          <a:xfrm>
            <a:off x="411480" y="196596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Unified patient view across 47 counties</a:t>
            </a:r>
            <a:endParaRPr lang="en-US" sz="1100" dirty="0"/>
          </a:p>
        </p:txBody>
      </p:sp>
      <p:sp>
        <p:nvSpPr>
          <p:cNvPr id="10" name="Text 8"/>
          <p:cNvSpPr/>
          <p:nvPr/>
        </p:nvSpPr>
        <p:spPr>
          <a:xfrm>
            <a:off x="411480" y="244144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Automated weekly disease reports (was manual)</a:t>
            </a:r>
            <a:endParaRPr lang="en-US" sz="1100" dirty="0"/>
          </a:p>
        </p:txBody>
      </p:sp>
      <p:sp>
        <p:nvSpPr>
          <p:cNvPr id="11" name="Shape 9"/>
          <p:cNvSpPr/>
          <p:nvPr/>
        </p:nvSpPr>
        <p:spPr>
          <a:xfrm>
            <a:off x="4754880" y="96012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2" name="Shape 10"/>
          <p:cNvSpPr/>
          <p:nvPr/>
        </p:nvSpPr>
        <p:spPr>
          <a:xfrm>
            <a:off x="4754880" y="960120"/>
            <a:ext cx="4206240" cy="475488"/>
          </a:xfrm>
          <a:prstGeom prst="rect">
            <a:avLst/>
          </a:prstGeom>
          <a:solidFill>
            <a:srgbClr val="028090"/>
          </a:solidFill>
          <a:ln w="12700">
            <a:solidFill>
              <a:srgbClr val="028090"/>
            </a:solidFill>
            <a:prstDash val="solid"/>
          </a:ln>
        </p:spPr>
      </p:sp>
      <p:sp>
        <p:nvSpPr>
          <p:cNvPr id="13" name="Text 11"/>
          <p:cNvSpPr/>
          <p:nvPr/>
        </p:nvSpPr>
        <p:spPr>
          <a:xfrm>
            <a:off x="484632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Clinical Outcomes</a:t>
            </a:r>
            <a:endParaRPr lang="en-US" sz="1400" dirty="0"/>
          </a:p>
        </p:txBody>
      </p:sp>
      <p:sp>
        <p:nvSpPr>
          <p:cNvPr id="14" name="Text 12"/>
          <p:cNvSpPr/>
          <p:nvPr/>
        </p:nvSpPr>
        <p:spPr>
          <a:xfrm>
            <a:off x="4846320" y="149047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Better tracking of chronic disease patients</a:t>
            </a:r>
            <a:endParaRPr lang="en-US" sz="1100" dirty="0"/>
          </a:p>
        </p:txBody>
      </p:sp>
      <p:sp>
        <p:nvSpPr>
          <p:cNvPr id="15" name="Text 13"/>
          <p:cNvSpPr/>
          <p:nvPr/>
        </p:nvSpPr>
        <p:spPr>
          <a:xfrm>
            <a:off x="4846320" y="196596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Improved vaccine coverage monitoring</a:t>
            </a:r>
            <a:endParaRPr lang="en-US" sz="1100" dirty="0"/>
          </a:p>
        </p:txBody>
      </p:sp>
      <p:sp>
        <p:nvSpPr>
          <p:cNvPr id="16" name="Text 14"/>
          <p:cNvSpPr/>
          <p:nvPr/>
        </p:nvSpPr>
        <p:spPr>
          <a:xfrm>
            <a:off x="4846320" y="244144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Real-time ICU/bed capacity visibility</a:t>
            </a:r>
            <a:endParaRPr lang="en-US" sz="1100" dirty="0"/>
          </a:p>
        </p:txBody>
      </p:sp>
      <p:sp>
        <p:nvSpPr>
          <p:cNvPr id="17" name="Shape 15"/>
          <p:cNvSpPr/>
          <p:nvPr/>
        </p:nvSpPr>
        <p:spPr>
          <a:xfrm>
            <a:off x="320040" y="310896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18" name="Shape 16"/>
          <p:cNvSpPr/>
          <p:nvPr/>
        </p:nvSpPr>
        <p:spPr>
          <a:xfrm>
            <a:off x="320040" y="3108960"/>
            <a:ext cx="4206240" cy="475488"/>
          </a:xfrm>
          <a:prstGeom prst="rect">
            <a:avLst/>
          </a:prstGeom>
          <a:solidFill>
            <a:srgbClr val="0A2342"/>
          </a:solidFill>
          <a:ln w="12700">
            <a:solidFill>
              <a:srgbClr val="0A2342"/>
            </a:solidFill>
            <a:prstDash val="solid"/>
          </a:ln>
        </p:spPr>
      </p:sp>
      <p:sp>
        <p:nvSpPr>
          <p:cNvPr id="19" name="Text 17"/>
          <p:cNvSpPr/>
          <p:nvPr/>
        </p:nvSpPr>
        <p:spPr>
          <a:xfrm>
            <a:off x="41148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Policy Outcomes</a:t>
            </a:r>
            <a:endParaRPr lang="en-US" sz="1400" dirty="0"/>
          </a:p>
        </p:txBody>
      </p:sp>
      <p:sp>
        <p:nvSpPr>
          <p:cNvPr id="20" name="Text 18"/>
          <p:cNvSpPr/>
          <p:nvPr/>
        </p:nvSpPr>
        <p:spPr>
          <a:xfrm>
            <a:off x="411480" y="363931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Evidence-based budget allocation</a:t>
            </a:r>
            <a:endParaRPr lang="en-US" sz="1100" dirty="0"/>
          </a:p>
        </p:txBody>
      </p:sp>
      <p:sp>
        <p:nvSpPr>
          <p:cNvPr id="21" name="Text 19"/>
          <p:cNvSpPr/>
          <p:nvPr/>
        </p:nvSpPr>
        <p:spPr>
          <a:xfrm>
            <a:off x="411480" y="411480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County-level health equity analysis</a:t>
            </a:r>
            <a:endParaRPr lang="en-US" sz="1100" dirty="0"/>
          </a:p>
        </p:txBody>
      </p:sp>
      <p:sp>
        <p:nvSpPr>
          <p:cNvPr id="22" name="Text 20"/>
          <p:cNvSpPr/>
          <p:nvPr/>
        </p:nvSpPr>
        <p:spPr>
          <a:xfrm>
            <a:off x="411480" y="459028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30-year disease trend longitudinal studies</a:t>
            </a:r>
            <a:endParaRPr lang="en-US" sz="1100" dirty="0"/>
          </a:p>
        </p:txBody>
      </p:sp>
      <p:sp>
        <p:nvSpPr>
          <p:cNvPr id="23" name="Shape 21"/>
          <p:cNvSpPr/>
          <p:nvPr/>
        </p:nvSpPr>
        <p:spPr>
          <a:xfrm>
            <a:off x="4754880" y="310896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sp>
      <p:sp>
        <p:nvSpPr>
          <p:cNvPr id="24" name="Shape 22"/>
          <p:cNvSpPr/>
          <p:nvPr/>
        </p:nvSpPr>
        <p:spPr>
          <a:xfrm>
            <a:off x="4754880" y="3108960"/>
            <a:ext cx="4206240" cy="475488"/>
          </a:xfrm>
          <a:prstGeom prst="rect">
            <a:avLst/>
          </a:prstGeom>
          <a:solidFill>
            <a:srgbClr val="028090"/>
          </a:solidFill>
          <a:ln w="12700">
            <a:solidFill>
              <a:srgbClr val="028090"/>
            </a:solidFill>
            <a:prstDash val="solid"/>
          </a:ln>
        </p:spPr>
      </p:sp>
      <p:sp>
        <p:nvSpPr>
          <p:cNvPr id="25" name="Text 23"/>
          <p:cNvSpPr/>
          <p:nvPr/>
        </p:nvSpPr>
        <p:spPr>
          <a:xfrm>
            <a:off x="484632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Research Outcomes</a:t>
            </a:r>
            <a:endParaRPr lang="en-US" sz="1400" dirty="0"/>
          </a:p>
        </p:txBody>
      </p:sp>
      <p:sp>
        <p:nvSpPr>
          <p:cNvPr id="26" name="Text 24"/>
          <p:cNvSpPr/>
          <p:nvPr/>
        </p:nvSpPr>
        <p:spPr>
          <a:xfrm>
            <a:off x="4846320" y="363931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Anonymized datasets for academic research</a:t>
            </a:r>
            <a:endParaRPr lang="en-US" sz="1100" dirty="0"/>
          </a:p>
        </p:txBody>
      </p:sp>
      <p:sp>
        <p:nvSpPr>
          <p:cNvPr id="27" name="Text 25"/>
          <p:cNvSpPr/>
          <p:nvPr/>
        </p:nvSpPr>
        <p:spPr>
          <a:xfrm>
            <a:off x="4846320" y="411480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AI models for disease prediction</a:t>
            </a:r>
            <a:endParaRPr lang="en-US" sz="1100" dirty="0"/>
          </a:p>
        </p:txBody>
      </p:sp>
      <p:sp>
        <p:nvSpPr>
          <p:cNvPr id="28" name="Text 26"/>
          <p:cNvSpPr/>
          <p:nvPr/>
        </p:nvSpPr>
        <p:spPr>
          <a:xfrm>
            <a:off x="4846320" y="459028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Cross-border disease corridor mapping</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sp>
      <p:sp>
        <p:nvSpPr>
          <p:cNvPr id="6" name="Text 4"/>
          <p:cNvSpPr/>
          <p:nvPr/>
        </p:nvSpPr>
        <p:spPr>
          <a:xfrm>
            <a:off x="548640" y="19202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Key Takeaways</a:t>
            </a:r>
            <a:endParaRPr lang="en-US" sz="4200" dirty="0"/>
          </a:p>
        </p:txBody>
      </p:sp>
      <p:sp>
        <p:nvSpPr>
          <p:cNvPr id="7" name="Shape 5"/>
          <p:cNvSpPr/>
          <p:nvPr/>
        </p:nvSpPr>
        <p:spPr>
          <a:xfrm>
            <a:off x="457200" y="1005840"/>
            <a:ext cx="8229600" cy="713232"/>
          </a:xfrm>
          <a:prstGeom prst="rect">
            <a:avLst/>
          </a:prstGeom>
          <a:solidFill>
            <a:srgbClr val="028090">
              <a:alpha val="70000"/>
            </a:srgbClr>
          </a:solidFill>
          <a:ln w="6350">
            <a:solidFill>
              <a:srgbClr val="00A896"/>
            </a:solidFill>
            <a:prstDash val="solid"/>
          </a:ln>
        </p:spPr>
      </p:sp>
      <p:sp>
        <p:nvSpPr>
          <p:cNvPr id="8" name="Shape 6"/>
          <p:cNvSpPr/>
          <p:nvPr/>
        </p:nvSpPr>
        <p:spPr>
          <a:xfrm>
            <a:off x="548640" y="1133856"/>
            <a:ext cx="457200" cy="457200"/>
          </a:xfrm>
          <a:prstGeom prst="ellipse">
            <a:avLst/>
          </a:prstGeom>
          <a:solidFill>
            <a:srgbClr val="F0C040"/>
          </a:solidFill>
          <a:ln w="12700">
            <a:solidFill>
              <a:srgbClr val="F0C040"/>
            </a:solidFill>
            <a:prstDash val="solid"/>
          </a:ln>
        </p:spPr>
      </p:sp>
      <p:sp>
        <p:nvSpPr>
          <p:cNvPr id="9" name="Text 7"/>
          <p:cNvSpPr/>
          <p:nvPr/>
        </p:nvSpPr>
        <p:spPr>
          <a:xfrm>
            <a:off x="548640" y="1133856"/>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1</a:t>
            </a:r>
            <a:endParaRPr lang="en-US" sz="1400" dirty="0"/>
          </a:p>
        </p:txBody>
      </p:sp>
      <p:sp>
        <p:nvSpPr>
          <p:cNvPr id="10" name="Text 8"/>
          <p:cNvSpPr/>
          <p:nvPr/>
        </p:nvSpPr>
        <p:spPr>
          <a:xfrm>
            <a:off x="1143000" y="1170432"/>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NoSQL Origin: </a:t>
            </a:r>
            <a:endParaRPr lang="en-US" sz="1300" dirty="0"/>
          </a:p>
        </p:txBody>
      </p:sp>
      <p:sp>
        <p:nvSpPr>
          <p:cNvPr id="11" name="Text 9"/>
          <p:cNvSpPr/>
          <p:nvPr/>
        </p:nvSpPr>
        <p:spPr>
          <a:xfrm>
            <a:off x="3017520" y="1170432"/>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Born from internet-scale challenges; not a replacement for SQL but a complement.</a:t>
            </a:r>
            <a:endParaRPr lang="en-US" sz="1200" dirty="0"/>
          </a:p>
        </p:txBody>
      </p:sp>
      <p:sp>
        <p:nvSpPr>
          <p:cNvPr id="12" name="Shape 10"/>
          <p:cNvSpPr/>
          <p:nvPr/>
        </p:nvSpPr>
        <p:spPr>
          <a:xfrm>
            <a:off x="457200" y="1810512"/>
            <a:ext cx="8229600" cy="713232"/>
          </a:xfrm>
          <a:prstGeom prst="rect">
            <a:avLst/>
          </a:prstGeom>
          <a:solidFill>
            <a:srgbClr val="028090">
              <a:alpha val="70000"/>
            </a:srgbClr>
          </a:solidFill>
          <a:ln w="6350">
            <a:solidFill>
              <a:srgbClr val="00A896"/>
            </a:solidFill>
            <a:prstDash val="solid"/>
          </a:ln>
        </p:spPr>
      </p:sp>
      <p:sp>
        <p:nvSpPr>
          <p:cNvPr id="13" name="Shape 11"/>
          <p:cNvSpPr/>
          <p:nvPr/>
        </p:nvSpPr>
        <p:spPr>
          <a:xfrm>
            <a:off x="548640" y="1938528"/>
            <a:ext cx="457200" cy="457200"/>
          </a:xfrm>
          <a:prstGeom prst="ellipse">
            <a:avLst/>
          </a:prstGeom>
          <a:solidFill>
            <a:srgbClr val="F0C040"/>
          </a:solidFill>
          <a:ln w="12700">
            <a:solidFill>
              <a:srgbClr val="F0C040"/>
            </a:solidFill>
            <a:prstDash val="solid"/>
          </a:ln>
        </p:spPr>
      </p:sp>
      <p:sp>
        <p:nvSpPr>
          <p:cNvPr id="14" name="Text 12"/>
          <p:cNvSpPr/>
          <p:nvPr/>
        </p:nvSpPr>
        <p:spPr>
          <a:xfrm>
            <a:off x="548640" y="1938528"/>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1143000" y="1975104"/>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Model Matters: </a:t>
            </a:r>
            <a:endParaRPr lang="en-US" sz="1300" dirty="0"/>
          </a:p>
        </p:txBody>
      </p:sp>
      <p:sp>
        <p:nvSpPr>
          <p:cNvPr id="16" name="Text 14"/>
          <p:cNvSpPr/>
          <p:nvPr/>
        </p:nvSpPr>
        <p:spPr>
          <a:xfrm>
            <a:off x="3017520" y="1975104"/>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Choose your NoSQL type (Document/K-V/Column/Graph) based on your data access pattern.</a:t>
            </a:r>
            <a:endParaRPr lang="en-US" sz="1200" dirty="0"/>
          </a:p>
        </p:txBody>
      </p:sp>
      <p:sp>
        <p:nvSpPr>
          <p:cNvPr id="17" name="Shape 15"/>
          <p:cNvSpPr/>
          <p:nvPr/>
        </p:nvSpPr>
        <p:spPr>
          <a:xfrm>
            <a:off x="457200" y="2615184"/>
            <a:ext cx="8229600" cy="713232"/>
          </a:xfrm>
          <a:prstGeom prst="rect">
            <a:avLst/>
          </a:prstGeom>
          <a:solidFill>
            <a:srgbClr val="028090">
              <a:alpha val="70000"/>
            </a:srgbClr>
          </a:solidFill>
          <a:ln w="6350">
            <a:solidFill>
              <a:srgbClr val="00A896"/>
            </a:solidFill>
            <a:prstDash val="solid"/>
          </a:ln>
        </p:spPr>
      </p:sp>
      <p:sp>
        <p:nvSpPr>
          <p:cNvPr id="18" name="Shape 16"/>
          <p:cNvSpPr/>
          <p:nvPr/>
        </p:nvSpPr>
        <p:spPr>
          <a:xfrm>
            <a:off x="548640" y="2743200"/>
            <a:ext cx="457200" cy="457200"/>
          </a:xfrm>
          <a:prstGeom prst="ellipse">
            <a:avLst/>
          </a:prstGeom>
          <a:solidFill>
            <a:srgbClr val="F0C040"/>
          </a:solidFill>
          <a:ln w="12700">
            <a:solidFill>
              <a:srgbClr val="F0C040"/>
            </a:solidFill>
            <a:prstDash val="solid"/>
          </a:ln>
        </p:spPr>
      </p:sp>
      <p:sp>
        <p:nvSpPr>
          <p:cNvPr id="19" name="Text 17"/>
          <p:cNvSpPr/>
          <p:nvPr/>
        </p:nvSpPr>
        <p:spPr>
          <a:xfrm>
            <a:off x="548640" y="2743200"/>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3</a:t>
            </a:r>
            <a:endParaRPr lang="en-US" sz="1400" dirty="0"/>
          </a:p>
        </p:txBody>
      </p:sp>
      <p:sp>
        <p:nvSpPr>
          <p:cNvPr id="20" name="Text 18"/>
          <p:cNvSpPr/>
          <p:nvPr/>
        </p:nvSpPr>
        <p:spPr>
          <a:xfrm>
            <a:off x="1143000" y="2779776"/>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Data Lakes: </a:t>
            </a:r>
            <a:endParaRPr lang="en-US" sz="1300" dirty="0"/>
          </a:p>
        </p:txBody>
      </p:sp>
      <p:sp>
        <p:nvSpPr>
          <p:cNvPr id="21" name="Text 19"/>
          <p:cNvSpPr/>
          <p:nvPr/>
        </p:nvSpPr>
        <p:spPr>
          <a:xfrm>
            <a:off x="3017520" y="2779776"/>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schema-on-read, raw-first repository that serves all users — analysts, scientists, ML engineers.</a:t>
            </a:r>
            <a:endParaRPr lang="en-US" sz="1200" dirty="0"/>
          </a:p>
        </p:txBody>
      </p:sp>
      <p:sp>
        <p:nvSpPr>
          <p:cNvPr id="22" name="Shape 20"/>
          <p:cNvSpPr/>
          <p:nvPr/>
        </p:nvSpPr>
        <p:spPr>
          <a:xfrm>
            <a:off x="457200" y="3419856"/>
            <a:ext cx="8229600" cy="713232"/>
          </a:xfrm>
          <a:prstGeom prst="rect">
            <a:avLst/>
          </a:prstGeom>
          <a:solidFill>
            <a:srgbClr val="028090">
              <a:alpha val="70000"/>
            </a:srgbClr>
          </a:solidFill>
          <a:ln w="6350">
            <a:solidFill>
              <a:srgbClr val="00A896"/>
            </a:solidFill>
            <a:prstDash val="solid"/>
          </a:ln>
        </p:spPr>
      </p:sp>
      <p:sp>
        <p:nvSpPr>
          <p:cNvPr id="23" name="Shape 21"/>
          <p:cNvSpPr/>
          <p:nvPr/>
        </p:nvSpPr>
        <p:spPr>
          <a:xfrm>
            <a:off x="548640" y="3547872"/>
            <a:ext cx="457200" cy="457200"/>
          </a:xfrm>
          <a:prstGeom prst="ellipse">
            <a:avLst/>
          </a:prstGeom>
          <a:solidFill>
            <a:srgbClr val="F0C040"/>
          </a:solidFill>
          <a:ln w="12700">
            <a:solidFill>
              <a:srgbClr val="F0C040"/>
            </a:solidFill>
            <a:prstDash val="solid"/>
          </a:ln>
        </p:spPr>
      </p:sp>
      <p:sp>
        <p:nvSpPr>
          <p:cNvPr id="24" name="Text 22"/>
          <p:cNvSpPr/>
          <p:nvPr/>
        </p:nvSpPr>
        <p:spPr>
          <a:xfrm>
            <a:off x="548640" y="3547872"/>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4</a:t>
            </a:r>
            <a:endParaRPr lang="en-US" sz="1400" dirty="0"/>
          </a:p>
        </p:txBody>
      </p:sp>
      <p:sp>
        <p:nvSpPr>
          <p:cNvPr id="25" name="Text 23"/>
          <p:cNvSpPr/>
          <p:nvPr/>
        </p:nvSpPr>
        <p:spPr>
          <a:xfrm>
            <a:off x="1143000" y="3584448"/>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Lakehouse: </a:t>
            </a:r>
            <a:endParaRPr lang="en-US" sz="1300" dirty="0"/>
          </a:p>
        </p:txBody>
      </p:sp>
      <p:sp>
        <p:nvSpPr>
          <p:cNvPr id="26" name="Text 24"/>
          <p:cNvSpPr/>
          <p:nvPr/>
        </p:nvSpPr>
        <p:spPr>
          <a:xfrm>
            <a:off x="3017520" y="3584448"/>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modern standard — lake flexibility + warehouse reliability via Delta Lake / Iceberg.</a:t>
            </a:r>
            <a:endParaRPr lang="en-US" sz="1200" dirty="0"/>
          </a:p>
        </p:txBody>
      </p:sp>
      <p:sp>
        <p:nvSpPr>
          <p:cNvPr id="27" name="Shape 25"/>
          <p:cNvSpPr/>
          <p:nvPr/>
        </p:nvSpPr>
        <p:spPr>
          <a:xfrm>
            <a:off x="457200" y="4224528"/>
            <a:ext cx="8229600" cy="713232"/>
          </a:xfrm>
          <a:prstGeom prst="rect">
            <a:avLst/>
          </a:prstGeom>
          <a:solidFill>
            <a:srgbClr val="028090">
              <a:alpha val="70000"/>
            </a:srgbClr>
          </a:solidFill>
          <a:ln w="6350">
            <a:solidFill>
              <a:srgbClr val="00A896"/>
            </a:solidFill>
            <a:prstDash val="solid"/>
          </a:ln>
        </p:spPr>
      </p:sp>
      <p:sp>
        <p:nvSpPr>
          <p:cNvPr id="28" name="Shape 26"/>
          <p:cNvSpPr/>
          <p:nvPr/>
        </p:nvSpPr>
        <p:spPr>
          <a:xfrm>
            <a:off x="548640" y="4352544"/>
            <a:ext cx="457200" cy="457200"/>
          </a:xfrm>
          <a:prstGeom prst="ellipse">
            <a:avLst/>
          </a:prstGeom>
          <a:solidFill>
            <a:srgbClr val="F0C040"/>
          </a:solidFill>
          <a:ln w="12700">
            <a:solidFill>
              <a:srgbClr val="F0C040"/>
            </a:solidFill>
            <a:prstDash val="solid"/>
          </a:ln>
        </p:spPr>
      </p:sp>
      <p:sp>
        <p:nvSpPr>
          <p:cNvPr id="29" name="Text 27"/>
          <p:cNvSpPr/>
          <p:nvPr/>
        </p:nvSpPr>
        <p:spPr>
          <a:xfrm>
            <a:off x="548640" y="4352544"/>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5</a:t>
            </a:r>
            <a:endParaRPr lang="en-US" sz="1400" dirty="0"/>
          </a:p>
        </p:txBody>
      </p:sp>
      <p:sp>
        <p:nvSpPr>
          <p:cNvPr id="30" name="Text 28"/>
          <p:cNvSpPr/>
          <p:nvPr/>
        </p:nvSpPr>
        <p:spPr>
          <a:xfrm>
            <a:off x="1143000" y="4389120"/>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Health Context: </a:t>
            </a:r>
            <a:endParaRPr lang="en-US" sz="1300" dirty="0"/>
          </a:p>
        </p:txBody>
      </p:sp>
      <p:sp>
        <p:nvSpPr>
          <p:cNvPr id="31" name="Text 29"/>
          <p:cNvSpPr/>
          <p:nvPr/>
        </p:nvSpPr>
        <p:spPr>
          <a:xfrm>
            <a:off x="3017520" y="4389120"/>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Public health data is diverse, sensitive, and life-critical — requiring both NoSQL and lake strategies.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sp>
      <p:sp>
        <p:nvSpPr>
          <p:cNvPr id="4" name="Shape 2"/>
          <p:cNvSpPr/>
          <p:nvPr/>
        </p:nvSpPr>
        <p:spPr>
          <a:xfrm>
            <a:off x="6400800" y="-1097280"/>
            <a:ext cx="4572000" cy="4572000"/>
          </a:xfrm>
          <a:prstGeom prst="ellipse">
            <a:avLst/>
          </a:prstGeom>
          <a:solidFill>
            <a:srgbClr val="028090">
              <a:alpha val="20000"/>
            </a:srgbClr>
          </a:solidFill>
          <a:ln w="12700">
            <a:solidFill>
              <a:srgbClr val="028090">
                <a:alpha val="20000"/>
              </a:srgbClr>
            </a:solidFill>
            <a:prstDash val="solid"/>
          </a:ln>
        </p:spPr>
      </p:sp>
      <p:sp>
        <p:nvSpPr>
          <p:cNvPr id="5" name="Shape 3"/>
          <p:cNvSpPr/>
          <p:nvPr/>
        </p:nvSpPr>
        <p:spPr>
          <a:xfrm>
            <a:off x="-1828800" y="2926080"/>
            <a:ext cx="4114800" cy="4114800"/>
          </a:xfrm>
          <a:prstGeom prst="ellipse">
            <a:avLst/>
          </a:prstGeom>
          <a:solidFill>
            <a:srgbClr val="00A896">
              <a:alpha val="17000"/>
            </a:srgbClr>
          </a:solidFill>
          <a:ln w="12700">
            <a:solidFill>
              <a:srgbClr val="00A896">
                <a:alpha val="17000"/>
              </a:srgbClr>
            </a:solidFill>
            <a:prstDash val="solid"/>
          </a:ln>
        </p:spPr>
      </p:sp>
      <p:sp>
        <p:nvSpPr>
          <p:cNvPr id="6" name="Text 4"/>
          <p:cNvSpPr/>
          <p:nvPr/>
        </p:nvSpPr>
        <p:spPr>
          <a:xfrm>
            <a:off x="457200" y="1188720"/>
            <a:ext cx="8229600" cy="1280160"/>
          </a:xfrm>
          <a:prstGeom prst="rect">
            <a:avLst/>
          </a:prstGeom>
          <a:noFill/>
          <a:ln/>
        </p:spPr>
        <p:txBody>
          <a:bodyPr wrap="square" rtlCol="0" anchor="ctr"/>
          <a:lstStyle/>
          <a:p>
            <a:pPr marL="0" indent="0" algn="ctr">
              <a:buNone/>
            </a:pPr>
            <a:r>
              <a:rPr lang="en-US" sz="5800" b="1" dirty="0">
                <a:solidFill>
                  <a:srgbClr val="FFFFFF"/>
                </a:solidFill>
                <a:latin typeface="Georgia" pitchFamily="34" charset="0"/>
                <a:ea typeface="Georgia" pitchFamily="34" charset="-122"/>
                <a:cs typeface="Georgia" pitchFamily="34" charset="-120"/>
              </a:rPr>
              <a:t>Thank You</a:t>
            </a:r>
            <a:endParaRPr lang="en-US" sz="5800" dirty="0"/>
          </a:p>
        </p:txBody>
      </p:sp>
      <p:sp>
        <p:nvSpPr>
          <p:cNvPr id="7" name="Text 5"/>
          <p:cNvSpPr/>
          <p:nvPr/>
        </p:nvSpPr>
        <p:spPr>
          <a:xfrm>
            <a:off x="457200" y="2606040"/>
            <a:ext cx="8229600" cy="548640"/>
          </a:xfrm>
          <a:prstGeom prst="rect">
            <a:avLst/>
          </a:prstGeom>
          <a:noFill/>
          <a:ln/>
        </p:spPr>
        <p:txBody>
          <a:bodyPr wrap="square" rtlCol="0" anchor="ctr"/>
          <a:lstStyle/>
          <a:p>
            <a:pPr marL="0" indent="0" algn="ctr">
              <a:buNone/>
            </a:pPr>
            <a:r>
              <a:rPr lang="en-US" sz="2400" dirty="0">
                <a:solidFill>
                  <a:srgbClr val="F0C040"/>
                </a:solidFill>
                <a:latin typeface="Calibri" pitchFamily="34" charset="0"/>
                <a:ea typeface="Calibri" pitchFamily="34" charset="-122"/>
                <a:cs typeface="Calibri" pitchFamily="34" charset="-120"/>
              </a:rPr>
              <a:t>Questions &amp; Discussion</a:t>
            </a:r>
            <a:endParaRPr lang="en-US" sz="2400" dirty="0"/>
          </a:p>
        </p:txBody>
      </p:sp>
      <p:sp>
        <p:nvSpPr>
          <p:cNvPr id="8" name="Text 6"/>
          <p:cNvSpPr/>
          <p:nvPr/>
        </p:nvSpPr>
        <p:spPr>
          <a:xfrm>
            <a:off x="457200" y="3291840"/>
            <a:ext cx="8229600" cy="411480"/>
          </a:xfrm>
          <a:prstGeom prst="rect">
            <a:avLst/>
          </a:prstGeom>
          <a:noFill/>
          <a:ln/>
        </p:spPr>
        <p:txBody>
          <a:bodyPr wrap="square" rtlCol="0" anchor="ctr"/>
          <a:lstStyle/>
          <a:p>
            <a:pPr marL="0" indent="0" algn="ctr">
              <a:buNone/>
            </a:pPr>
            <a:r>
              <a:rPr lang="en-US" sz="1400" i="1" dirty="0">
                <a:solidFill>
                  <a:srgbClr val="02C39A"/>
                </a:solidFill>
                <a:latin typeface="Calibri" pitchFamily="34" charset="0"/>
                <a:ea typeface="Calibri" pitchFamily="34" charset="-122"/>
                <a:cs typeface="Calibri" pitchFamily="34" charset="-120"/>
              </a:rPr>
              <a:t>NoSQL &amp; Data Lakes  ·  60-Minute Session  ·  8 Modules Covered</a:t>
            </a:r>
            <a:endParaRPr lang="en-US" sz="1400" dirty="0"/>
          </a:p>
        </p:txBody>
      </p:sp>
      <p:sp>
        <p:nvSpPr>
          <p:cNvPr id="9" name="Text 7"/>
          <p:cNvSpPr/>
          <p:nvPr/>
        </p:nvSpPr>
        <p:spPr>
          <a:xfrm>
            <a:off x="457200" y="4434840"/>
            <a:ext cx="8229600" cy="32004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Modules: History · Definitions · Features · SQL vs NoSQL · Data Lakes · Architecture · Use Cases · Public Health Project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NoSQL and Data Lakes</dc:title>
  <dc:subject>PptxGenJS Presentation</dc:subject>
  <dc:creator>PptxGenJS</dc:creator>
  <cp:lastModifiedBy>Mbarak Abdallah</cp:lastModifiedBy>
  <cp:revision>2</cp:revision>
  <dcterms:created xsi:type="dcterms:W3CDTF">2026-02-18T08:44:38Z</dcterms:created>
  <dcterms:modified xsi:type="dcterms:W3CDTF">2026-02-18T09:03:05Z</dcterms:modified>
</cp:coreProperties>
</file>