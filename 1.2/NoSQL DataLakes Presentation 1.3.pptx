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91" r:id="rId3"/>
    <p:sldId id="257" r:id="rId4"/>
    <p:sldId id="258" r:id="rId5"/>
    <p:sldId id="292"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5C625D-50E9-4E79-B69A-1D278EC951C2}" v="1" dt="2026-02-24T12:19:35.8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ijah Murangiri" userId="5a14decd-72a4-4559-9a2b-02a1059489e1" providerId="ADAL" clId="{C011A86D-8631-432C-B119-1787A7F9FC3D}"/>
    <pc:docChg chg="addSld delSld modSld sldOrd">
      <pc:chgData name="Elijah Murangiri" userId="5a14decd-72a4-4559-9a2b-02a1059489e1" providerId="ADAL" clId="{C011A86D-8631-432C-B119-1787A7F9FC3D}" dt="2026-02-24T12:27:10.627" v="35" actId="20577"/>
      <pc:docMkLst>
        <pc:docMk/>
      </pc:docMkLst>
      <pc:sldChg chg="modSp mod">
        <pc:chgData name="Elijah Murangiri" userId="5a14decd-72a4-4559-9a2b-02a1059489e1" providerId="ADAL" clId="{C011A86D-8631-432C-B119-1787A7F9FC3D}" dt="2026-02-24T12:21:38.207" v="22" actId="108"/>
        <pc:sldMkLst>
          <pc:docMk/>
          <pc:sldMk cId="0" sldId="257"/>
        </pc:sldMkLst>
        <pc:spChg chg="mod">
          <ac:chgData name="Elijah Murangiri" userId="5a14decd-72a4-4559-9a2b-02a1059489e1" providerId="ADAL" clId="{C011A86D-8631-432C-B119-1787A7F9FC3D}" dt="2026-02-24T12:21:38.207" v="22" actId="108"/>
          <ac:spMkLst>
            <pc:docMk/>
            <pc:sldMk cId="0" sldId="257"/>
            <ac:spMk id="7" creationId="{00000000-0000-0000-0000-000000000000}"/>
          </ac:spMkLst>
        </pc:spChg>
      </pc:sldChg>
      <pc:sldChg chg="del">
        <pc:chgData name="Elijah Murangiri" userId="5a14decd-72a4-4559-9a2b-02a1059489e1" providerId="ADAL" clId="{C011A86D-8631-432C-B119-1787A7F9FC3D}" dt="2026-02-24T12:25:10.328" v="26" actId="47"/>
        <pc:sldMkLst>
          <pc:docMk/>
          <pc:sldMk cId="0" sldId="259"/>
        </pc:sldMkLst>
      </pc:sldChg>
      <pc:sldChg chg="modSp add mod ord">
        <pc:chgData name="Elijah Murangiri" userId="5a14decd-72a4-4559-9a2b-02a1059489e1" providerId="ADAL" clId="{C011A86D-8631-432C-B119-1787A7F9FC3D}" dt="2026-02-24T12:27:10.627" v="35" actId="20577"/>
        <pc:sldMkLst>
          <pc:docMk/>
          <pc:sldMk cId="0" sldId="292"/>
        </pc:sldMkLst>
        <pc:spChg chg="mod">
          <ac:chgData name="Elijah Murangiri" userId="5a14decd-72a4-4559-9a2b-02a1059489e1" providerId="ADAL" clId="{C011A86D-8631-432C-B119-1787A7F9FC3D}" dt="2026-02-24T12:24:43.736" v="25" actId="20577"/>
          <ac:spMkLst>
            <pc:docMk/>
            <pc:sldMk cId="0" sldId="292"/>
            <ac:spMk id="2" creationId="{00000000-0000-0000-0000-000000000000}"/>
          </ac:spMkLst>
        </pc:spChg>
        <pc:spChg chg="mod">
          <ac:chgData name="Elijah Murangiri" userId="5a14decd-72a4-4559-9a2b-02a1059489e1" providerId="ADAL" clId="{C011A86D-8631-432C-B119-1787A7F9FC3D}" dt="2026-02-24T12:24:31.102" v="24" actId="108"/>
          <ac:spMkLst>
            <pc:docMk/>
            <pc:sldMk cId="0" sldId="292"/>
            <ac:spMk id="4" creationId="{00000000-0000-0000-0000-000000000000}"/>
          </ac:spMkLst>
        </pc:spChg>
        <pc:spChg chg="mod">
          <ac:chgData name="Elijah Murangiri" userId="5a14decd-72a4-4559-9a2b-02a1059489e1" providerId="ADAL" clId="{C011A86D-8631-432C-B119-1787A7F9FC3D}" dt="2026-02-24T12:27:10.627" v="35" actId="20577"/>
          <ac:spMkLst>
            <pc:docMk/>
            <pc:sldMk cId="0" sldId="292"/>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78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61941-BF40-7985-3078-68ACEE474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A97BF-A2DB-FEDD-1F64-FAE8C3C001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262F24-6D61-6D89-B7E7-AE39671005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C567BA-959B-6741-CCCA-85DAD9F69176}"/>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4643127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5616944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6858000" y="-914400"/>
            <a:ext cx="4114800" cy="4114800"/>
          </a:xfrm>
          <a:prstGeom prst="ellipse">
            <a:avLst/>
          </a:prstGeom>
          <a:solidFill>
            <a:srgbClr val="028090">
              <a:alpha val="22000"/>
            </a:srgbClr>
          </a:solidFill>
          <a:ln w="12700">
            <a:solidFill>
              <a:srgbClr val="028090">
                <a:alpha val="22000"/>
              </a:srgbClr>
            </a:solidFill>
            <a:prstDash val="solid"/>
          </a:ln>
        </p:spPr>
        <p:txBody>
          <a:bodyPr/>
          <a:lstStyle/>
          <a:p>
            <a:endParaRPr lang="en-KE"/>
          </a:p>
        </p:txBody>
      </p:sp>
      <p:sp>
        <p:nvSpPr>
          <p:cNvPr id="5" name="Shape 3"/>
          <p:cNvSpPr/>
          <p:nvPr/>
        </p:nvSpPr>
        <p:spPr>
          <a:xfrm>
            <a:off x="-1371600" y="3200400"/>
            <a:ext cx="3657600" cy="3657600"/>
          </a:xfrm>
          <a:prstGeom prst="ellipse">
            <a:avLst/>
          </a:prstGeom>
          <a:solidFill>
            <a:srgbClr val="00A896">
              <a:alpha val="18000"/>
            </a:srgbClr>
          </a:solidFill>
          <a:ln w="12700">
            <a:solidFill>
              <a:srgbClr val="00A896">
                <a:alpha val="18000"/>
              </a:srgbClr>
            </a:solidFill>
            <a:prstDash val="solid"/>
          </a:ln>
        </p:spPr>
        <p:txBody>
          <a:bodyPr/>
          <a:lstStyle/>
          <a:p>
            <a:endParaRPr lang="en-KE"/>
          </a:p>
        </p:txBody>
      </p:sp>
      <p:sp>
        <p:nvSpPr>
          <p:cNvPr id="6" name="Text 4"/>
          <p:cNvSpPr/>
          <p:nvPr/>
        </p:nvSpPr>
        <p:spPr>
          <a:xfrm>
            <a:off x="457200" y="1005840"/>
            <a:ext cx="8229600" cy="1463040"/>
          </a:xfrm>
          <a:prstGeom prst="rect">
            <a:avLst/>
          </a:prstGeom>
          <a:noFill/>
          <a:ln/>
        </p:spPr>
        <p:txBody>
          <a:bodyPr wrap="square" rtlCol="0" anchor="ctr"/>
          <a:lstStyle/>
          <a:p>
            <a:pPr marL="0" indent="0" algn="ctr">
              <a:buNone/>
            </a:pPr>
            <a:r>
              <a:rPr lang="en-US" sz="5200" b="1" dirty="0">
                <a:solidFill>
                  <a:srgbClr val="FFFFFF"/>
                </a:solidFill>
                <a:latin typeface="Georgia" pitchFamily="34" charset="0"/>
                <a:ea typeface="Georgia" pitchFamily="34" charset="-122"/>
                <a:cs typeface="Georgia" pitchFamily="34" charset="-120"/>
              </a:rPr>
              <a:t>NoSQL &amp; Data Lakes</a:t>
            </a:r>
            <a:endParaRPr lang="en-US" sz="5200" dirty="0"/>
          </a:p>
        </p:txBody>
      </p:sp>
      <p:sp>
        <p:nvSpPr>
          <p:cNvPr id="7" name="Text 5"/>
          <p:cNvSpPr/>
          <p:nvPr/>
        </p:nvSpPr>
        <p:spPr>
          <a:xfrm>
            <a:off x="457200" y="2514600"/>
            <a:ext cx="8229600" cy="548640"/>
          </a:xfrm>
          <a:prstGeom prst="rect">
            <a:avLst/>
          </a:prstGeom>
          <a:noFill/>
          <a:ln/>
        </p:spPr>
        <p:txBody>
          <a:bodyPr wrap="square" rtlCol="0" anchor="ctr"/>
          <a:lstStyle/>
          <a:p>
            <a:pPr marL="0" indent="0" algn="ctr">
              <a:buNone/>
            </a:pPr>
            <a:r>
              <a:rPr lang="en-US" sz="2200" dirty="0">
                <a:solidFill>
                  <a:srgbClr val="F0C040"/>
                </a:solidFill>
                <a:latin typeface="Calibri" pitchFamily="34" charset="0"/>
                <a:ea typeface="Calibri" pitchFamily="34" charset="-122"/>
                <a:cs typeface="Calibri" pitchFamily="34" charset="-120"/>
              </a:rPr>
              <a:t>A Comprehensive 1-Hour Deep Dive</a:t>
            </a:r>
            <a:endParaRPr lang="en-US" sz="2200" dirty="0"/>
          </a:p>
        </p:txBody>
      </p:sp>
      <p:sp>
        <p:nvSpPr>
          <p:cNvPr id="8" name="Text 6"/>
          <p:cNvSpPr/>
          <p:nvPr/>
        </p:nvSpPr>
        <p:spPr>
          <a:xfrm>
            <a:off x="457200" y="3154680"/>
            <a:ext cx="8229600" cy="41148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History · Concepts · Architecture · Public Health Application</a:t>
            </a:r>
            <a:endParaRPr lang="en-US" sz="1400" dirty="0"/>
          </a:p>
        </p:txBody>
      </p:sp>
      <p:sp>
        <p:nvSpPr>
          <p:cNvPr id="9" name="Text 7"/>
          <p:cNvSpPr/>
          <p:nvPr/>
        </p:nvSpPr>
        <p:spPr>
          <a:xfrm>
            <a:off x="457200" y="4480560"/>
            <a:ext cx="8229600" cy="365760"/>
          </a:xfrm>
          <a:prstGeom prst="rect">
            <a:avLst/>
          </a:prstGeom>
          <a:noFill/>
          <a:ln/>
        </p:spPr>
        <p:txBody>
          <a:bodyPr wrap="square" rtlCol="0" anchor="ctr"/>
          <a:lstStyle/>
          <a:p>
            <a:pPr marL="0" indent="0" algn="ctr">
              <a:buNone/>
            </a:pPr>
            <a:r>
              <a:rPr lang="en-US" sz="1200" dirty="0">
                <a:solidFill>
                  <a:srgbClr val="4A5568"/>
                </a:solidFill>
                <a:latin typeface="Calibri" pitchFamily="34" charset="0"/>
                <a:ea typeface="Calibri" pitchFamily="34" charset="-122"/>
                <a:cs typeface="Calibri" pitchFamily="34" charset="-120"/>
              </a:rPr>
              <a:t>Approx. 60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6"/>
        </a:solidFill>
        <a:effectLst/>
      </p:bgPr>
    </p:bg>
    <p:spTree>
      <p:nvGrpSpPr>
        <p:cNvPr id="1" name="">
          <a:extLst>
            <a:ext uri="{FF2B5EF4-FFF2-40B4-BE49-F238E27FC236}">
              <a16:creationId xmlns:a16="http://schemas.microsoft.com/office/drawing/2014/main" id="{491BEB0D-FFF3-DF06-5862-840B57E12F08}"/>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1924F8C2-0BC9-F8AB-A29E-80800556E2E1}"/>
              </a:ext>
            </a:extLst>
          </p:cNvPr>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a:extLst>
              <a:ext uri="{FF2B5EF4-FFF2-40B4-BE49-F238E27FC236}">
                <a16:creationId xmlns:a16="http://schemas.microsoft.com/office/drawing/2014/main" id="{539E1F9B-6526-95E9-772D-54AD8F43A0A1}"/>
              </a:ext>
            </a:extLst>
          </p:cNvPr>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a:extLst>
              <a:ext uri="{FF2B5EF4-FFF2-40B4-BE49-F238E27FC236}">
                <a16:creationId xmlns:a16="http://schemas.microsoft.com/office/drawing/2014/main" id="{FA9EDA8E-2172-4123-063D-97C100E5F6E9}"/>
              </a:ext>
            </a:extLst>
          </p:cNvPr>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KE" sz="2400" b="1" dirty="0">
                <a:solidFill>
                  <a:srgbClr val="FFFFFF"/>
                </a:solidFill>
                <a:latin typeface="Georgia" pitchFamily="34" charset="0"/>
                <a:ea typeface="Georgia" pitchFamily="34" charset="-122"/>
                <a:cs typeface="Georgia" pitchFamily="34" charset="-120"/>
              </a:rPr>
              <a:t>GROUP 5 MEMBERS</a:t>
            </a:r>
            <a:endParaRPr lang="en-US" sz="2400" dirty="0"/>
          </a:p>
        </p:txBody>
      </p:sp>
      <p:sp>
        <p:nvSpPr>
          <p:cNvPr id="5" name="Shape 3">
            <a:extLst>
              <a:ext uri="{FF2B5EF4-FFF2-40B4-BE49-F238E27FC236}">
                <a16:creationId xmlns:a16="http://schemas.microsoft.com/office/drawing/2014/main" id="{F55E0BB8-E4EC-2D3E-C65B-085DC42B2D30}"/>
              </a:ext>
            </a:extLst>
          </p:cNvPr>
          <p:cNvSpPr/>
          <p:nvPr/>
        </p:nvSpPr>
        <p:spPr>
          <a:xfrm>
            <a:off x="365760" y="960120"/>
            <a:ext cx="8549640" cy="39319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r>
              <a:rPr lang="en-KE" dirty="0"/>
              <a:t> </a:t>
            </a:r>
          </a:p>
        </p:txBody>
      </p:sp>
      <p:sp>
        <p:nvSpPr>
          <p:cNvPr id="6" name="Shape 4">
            <a:extLst>
              <a:ext uri="{FF2B5EF4-FFF2-40B4-BE49-F238E27FC236}">
                <a16:creationId xmlns:a16="http://schemas.microsoft.com/office/drawing/2014/main" id="{3DA028EC-02C6-C654-4A99-7F6C289F763C}"/>
              </a:ext>
            </a:extLst>
          </p:cNvPr>
          <p:cNvSpPr/>
          <p:nvPr/>
        </p:nvSpPr>
        <p:spPr>
          <a:xfrm>
            <a:off x="365760" y="960120"/>
            <a:ext cx="91440" cy="3931920"/>
          </a:xfrm>
          <a:prstGeom prst="rect">
            <a:avLst/>
          </a:prstGeom>
          <a:solidFill>
            <a:srgbClr val="F0C040"/>
          </a:solidFill>
          <a:ln w="12700">
            <a:solidFill>
              <a:srgbClr val="F0C040"/>
            </a:solidFill>
            <a:prstDash val="solid"/>
          </a:ln>
        </p:spPr>
        <p:txBody>
          <a:bodyPr/>
          <a:lstStyle/>
          <a:p>
            <a:endParaRPr lang="en-KE"/>
          </a:p>
        </p:txBody>
      </p:sp>
      <p:sp>
        <p:nvSpPr>
          <p:cNvPr id="7" name="Text 5">
            <a:extLst>
              <a:ext uri="{FF2B5EF4-FFF2-40B4-BE49-F238E27FC236}">
                <a16:creationId xmlns:a16="http://schemas.microsoft.com/office/drawing/2014/main" id="{73E96F1D-A39C-DE22-A604-3D35DA10B888}"/>
              </a:ext>
            </a:extLst>
          </p:cNvPr>
          <p:cNvSpPr/>
          <p:nvPr/>
        </p:nvSpPr>
        <p:spPr>
          <a:xfrm>
            <a:off x="548640" y="1051560"/>
            <a:ext cx="3931920" cy="3749040"/>
          </a:xfrm>
          <a:prstGeom prst="rect">
            <a:avLst/>
          </a:prstGeom>
          <a:noFill/>
          <a:ln/>
        </p:spPr>
        <p:txBody>
          <a:bodyPr wrap="square" rtlCol="0" anchor="t"/>
          <a:lstStyle/>
          <a:p>
            <a:pPr marL="0" indent="0">
              <a:buNone/>
            </a:pPr>
            <a:endParaRPr lang="en-US" sz="1150" dirty="0"/>
          </a:p>
        </p:txBody>
      </p:sp>
      <p:sp>
        <p:nvSpPr>
          <p:cNvPr id="16" name="Text 14">
            <a:extLst>
              <a:ext uri="{FF2B5EF4-FFF2-40B4-BE49-F238E27FC236}">
                <a16:creationId xmlns:a16="http://schemas.microsoft.com/office/drawing/2014/main" id="{F12DDD5B-9C74-E37F-BD4E-CFE696039D99}"/>
              </a:ext>
            </a:extLst>
          </p:cNvPr>
          <p:cNvSpPr/>
          <p:nvPr/>
        </p:nvSpPr>
        <p:spPr>
          <a:xfrm>
            <a:off x="4846320" y="251460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1986</a:t>
            </a:r>
            <a:endParaRPr lang="en-US" sz="900" dirty="0"/>
          </a:p>
        </p:txBody>
      </p:sp>
      <p:sp>
        <p:nvSpPr>
          <p:cNvPr id="28" name="Text 26">
            <a:extLst>
              <a:ext uri="{FF2B5EF4-FFF2-40B4-BE49-F238E27FC236}">
                <a16:creationId xmlns:a16="http://schemas.microsoft.com/office/drawing/2014/main" id="{6FE7781B-C276-159B-3A33-7996E8BE620C}"/>
              </a:ext>
            </a:extLst>
          </p:cNvPr>
          <p:cNvSpPr/>
          <p:nvPr/>
        </p:nvSpPr>
        <p:spPr>
          <a:xfrm>
            <a:off x="4846320" y="4526280"/>
            <a:ext cx="411480" cy="411480"/>
          </a:xfrm>
          <a:prstGeom prst="rect">
            <a:avLst/>
          </a:prstGeom>
          <a:noFill/>
          <a:ln/>
        </p:spPr>
        <p:txBody>
          <a:bodyPr wrap="square" lIns="0" tIns="0" rIns="0" bIns="0" rtlCol="0" anchor="ctr"/>
          <a:lstStyle/>
          <a:p>
            <a:pPr marL="0" indent="0" algn="ctr">
              <a:buNone/>
            </a:pPr>
            <a:r>
              <a:rPr lang="en-US" sz="900" b="1" dirty="0">
                <a:solidFill>
                  <a:srgbClr val="FFFFFF"/>
                </a:solidFill>
                <a:latin typeface="Georgia" pitchFamily="34" charset="0"/>
                <a:ea typeface="Georgia" pitchFamily="34" charset="-122"/>
                <a:cs typeface="Georgia" pitchFamily="34" charset="-120"/>
              </a:rPr>
              <a:t>2007</a:t>
            </a:r>
            <a:endParaRPr lang="en-US" sz="900" dirty="0"/>
          </a:p>
        </p:txBody>
      </p:sp>
      <p:graphicFrame>
        <p:nvGraphicFramePr>
          <p:cNvPr id="30" name="Table 29">
            <a:extLst>
              <a:ext uri="{FF2B5EF4-FFF2-40B4-BE49-F238E27FC236}">
                <a16:creationId xmlns:a16="http://schemas.microsoft.com/office/drawing/2014/main" id="{47A67289-18A0-74FE-8889-B5F3A7FB1040}"/>
              </a:ext>
            </a:extLst>
          </p:cNvPr>
          <p:cNvGraphicFramePr>
            <a:graphicFrameLocks noGrp="1"/>
          </p:cNvGraphicFramePr>
          <p:nvPr>
            <p:extLst>
              <p:ext uri="{D42A27DB-BD31-4B8C-83A1-F6EECF244321}">
                <p14:modId xmlns:p14="http://schemas.microsoft.com/office/powerpoint/2010/main" val="3269679864"/>
              </p:ext>
            </p:extLst>
          </p:nvPr>
        </p:nvGraphicFramePr>
        <p:xfrm>
          <a:off x="573258" y="867977"/>
          <a:ext cx="8342141" cy="4023360"/>
        </p:xfrm>
        <a:graphic>
          <a:graphicData uri="http://schemas.openxmlformats.org/drawingml/2006/table">
            <a:tbl>
              <a:tblPr>
                <a:tableStyleId>{5C22544A-7EE6-4342-B048-85BDC9FD1C3A}</a:tableStyleId>
              </a:tblPr>
              <a:tblGrid>
                <a:gridCol w="1494115">
                  <a:extLst>
                    <a:ext uri="{9D8B030D-6E8A-4147-A177-3AD203B41FA5}">
                      <a16:colId xmlns:a16="http://schemas.microsoft.com/office/drawing/2014/main" val="1553044821"/>
                    </a:ext>
                  </a:extLst>
                </a:gridCol>
                <a:gridCol w="3285924">
                  <a:extLst>
                    <a:ext uri="{9D8B030D-6E8A-4147-A177-3AD203B41FA5}">
                      <a16:colId xmlns:a16="http://schemas.microsoft.com/office/drawing/2014/main" val="530238686"/>
                    </a:ext>
                  </a:extLst>
                </a:gridCol>
                <a:gridCol w="3562102">
                  <a:extLst>
                    <a:ext uri="{9D8B030D-6E8A-4147-A177-3AD203B41FA5}">
                      <a16:colId xmlns:a16="http://schemas.microsoft.com/office/drawing/2014/main" val="1028919958"/>
                    </a:ext>
                  </a:extLst>
                </a:gridCol>
              </a:tblGrid>
              <a:tr h="234359">
                <a:tc>
                  <a:txBody>
                    <a:bodyPr/>
                    <a:lstStyle/>
                    <a:p>
                      <a:pPr algn="ctr" fontAlgn="ctr"/>
                      <a:r>
                        <a:rPr lang="en-US" sz="1600" b="1" u="none" strike="noStrike" dirty="0">
                          <a:effectLst/>
                        </a:rPr>
                        <a:t>Number</a:t>
                      </a:r>
                      <a:endParaRPr lang="en-US" sz="1600" b="1" i="0" u="none" strike="noStrike" dirty="0">
                        <a:solidFill>
                          <a:srgbClr val="314C59"/>
                        </a:solidFill>
                        <a:effectLst/>
                        <a:latin typeface="Arial" panose="020B0604020202020204" pitchFamily="34" charset="0"/>
                      </a:endParaRPr>
                    </a:p>
                  </a:txBody>
                  <a:tcPr marL="7620" marR="7620" marT="7620" marB="0" anchor="ctr">
                    <a:solidFill>
                      <a:schemeClr val="accent1">
                        <a:lumMod val="60000"/>
                        <a:lumOff val="40000"/>
                      </a:schemeClr>
                    </a:solidFill>
                  </a:tcPr>
                </a:tc>
                <a:tc>
                  <a:txBody>
                    <a:bodyPr/>
                    <a:lstStyle/>
                    <a:p>
                      <a:pPr algn="l" fontAlgn="ctr"/>
                      <a:r>
                        <a:rPr lang="en-US" sz="1600" b="1" u="none" strike="noStrike" dirty="0">
                          <a:effectLst/>
                        </a:rPr>
                        <a:t>Name</a:t>
                      </a:r>
                      <a:endParaRPr lang="en-US" sz="1600" b="1" i="0" u="none" strike="noStrike" dirty="0">
                        <a:solidFill>
                          <a:srgbClr val="314C59"/>
                        </a:solidFill>
                        <a:effectLst/>
                        <a:latin typeface="Arial" panose="020B0604020202020204" pitchFamily="34" charset="0"/>
                      </a:endParaRPr>
                    </a:p>
                  </a:txBody>
                  <a:tcPr marL="7620" marR="7620" marT="7620" marB="0" anchor="ctr">
                    <a:solidFill>
                      <a:schemeClr val="accent1">
                        <a:lumMod val="60000"/>
                        <a:lumOff val="40000"/>
                      </a:schemeClr>
                    </a:solidFill>
                  </a:tcPr>
                </a:tc>
                <a:tc>
                  <a:txBody>
                    <a:bodyPr/>
                    <a:lstStyle/>
                    <a:p>
                      <a:pPr algn="l" fontAlgn="ctr"/>
                      <a:r>
                        <a:rPr lang="en-US" sz="1600" b="1" u="none" strike="noStrike" dirty="0">
                          <a:effectLst/>
                        </a:rPr>
                        <a:t>Reg Number</a:t>
                      </a:r>
                      <a:endParaRPr lang="en-US" sz="1600" b="1" i="0" u="none" strike="noStrike" dirty="0">
                        <a:solidFill>
                          <a:srgbClr val="314C59"/>
                        </a:solidFill>
                        <a:effectLst/>
                        <a:latin typeface="Arial" panose="020B0604020202020204" pitchFamily="34" charset="0"/>
                      </a:endParaRPr>
                    </a:p>
                  </a:txBody>
                  <a:tcPr marL="7620" marR="7620" marT="7620" marB="0" anchor="ctr">
                    <a:solidFill>
                      <a:schemeClr val="accent1">
                        <a:lumMod val="60000"/>
                        <a:lumOff val="40000"/>
                      </a:schemeClr>
                    </a:solidFill>
                  </a:tcPr>
                </a:tc>
                <a:extLst>
                  <a:ext uri="{0D108BD9-81ED-4DB2-BD59-A6C34878D82A}">
                    <a16:rowId xmlns:a16="http://schemas.microsoft.com/office/drawing/2014/main" val="1510935505"/>
                  </a:ext>
                </a:extLst>
              </a:tr>
              <a:tr h="234359">
                <a:tc>
                  <a:txBody>
                    <a:bodyPr/>
                    <a:lstStyle/>
                    <a:p>
                      <a:pPr algn="ctr" fontAlgn="b"/>
                      <a:r>
                        <a:rPr lang="en-KE" sz="1600" u="none" strike="noStrike">
                          <a:effectLst/>
                        </a:rPr>
                        <a:t>1</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dirty="0">
                          <a:effectLst/>
                        </a:rPr>
                        <a:t>Grace Mwai</a:t>
                      </a:r>
                      <a:endParaRPr lang="en-US" sz="1600" b="0" i="0" u="none" strike="noStrike" dirty="0">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ST62/56407/2025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872974752"/>
                  </a:ext>
                </a:extLst>
              </a:tr>
              <a:tr h="234359">
                <a:tc>
                  <a:txBody>
                    <a:bodyPr/>
                    <a:lstStyle/>
                    <a:p>
                      <a:pPr algn="ctr" fontAlgn="b"/>
                      <a:r>
                        <a:rPr lang="en-KE" sz="1600" u="none" strike="noStrike">
                          <a:effectLst/>
                        </a:rPr>
                        <a:t>2</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Pius Barongo Ombuna</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ST62/55940/2025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823108956"/>
                  </a:ext>
                </a:extLst>
              </a:tr>
              <a:tr h="234359">
                <a:tc>
                  <a:txBody>
                    <a:bodyPr/>
                    <a:lstStyle/>
                    <a:p>
                      <a:pPr algn="ctr" fontAlgn="b"/>
                      <a:r>
                        <a:rPr lang="en-KE" sz="1600" u="none" strike="noStrike">
                          <a:effectLst/>
                        </a:rPr>
                        <a:t>3</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dirty="0">
                          <a:effectLst/>
                        </a:rPr>
                        <a:t>Khaemba Imelda Nasimiyu </a:t>
                      </a:r>
                      <a:endParaRPr lang="en-US" sz="1600" b="0" i="0" u="none" strike="noStrike" dirty="0">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ST62/55266/2025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654599212"/>
                  </a:ext>
                </a:extLst>
              </a:tr>
              <a:tr h="234359">
                <a:tc>
                  <a:txBody>
                    <a:bodyPr/>
                    <a:lstStyle/>
                    <a:p>
                      <a:pPr algn="ctr" fontAlgn="b"/>
                      <a:r>
                        <a:rPr lang="en-KE" sz="1600" u="none" strike="noStrike">
                          <a:effectLst/>
                        </a:rPr>
                        <a:t>4</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Framul Muriithi</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ST62/55824/2025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4145687840"/>
                  </a:ext>
                </a:extLst>
              </a:tr>
              <a:tr h="234359">
                <a:tc>
                  <a:txBody>
                    <a:bodyPr/>
                    <a:lstStyle/>
                    <a:p>
                      <a:pPr algn="ctr" fontAlgn="b"/>
                      <a:r>
                        <a:rPr lang="en-KE" sz="1600" u="none" strike="noStrike">
                          <a:effectLst/>
                        </a:rPr>
                        <a:t>5</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Frieze Wandabwa</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ST62/55175/2025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783303176"/>
                  </a:ext>
                </a:extLst>
              </a:tr>
              <a:tr h="234359">
                <a:tc>
                  <a:txBody>
                    <a:bodyPr/>
                    <a:lstStyle/>
                    <a:p>
                      <a:pPr algn="ctr" fontAlgn="b"/>
                      <a:r>
                        <a:rPr lang="en-KE" sz="1600" u="none" strike="noStrike">
                          <a:effectLst/>
                        </a:rPr>
                        <a:t>6</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Lawrence Gitau Mwariri </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ST62/81046/2024</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752885953"/>
                  </a:ext>
                </a:extLst>
              </a:tr>
              <a:tr h="234359">
                <a:tc>
                  <a:txBody>
                    <a:bodyPr/>
                    <a:lstStyle/>
                    <a:p>
                      <a:pPr algn="ctr" fontAlgn="b"/>
                      <a:r>
                        <a:rPr lang="en-KE" sz="1600" u="none" strike="noStrike">
                          <a:effectLst/>
                        </a:rPr>
                        <a:t>7</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Mbarak Abdallah Kumbo </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ST62/55566/2025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92574982"/>
                  </a:ext>
                </a:extLst>
              </a:tr>
              <a:tr h="234359">
                <a:tc>
                  <a:txBody>
                    <a:bodyPr/>
                    <a:lstStyle/>
                    <a:p>
                      <a:pPr algn="ctr" fontAlgn="b"/>
                      <a:r>
                        <a:rPr lang="en-KE" sz="1600" u="none" strike="noStrike">
                          <a:effectLst/>
                        </a:rPr>
                        <a:t>8</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Seth Makori</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ST62/55318/2025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2695993277"/>
                  </a:ext>
                </a:extLst>
              </a:tr>
              <a:tr h="234359">
                <a:tc>
                  <a:txBody>
                    <a:bodyPr/>
                    <a:lstStyle/>
                    <a:p>
                      <a:pPr algn="ctr" fontAlgn="b"/>
                      <a:r>
                        <a:rPr lang="en-KE" sz="1600" u="none" strike="noStrike">
                          <a:effectLst/>
                        </a:rPr>
                        <a:t>9</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Kariuki James Kariuki </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ST62/55039/2025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1961754805"/>
                  </a:ext>
                </a:extLst>
              </a:tr>
              <a:tr h="234359">
                <a:tc>
                  <a:txBody>
                    <a:bodyPr/>
                    <a:lstStyle/>
                    <a:p>
                      <a:pPr algn="ctr" fontAlgn="b"/>
                      <a:r>
                        <a:rPr lang="en-KE" sz="1600" u="none" strike="noStrike">
                          <a:effectLst/>
                        </a:rPr>
                        <a:t>10</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Ponciano Odongo Odieny </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ST62/56255/2055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4183780974"/>
                  </a:ext>
                </a:extLst>
              </a:tr>
              <a:tr h="234359">
                <a:tc>
                  <a:txBody>
                    <a:bodyPr/>
                    <a:lstStyle/>
                    <a:p>
                      <a:pPr algn="ctr" fontAlgn="b"/>
                      <a:r>
                        <a:rPr lang="en-KE" sz="1600" u="none" strike="noStrike">
                          <a:effectLst/>
                        </a:rPr>
                        <a:t>11</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Victor Chiuri Gateru</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ST62/80979/2024</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415774359"/>
                  </a:ext>
                </a:extLst>
              </a:tr>
              <a:tr h="234359">
                <a:tc>
                  <a:txBody>
                    <a:bodyPr/>
                    <a:lstStyle/>
                    <a:p>
                      <a:pPr algn="ctr" fontAlgn="b"/>
                      <a:r>
                        <a:rPr lang="en-KE" sz="1600" u="none" strike="noStrike">
                          <a:effectLst/>
                        </a:rPr>
                        <a:t>12</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Paul Maweu Manthi</a:t>
                      </a:r>
                      <a:endParaRPr lang="en-US" sz="1600" b="0" i="0" u="none" strike="noStrike">
                        <a:solidFill>
                          <a:srgbClr val="314C59"/>
                        </a:solidFill>
                        <a:effectLst/>
                        <a:latin typeface="Arial" panose="020B0604020202020204" pitchFamily="34" charset="0"/>
                      </a:endParaRPr>
                    </a:p>
                  </a:txBody>
                  <a:tcPr marL="7620" marR="7620" marT="7620" marB="0" anchor="ctr"/>
                </a:tc>
                <a:tc>
                  <a:txBody>
                    <a:bodyPr/>
                    <a:lstStyle/>
                    <a:p>
                      <a:pPr algn="l" fontAlgn="ctr"/>
                      <a:r>
                        <a:rPr lang="en-US" sz="1600" u="none" strike="noStrike" dirty="0">
                          <a:effectLst/>
                        </a:rPr>
                        <a:t>ST62/56199/2025</a:t>
                      </a:r>
                      <a:endParaRPr lang="en-US" sz="1600" b="0" i="0" u="none" strike="noStrike" dirty="0">
                        <a:solidFill>
                          <a:srgbClr val="314C59"/>
                        </a:solidFill>
                        <a:effectLst/>
                        <a:latin typeface="Arial" panose="020B0604020202020204" pitchFamily="34" charset="0"/>
                      </a:endParaRPr>
                    </a:p>
                  </a:txBody>
                  <a:tcPr marL="7620" marR="7620" marT="7620" marB="0" anchor="ctr"/>
                </a:tc>
                <a:extLst>
                  <a:ext uri="{0D108BD9-81ED-4DB2-BD59-A6C34878D82A}">
                    <a16:rowId xmlns:a16="http://schemas.microsoft.com/office/drawing/2014/main" val="3199197634"/>
                  </a:ext>
                </a:extLst>
              </a:tr>
              <a:tr h="234359">
                <a:tc>
                  <a:txBody>
                    <a:bodyPr/>
                    <a:lstStyle/>
                    <a:p>
                      <a:pPr algn="ctr" fontAlgn="b"/>
                      <a:r>
                        <a:rPr lang="en-KE" sz="1600" u="none" strike="noStrike">
                          <a:effectLst/>
                        </a:rPr>
                        <a:t>13</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ctr"/>
                      <a:r>
                        <a:rPr lang="en-US" sz="1600" u="none" strike="noStrike">
                          <a:effectLst/>
                        </a:rPr>
                        <a:t>Erick Ngari </a:t>
                      </a:r>
                      <a:endParaRPr lang="en-US" sz="1600" b="0" i="0" u="none" strike="noStrike">
                        <a:solidFill>
                          <a:srgbClr val="434343"/>
                        </a:solidFill>
                        <a:effectLst/>
                        <a:latin typeface="Roboto" panose="02000000000000000000" pitchFamily="2" charset="0"/>
                      </a:endParaRPr>
                    </a:p>
                  </a:txBody>
                  <a:tcPr marL="7620" marR="7620" marT="7620" marB="0" anchor="ctr"/>
                </a:tc>
                <a:tc>
                  <a:txBody>
                    <a:bodyPr/>
                    <a:lstStyle/>
                    <a:p>
                      <a:pPr algn="l" fontAlgn="ctr"/>
                      <a:r>
                        <a:rPr lang="en-US" sz="1600" u="none" strike="noStrike" dirty="0">
                          <a:effectLst/>
                        </a:rPr>
                        <a:t>ST62/56218/2025</a:t>
                      </a:r>
                      <a:endParaRPr lang="en-US" sz="1600" b="0" i="0" u="none" strike="noStrike" dirty="0">
                        <a:solidFill>
                          <a:srgbClr val="434343"/>
                        </a:solidFill>
                        <a:effectLst/>
                        <a:latin typeface="Roboto" panose="02000000000000000000" pitchFamily="2" charset="0"/>
                      </a:endParaRPr>
                    </a:p>
                  </a:txBody>
                  <a:tcPr marL="7620" marR="7620" marT="7620" marB="0" anchor="ctr"/>
                </a:tc>
                <a:extLst>
                  <a:ext uri="{0D108BD9-81ED-4DB2-BD59-A6C34878D82A}">
                    <a16:rowId xmlns:a16="http://schemas.microsoft.com/office/drawing/2014/main" val="2995200476"/>
                  </a:ext>
                </a:extLst>
              </a:tr>
              <a:tr h="234359">
                <a:tc>
                  <a:txBody>
                    <a:bodyPr/>
                    <a:lstStyle/>
                    <a:p>
                      <a:pPr algn="ctr" fontAlgn="b"/>
                      <a:r>
                        <a:rPr lang="en-KE" sz="1600" u="none" strike="noStrike">
                          <a:effectLst/>
                        </a:rPr>
                        <a:t>14</a:t>
                      </a:r>
                      <a:endParaRPr lang="en-KE" sz="1600" b="0" i="0" u="none" strike="noStrike">
                        <a:solidFill>
                          <a:srgbClr val="000000"/>
                        </a:solidFill>
                        <a:effectLst/>
                        <a:latin typeface="Arial" panose="020B0604020202020204" pitchFamily="34" charset="0"/>
                      </a:endParaRPr>
                    </a:p>
                  </a:txBody>
                  <a:tcPr marL="7620" marR="7620" marT="7620" marB="0" anchor="b"/>
                </a:tc>
                <a:tc>
                  <a:txBody>
                    <a:bodyPr/>
                    <a:lstStyle/>
                    <a:p>
                      <a:pPr algn="l" fontAlgn="b"/>
                      <a:r>
                        <a:rPr lang="en-US" sz="1600" u="none" strike="noStrike">
                          <a:effectLst/>
                        </a:rPr>
                        <a:t>Eric Kiragu Chege</a:t>
                      </a:r>
                      <a:endParaRPr lang="en-US" sz="1600" b="0" i="0" u="none" strike="noStrike">
                        <a:solidFill>
                          <a:srgbClr val="314C59"/>
                        </a:solidFill>
                        <a:effectLst/>
                        <a:latin typeface="Arial" panose="020B0604020202020204" pitchFamily="34" charset="0"/>
                      </a:endParaRPr>
                    </a:p>
                  </a:txBody>
                  <a:tcPr marL="7620" marR="7620" marT="7620" marB="0" anchor="b"/>
                </a:tc>
                <a:tc>
                  <a:txBody>
                    <a:bodyPr/>
                    <a:lstStyle/>
                    <a:p>
                      <a:pPr algn="l" fontAlgn="b"/>
                      <a:r>
                        <a:rPr lang="en-US" sz="1600" u="none" strike="noStrike" dirty="0">
                          <a:effectLst/>
                        </a:rPr>
                        <a:t>ST62/56901/2025</a:t>
                      </a:r>
                      <a:endParaRPr lang="en-US" sz="1600" b="0" i="0" u="none" strike="noStrike" dirty="0">
                        <a:solidFill>
                          <a:srgbClr val="314C59"/>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659679299"/>
                  </a:ext>
                </a:extLst>
              </a:tr>
              <a:tr h="234359">
                <a:tc>
                  <a:txBody>
                    <a:bodyPr/>
                    <a:lstStyle/>
                    <a:p>
                      <a:pPr algn="ctr" fontAlgn="b"/>
                      <a:r>
                        <a:rPr lang="en-KE" sz="1600" u="none" strike="noStrike" dirty="0">
                          <a:effectLst/>
                        </a:rPr>
                        <a:t>15</a:t>
                      </a:r>
                      <a:endParaRPr lang="en-KE" sz="1600" b="0" i="0" u="none" strike="noStrike" dirty="0">
                        <a:solidFill>
                          <a:srgbClr val="000000"/>
                        </a:solidFill>
                        <a:effectLst/>
                        <a:latin typeface="Arial" panose="020B0604020202020204" pitchFamily="34" charset="0"/>
                      </a:endParaRPr>
                    </a:p>
                  </a:txBody>
                  <a:tcPr marL="7620" marR="7620" marT="7620" marB="0" anchor="b"/>
                </a:tc>
                <a:tc>
                  <a:txBody>
                    <a:bodyPr/>
                    <a:lstStyle/>
                    <a:p>
                      <a:pPr algn="l" fontAlgn="b"/>
                      <a:r>
                        <a:rPr lang="en-US" sz="1600" u="none" strike="noStrike">
                          <a:effectLst/>
                        </a:rPr>
                        <a:t>Murangiri Julius Elijah </a:t>
                      </a:r>
                      <a:endParaRPr lang="en-US" sz="1600" b="0" i="0" u="none" strike="noStrike">
                        <a:solidFill>
                          <a:srgbClr val="314C59"/>
                        </a:solidFill>
                        <a:effectLst/>
                        <a:latin typeface="Arial" panose="020B0604020202020204" pitchFamily="34" charset="0"/>
                      </a:endParaRPr>
                    </a:p>
                  </a:txBody>
                  <a:tcPr marL="7620" marR="7620" marT="7620" marB="0" anchor="b"/>
                </a:tc>
                <a:tc>
                  <a:txBody>
                    <a:bodyPr/>
                    <a:lstStyle/>
                    <a:p>
                      <a:pPr algn="l" fontAlgn="b"/>
                      <a:r>
                        <a:rPr lang="en-US" sz="1600" u="none" strike="noStrike" dirty="0">
                          <a:effectLst/>
                        </a:rPr>
                        <a:t>ST62/56956/2025</a:t>
                      </a:r>
                      <a:endParaRPr lang="en-US" sz="1600" b="0" i="0" u="none" strike="noStrike" dirty="0">
                        <a:solidFill>
                          <a:srgbClr val="314C59"/>
                        </a:solidFill>
                        <a:effectLst/>
                        <a:latin typeface="Arial" panose="020B0604020202020204" pitchFamily="34" charset="0"/>
                      </a:endParaRPr>
                    </a:p>
                  </a:txBody>
                  <a:tcPr marL="7620" marR="7620" marT="7620" marB="0" anchor="b"/>
                </a:tc>
                <a:extLst>
                  <a:ext uri="{0D108BD9-81ED-4DB2-BD59-A6C34878D82A}">
                    <a16:rowId xmlns:a16="http://schemas.microsoft.com/office/drawing/2014/main" val="1206863861"/>
                  </a:ext>
                </a:extLst>
              </a:tr>
            </a:tbl>
          </a:graphicData>
        </a:graphic>
      </p:graphicFrame>
    </p:spTree>
    <p:extLst>
      <p:ext uri="{BB962C8B-B14F-4D97-AF65-F5344CB8AC3E}">
        <p14:creationId xmlns:p14="http://schemas.microsoft.com/office/powerpoint/2010/main" val="21374501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Session Roadmap — 8 Modules</a:t>
            </a:r>
            <a:endParaRPr lang="en-US" sz="2400" dirty="0"/>
          </a:p>
        </p:txBody>
      </p:sp>
      <p:sp>
        <p:nvSpPr>
          <p:cNvPr id="5" name="Shape 3"/>
          <p:cNvSpPr/>
          <p:nvPr/>
        </p:nvSpPr>
        <p:spPr>
          <a:xfrm>
            <a:off x="32004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1005840"/>
            <a:ext cx="2011680" cy="502920"/>
          </a:xfrm>
          <a:prstGeom prst="rect">
            <a:avLst/>
          </a:prstGeom>
          <a:solidFill>
            <a:srgbClr val="0A2342"/>
          </a:solidFill>
          <a:ln w="12700">
            <a:solidFill>
              <a:srgbClr val="0A2342"/>
            </a:solidFill>
            <a:prstDash val="solid"/>
          </a:ln>
        </p:spPr>
        <p:txBody>
          <a:bodyPr/>
          <a:lstStyle/>
          <a:p>
            <a:endParaRPr lang="en-KE" dirty="0"/>
          </a:p>
        </p:txBody>
      </p:sp>
      <p:sp>
        <p:nvSpPr>
          <p:cNvPr id="7" name="Text 5"/>
          <p:cNvSpPr/>
          <p:nvPr/>
        </p:nvSpPr>
        <p:spPr>
          <a:xfrm>
            <a:off x="32004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A</a:t>
            </a:r>
          </a:p>
          <a:p>
            <a:pPr marL="0" indent="0" algn="ctr">
              <a:buNone/>
            </a:pPr>
            <a:r>
              <a:rPr lang="en-US" sz="1000" b="1" dirty="0">
                <a:solidFill>
                  <a:srgbClr val="F0C040"/>
                </a:solidFill>
                <a:latin typeface="Georgia" pitchFamily="34" charset="0"/>
              </a:rPr>
              <a:t>Elijah Murangiri</a:t>
            </a:r>
          </a:p>
        </p:txBody>
      </p:sp>
      <p:sp>
        <p:nvSpPr>
          <p:cNvPr id="8" name="Text 6"/>
          <p:cNvSpPr/>
          <p:nvPr/>
        </p:nvSpPr>
        <p:spPr>
          <a:xfrm>
            <a:off x="39319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NoSQL History &amp; Evolution</a:t>
            </a:r>
            <a:endParaRPr lang="en-US" sz="1150" dirty="0"/>
          </a:p>
        </p:txBody>
      </p:sp>
      <p:sp>
        <p:nvSpPr>
          <p:cNvPr id="9" name="Shape 7"/>
          <p:cNvSpPr/>
          <p:nvPr/>
        </p:nvSpPr>
        <p:spPr>
          <a:xfrm>
            <a:off x="246888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2468880" y="1005840"/>
            <a:ext cx="2011680" cy="502920"/>
          </a:xfrm>
          <a:prstGeom prst="rect">
            <a:avLst/>
          </a:prstGeom>
          <a:solidFill>
            <a:srgbClr val="0A2342"/>
          </a:solidFill>
          <a:ln w="12700">
            <a:solidFill>
              <a:srgbClr val="0A2342"/>
            </a:solidFill>
            <a:prstDash val="solid"/>
          </a:ln>
        </p:spPr>
        <p:txBody>
          <a:bodyPr/>
          <a:lstStyle/>
          <a:p>
            <a:endParaRPr lang="en-KE"/>
          </a:p>
        </p:txBody>
      </p:sp>
      <p:sp>
        <p:nvSpPr>
          <p:cNvPr id="11" name="Text 9"/>
          <p:cNvSpPr/>
          <p:nvPr/>
        </p:nvSpPr>
        <p:spPr>
          <a:xfrm>
            <a:off x="246888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B</a:t>
            </a:r>
            <a:endParaRPr lang="en-US" sz="2200" dirty="0"/>
          </a:p>
        </p:txBody>
      </p:sp>
      <p:sp>
        <p:nvSpPr>
          <p:cNvPr id="12" name="Text 10"/>
          <p:cNvSpPr/>
          <p:nvPr/>
        </p:nvSpPr>
        <p:spPr>
          <a:xfrm>
            <a:off x="254203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Definitions &amp; Key Terms</a:t>
            </a:r>
            <a:endParaRPr lang="en-US" sz="1150" dirty="0"/>
          </a:p>
        </p:txBody>
      </p:sp>
      <p:sp>
        <p:nvSpPr>
          <p:cNvPr id="13" name="Shape 11"/>
          <p:cNvSpPr/>
          <p:nvPr/>
        </p:nvSpPr>
        <p:spPr>
          <a:xfrm>
            <a:off x="461772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4617720" y="1005840"/>
            <a:ext cx="2011680" cy="502920"/>
          </a:xfrm>
          <a:prstGeom prst="rect">
            <a:avLst/>
          </a:prstGeom>
          <a:solidFill>
            <a:srgbClr val="0A2342"/>
          </a:solidFill>
          <a:ln w="12700">
            <a:solidFill>
              <a:srgbClr val="0A2342"/>
            </a:solidFill>
            <a:prstDash val="solid"/>
          </a:ln>
        </p:spPr>
        <p:txBody>
          <a:bodyPr/>
          <a:lstStyle/>
          <a:p>
            <a:endParaRPr lang="en-KE"/>
          </a:p>
        </p:txBody>
      </p:sp>
      <p:sp>
        <p:nvSpPr>
          <p:cNvPr id="15" name="Text 13"/>
          <p:cNvSpPr/>
          <p:nvPr/>
        </p:nvSpPr>
        <p:spPr>
          <a:xfrm>
            <a:off x="4617720" y="100584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C</a:t>
            </a:r>
            <a:endParaRPr lang="en-US" sz="2200" dirty="0"/>
          </a:p>
        </p:txBody>
      </p:sp>
      <p:sp>
        <p:nvSpPr>
          <p:cNvPr id="16" name="Text 14"/>
          <p:cNvSpPr/>
          <p:nvPr/>
        </p:nvSpPr>
        <p:spPr>
          <a:xfrm>
            <a:off x="469087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Features, Design &amp; Deployment</a:t>
            </a:r>
            <a:endParaRPr lang="en-US" sz="1150" dirty="0"/>
          </a:p>
        </p:txBody>
      </p:sp>
      <p:sp>
        <p:nvSpPr>
          <p:cNvPr id="17" name="Shape 15"/>
          <p:cNvSpPr/>
          <p:nvPr/>
        </p:nvSpPr>
        <p:spPr>
          <a:xfrm>
            <a:off x="6766560" y="100584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dirty="0"/>
          </a:p>
        </p:txBody>
      </p:sp>
      <p:sp>
        <p:nvSpPr>
          <p:cNvPr id="18" name="Shape 16"/>
          <p:cNvSpPr/>
          <p:nvPr/>
        </p:nvSpPr>
        <p:spPr>
          <a:xfrm>
            <a:off x="6766560" y="1005840"/>
            <a:ext cx="2011680" cy="685800"/>
          </a:xfrm>
          <a:prstGeom prst="rect">
            <a:avLst/>
          </a:prstGeom>
          <a:solidFill>
            <a:srgbClr val="0A2342"/>
          </a:solidFill>
          <a:ln w="12700">
            <a:solidFill>
              <a:srgbClr val="0A2342"/>
            </a:solidFill>
            <a:prstDash val="solid"/>
          </a:ln>
        </p:spPr>
        <p:txBody>
          <a:bodyPr/>
          <a:lstStyle/>
          <a:p>
            <a:endParaRPr lang="en-KE" dirty="0"/>
          </a:p>
        </p:txBody>
      </p:sp>
      <p:sp>
        <p:nvSpPr>
          <p:cNvPr id="19" name="Text 17"/>
          <p:cNvSpPr/>
          <p:nvPr/>
        </p:nvSpPr>
        <p:spPr>
          <a:xfrm>
            <a:off x="6766560" y="822960"/>
            <a:ext cx="2011680" cy="86868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D</a:t>
            </a:r>
            <a:endParaRPr lang="en-KE" sz="2200" b="1" dirty="0">
              <a:solidFill>
                <a:srgbClr val="F0C040"/>
              </a:solidFill>
              <a:latin typeface="Georgia" pitchFamily="34" charset="0"/>
              <a:ea typeface="Georgia" pitchFamily="34" charset="-122"/>
              <a:cs typeface="Georgia" pitchFamily="34" charset="-120"/>
            </a:endParaRPr>
          </a:p>
          <a:p>
            <a:pPr marL="0" indent="0" algn="ctr">
              <a:buNone/>
            </a:pPr>
            <a:r>
              <a:rPr lang="en-KE" sz="1000" b="1" dirty="0">
                <a:solidFill>
                  <a:srgbClr val="F0C040"/>
                </a:solidFill>
                <a:latin typeface="Georgia" pitchFamily="34" charset="0"/>
              </a:rPr>
              <a:t>Mbarak Abdallah &amp; Seth Makori</a:t>
            </a:r>
            <a:endParaRPr lang="en-US" sz="1000" dirty="0"/>
          </a:p>
        </p:txBody>
      </p:sp>
      <p:sp>
        <p:nvSpPr>
          <p:cNvPr id="20" name="Text 18"/>
          <p:cNvSpPr/>
          <p:nvPr/>
        </p:nvSpPr>
        <p:spPr>
          <a:xfrm>
            <a:off x="6839712" y="155448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Relational vs NoSQL &amp; Types</a:t>
            </a:r>
            <a:r>
              <a:rPr lang="en-KE" sz="1150" dirty="0">
                <a:solidFill>
                  <a:srgbClr val="1A1A2E"/>
                </a:solidFill>
                <a:latin typeface="Calibri" pitchFamily="34" charset="0"/>
                <a:ea typeface="Calibri" pitchFamily="34" charset="-122"/>
                <a:cs typeface="Calibri" pitchFamily="34" charset="-120"/>
              </a:rPr>
              <a:t> </a:t>
            </a:r>
          </a:p>
          <a:p>
            <a:pPr marL="0" indent="0" algn="ctr">
              <a:buNone/>
            </a:pPr>
            <a:r>
              <a:rPr lang="en-KE" sz="1150" dirty="0">
                <a:solidFill>
                  <a:srgbClr val="1A1A2E"/>
                </a:solidFill>
                <a:latin typeface="Calibri" pitchFamily="34" charset="0"/>
                <a:ea typeface="Calibri" pitchFamily="34" charset="-122"/>
                <a:cs typeface="Calibri" pitchFamily="34" charset="-120"/>
              </a:rPr>
              <a:t>Choosing the right Database</a:t>
            </a:r>
          </a:p>
          <a:p>
            <a:pPr marL="0" indent="0" algn="ctr">
              <a:buNone/>
            </a:pPr>
            <a:r>
              <a:rPr lang="en-KE" sz="1150" dirty="0">
                <a:solidFill>
                  <a:srgbClr val="1A1A2E"/>
                </a:solidFill>
                <a:latin typeface="Calibri" pitchFamily="34" charset="0"/>
                <a:ea typeface="Calibri" pitchFamily="34" charset="-122"/>
                <a:cs typeface="Calibri" pitchFamily="34" charset="-120"/>
              </a:rPr>
              <a:t>Typer given scenarios</a:t>
            </a:r>
            <a:endParaRPr lang="en-US" sz="1150" dirty="0"/>
          </a:p>
        </p:txBody>
      </p:sp>
      <p:sp>
        <p:nvSpPr>
          <p:cNvPr id="21" name="Shape 19"/>
          <p:cNvSpPr/>
          <p:nvPr/>
        </p:nvSpPr>
        <p:spPr>
          <a:xfrm>
            <a:off x="32004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23" name="Text 21"/>
          <p:cNvSpPr/>
          <p:nvPr/>
        </p:nvSpPr>
        <p:spPr>
          <a:xfrm>
            <a:off x="32004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E</a:t>
            </a:r>
            <a:endParaRPr lang="en-US" sz="2200" dirty="0"/>
          </a:p>
        </p:txBody>
      </p:sp>
      <p:sp>
        <p:nvSpPr>
          <p:cNvPr id="24" name="Text 22"/>
          <p:cNvSpPr/>
          <p:nvPr/>
        </p:nvSpPr>
        <p:spPr>
          <a:xfrm>
            <a:off x="39319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Data Lakes: Intro &amp; History</a:t>
            </a:r>
            <a:endParaRPr lang="en-US" sz="1150" dirty="0"/>
          </a:p>
        </p:txBody>
      </p:sp>
      <p:sp>
        <p:nvSpPr>
          <p:cNvPr id="25" name="Shape 23"/>
          <p:cNvSpPr/>
          <p:nvPr/>
        </p:nvSpPr>
        <p:spPr>
          <a:xfrm>
            <a:off x="246888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246888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27" name="Text 25"/>
          <p:cNvSpPr/>
          <p:nvPr/>
        </p:nvSpPr>
        <p:spPr>
          <a:xfrm>
            <a:off x="246888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F</a:t>
            </a:r>
            <a:endParaRPr lang="en-US" sz="2200" dirty="0"/>
          </a:p>
        </p:txBody>
      </p:sp>
      <p:sp>
        <p:nvSpPr>
          <p:cNvPr id="28" name="Text 26"/>
          <p:cNvSpPr/>
          <p:nvPr/>
        </p:nvSpPr>
        <p:spPr>
          <a:xfrm>
            <a:off x="254203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Architectures &amp; Warehouse vs Lake</a:t>
            </a:r>
            <a:endParaRPr lang="en-US" sz="1150" dirty="0"/>
          </a:p>
        </p:txBody>
      </p:sp>
      <p:sp>
        <p:nvSpPr>
          <p:cNvPr id="29" name="Shape 27"/>
          <p:cNvSpPr/>
          <p:nvPr/>
        </p:nvSpPr>
        <p:spPr>
          <a:xfrm>
            <a:off x="461772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30" name="Shape 28"/>
          <p:cNvSpPr/>
          <p:nvPr/>
        </p:nvSpPr>
        <p:spPr>
          <a:xfrm>
            <a:off x="461772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31" name="Text 29"/>
          <p:cNvSpPr/>
          <p:nvPr/>
        </p:nvSpPr>
        <p:spPr>
          <a:xfrm>
            <a:off x="461772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G</a:t>
            </a:r>
            <a:endParaRPr lang="en-US" sz="2200" dirty="0"/>
          </a:p>
        </p:txBody>
      </p:sp>
      <p:sp>
        <p:nvSpPr>
          <p:cNvPr id="32" name="Text 30"/>
          <p:cNvSpPr/>
          <p:nvPr/>
        </p:nvSpPr>
        <p:spPr>
          <a:xfrm>
            <a:off x="469087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Data Lake Use Cases</a:t>
            </a:r>
            <a:endParaRPr lang="en-US" sz="1150" dirty="0"/>
          </a:p>
        </p:txBody>
      </p:sp>
      <p:sp>
        <p:nvSpPr>
          <p:cNvPr id="33" name="Shape 31"/>
          <p:cNvSpPr/>
          <p:nvPr/>
        </p:nvSpPr>
        <p:spPr>
          <a:xfrm>
            <a:off x="6766560" y="2926080"/>
            <a:ext cx="2011680" cy="1737360"/>
          </a:xfrm>
          <a:prstGeom prst="rect">
            <a:avLst/>
          </a:prstGeom>
          <a:solidFill>
            <a:srgbClr val="FFFFFF"/>
          </a:solidFill>
          <a:ln w="1905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34" name="Shape 32"/>
          <p:cNvSpPr/>
          <p:nvPr/>
        </p:nvSpPr>
        <p:spPr>
          <a:xfrm>
            <a:off x="6766560" y="2926080"/>
            <a:ext cx="2011680" cy="502920"/>
          </a:xfrm>
          <a:prstGeom prst="rect">
            <a:avLst/>
          </a:prstGeom>
          <a:solidFill>
            <a:srgbClr val="028090"/>
          </a:solidFill>
          <a:ln w="12700">
            <a:solidFill>
              <a:srgbClr val="028090"/>
            </a:solidFill>
            <a:prstDash val="solid"/>
          </a:ln>
        </p:spPr>
        <p:txBody>
          <a:bodyPr/>
          <a:lstStyle/>
          <a:p>
            <a:endParaRPr lang="en-KE"/>
          </a:p>
        </p:txBody>
      </p:sp>
      <p:sp>
        <p:nvSpPr>
          <p:cNvPr id="35" name="Text 33"/>
          <p:cNvSpPr/>
          <p:nvPr/>
        </p:nvSpPr>
        <p:spPr>
          <a:xfrm>
            <a:off x="6766560" y="2926080"/>
            <a:ext cx="2011680" cy="502920"/>
          </a:xfrm>
          <a:prstGeom prst="rect">
            <a:avLst/>
          </a:prstGeom>
          <a:noFill/>
          <a:ln/>
        </p:spPr>
        <p:txBody>
          <a:bodyPr wrap="square" lIns="0" tIns="0" rIns="0" bIns="0" rtlCol="0" anchor="ctr"/>
          <a:lstStyle/>
          <a:p>
            <a:pPr marL="0" indent="0" algn="ctr">
              <a:buNone/>
            </a:pPr>
            <a:r>
              <a:rPr lang="en-US" sz="2200" b="1" dirty="0">
                <a:solidFill>
                  <a:srgbClr val="F0C040"/>
                </a:solidFill>
                <a:latin typeface="Georgia" pitchFamily="34" charset="0"/>
                <a:ea typeface="Georgia" pitchFamily="34" charset="-122"/>
                <a:cs typeface="Georgia" pitchFamily="34" charset="-120"/>
              </a:rPr>
              <a:t>H</a:t>
            </a:r>
            <a:endParaRPr lang="en-US" sz="2200" dirty="0"/>
          </a:p>
        </p:txBody>
      </p:sp>
      <p:sp>
        <p:nvSpPr>
          <p:cNvPr id="36" name="Text 34"/>
          <p:cNvSpPr/>
          <p:nvPr/>
        </p:nvSpPr>
        <p:spPr>
          <a:xfrm>
            <a:off x="6839712" y="3474720"/>
            <a:ext cx="1874520" cy="1097280"/>
          </a:xfrm>
          <a:prstGeom prst="rect">
            <a:avLst/>
          </a:prstGeom>
          <a:noFill/>
          <a:ln/>
        </p:spPr>
        <p:txBody>
          <a:bodyPr wrap="square" rtlCol="0" anchor="ctr"/>
          <a:lstStyle/>
          <a:p>
            <a:pPr marL="0" indent="0" algn="ctr">
              <a:buNone/>
            </a:pPr>
            <a:r>
              <a:rPr lang="en-US" sz="1150" dirty="0">
                <a:solidFill>
                  <a:srgbClr val="1A1A2E"/>
                </a:solidFill>
                <a:latin typeface="Calibri" pitchFamily="34" charset="0"/>
                <a:ea typeface="Calibri" pitchFamily="34" charset="-122"/>
                <a:cs typeface="Calibri" pitchFamily="34" charset="-120"/>
              </a:rPr>
              <a:t>Public Health Data Lake Project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A</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History &amp; Evolution of NoSQL Databases</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58726" y="137161"/>
            <a:ext cx="8785274" cy="338554"/>
          </a:xfrm>
          <a:prstGeom prst="rect">
            <a:avLst/>
          </a:prstGeom>
          <a:noFill/>
        </p:spPr>
        <p:txBody>
          <a:bodyPr wrap="square">
            <a:spAutoFit/>
          </a:bodyPr>
          <a:lstStyle/>
          <a:p>
            <a:pPr algn="ctr">
              <a:defRPr sz="3600"/>
            </a:pPr>
            <a:r>
              <a:rPr lang="en-US" sz="1600" b="1" dirty="0">
                <a:solidFill>
                  <a:srgbClr val="1A1A2E"/>
                </a:solidFill>
                <a:latin typeface="Aptos" panose="020B0004020202020204" pitchFamily="34" charset="0"/>
                <a:ea typeface="Calibri" pitchFamily="34" charset="-122"/>
                <a:cs typeface="Calibri" pitchFamily="34" charset="-120"/>
              </a:rPr>
              <a:t>History &amp; Evolution of NoSQL Databases  (1970s–2000s)</a:t>
            </a:r>
          </a:p>
        </p:txBody>
      </p:sp>
      <p:sp>
        <p:nvSpPr>
          <p:cNvPr id="3" name="Rectangle 2"/>
          <p:cNvSpPr/>
          <p:nvPr/>
        </p:nvSpPr>
        <p:spPr>
          <a:xfrm>
            <a:off x="520505" y="838783"/>
            <a:ext cx="2412609" cy="1508760"/>
          </a:xfrm>
          <a:prstGeom prst="rect">
            <a:avLst/>
          </a:prstGeom>
          <a:solidFill>
            <a:srgbClr val="3498DB"/>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sz="1200" dirty="0">
                <a:latin typeface="Aptos" panose="020B0004020202020204" pitchFamily="34" charset="0"/>
              </a:rPr>
              <a:t>19</a:t>
            </a:r>
            <a:r>
              <a:rPr lang="en-GB" sz="1200" dirty="0">
                <a:latin typeface="Aptos" panose="020B0004020202020204" pitchFamily="34" charset="0"/>
              </a:rPr>
              <a:t>7</a:t>
            </a:r>
            <a:r>
              <a:rPr sz="1200" dirty="0">
                <a:latin typeface="Aptos" panose="020B0004020202020204" pitchFamily="34" charset="0"/>
              </a:rPr>
              <a:t>0s</a:t>
            </a:r>
          </a:p>
          <a:p>
            <a:pPr marL="285750" indent="-285750">
              <a:buFont typeface="Arial" panose="020B0604020202020204" pitchFamily="34" charset="0"/>
              <a:buChar char="•"/>
              <a:defRPr sz="1800" b="1">
                <a:solidFill>
                  <a:srgbClr val="FFFFFF"/>
                </a:solidFill>
              </a:defRPr>
            </a:pPr>
            <a:r>
              <a:rPr lang="en-US" sz="1200" b="1" dirty="0">
                <a:solidFill>
                  <a:srgbClr val="FFFFFF"/>
                </a:solidFill>
                <a:latin typeface="Aptos" panose="020B0004020202020204" pitchFamily="34" charset="0"/>
              </a:rPr>
              <a:t>Edgar Codd's Relational Model
IBM researcher proposes tables, rows &amp; columns.</a:t>
            </a:r>
          </a:p>
          <a:p>
            <a:pPr marL="285750" indent="-285750">
              <a:buFont typeface="Arial" panose="020B0604020202020204" pitchFamily="34" charset="0"/>
              <a:buChar char="•"/>
              <a:defRPr sz="1800" b="1">
                <a:solidFill>
                  <a:srgbClr val="FFFFFF"/>
                </a:solidFill>
              </a:defRPr>
            </a:pPr>
            <a:r>
              <a:rPr lang="en-US" sz="1200" b="1" dirty="0">
                <a:solidFill>
                  <a:srgbClr val="FFFFFF"/>
                </a:solidFill>
                <a:latin typeface="Aptos" panose="020B0004020202020204" pitchFamily="34" charset="0"/>
              </a:rPr>
              <a:t>SQL becomes the universal language.</a:t>
            </a:r>
            <a:endParaRPr sz="1200" b="1" dirty="0">
              <a:solidFill>
                <a:srgbClr val="FFFFFF"/>
              </a:solidFill>
              <a:latin typeface="Aptos" panose="020B0004020202020204" pitchFamily="34" charset="0"/>
            </a:endParaRPr>
          </a:p>
        </p:txBody>
      </p:sp>
      <p:sp>
        <p:nvSpPr>
          <p:cNvPr id="4" name="Rectangle 3"/>
          <p:cNvSpPr/>
          <p:nvPr/>
        </p:nvSpPr>
        <p:spPr>
          <a:xfrm>
            <a:off x="3010486" y="838783"/>
            <a:ext cx="2812050" cy="1508760"/>
          </a:xfrm>
          <a:prstGeom prst="rect">
            <a:avLst/>
          </a:prstGeom>
          <a:solidFill>
            <a:srgbClr val="2ECC71"/>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lang="en-US" sz="1200" b="1" dirty="0">
                <a:solidFill>
                  <a:srgbClr val="FFFFFF"/>
                </a:solidFill>
                <a:latin typeface="Aptos" panose="020B0004020202020204" pitchFamily="34" charset="0"/>
              </a:rPr>
              <a:t>1980s–90s — RDBMS Boom</a:t>
            </a:r>
          </a:p>
          <a:p>
            <a:pPr>
              <a:defRPr sz="1800" b="1">
                <a:solidFill>
                  <a:srgbClr val="FFFFFF"/>
                </a:solidFill>
              </a:defRPr>
            </a:pPr>
            <a:r>
              <a:rPr lang="en-GB" sz="1200" b="1" dirty="0">
                <a:solidFill>
                  <a:srgbClr val="4A5568"/>
                </a:solidFill>
                <a:latin typeface="Aptos" panose="020B0004020202020204" pitchFamily="34" charset="0"/>
                <a:ea typeface="Calibri" pitchFamily="34" charset="-122"/>
                <a:cs typeface="Calibri" pitchFamily="34" charset="-120"/>
              </a:rPr>
              <a:t>Perfect for structured business data </a:t>
            </a:r>
            <a:endParaRPr sz="1200" b="1" dirty="0">
              <a:solidFill>
                <a:srgbClr val="FFFFFF"/>
              </a:solidFill>
              <a:latin typeface="Aptos" panose="020B0004020202020204" pitchFamily="34" charset="0"/>
            </a:endParaRPr>
          </a:p>
          <a:p>
            <a:pPr>
              <a:defRPr sz="1200">
                <a:solidFill>
                  <a:srgbClr val="FFFFFF"/>
                </a:solidFill>
              </a:defRPr>
            </a:pPr>
            <a:r>
              <a:rPr sz="1200" dirty="0">
                <a:latin typeface="Aptos" panose="020B0004020202020204" pitchFamily="34" charset="0"/>
              </a:rPr>
              <a:t>• </a:t>
            </a:r>
            <a:r>
              <a:rPr lang="en-GB" sz="1200" b="1" dirty="0">
                <a:solidFill>
                  <a:srgbClr val="FFFFFF"/>
                </a:solidFill>
                <a:latin typeface="Aptos" panose="020B0004020202020204" pitchFamily="34" charset="0"/>
              </a:rPr>
              <a:t>Oracle. </a:t>
            </a:r>
            <a:br>
              <a:rPr sz="1200" b="1" dirty="0">
                <a:solidFill>
                  <a:srgbClr val="FFFFFF"/>
                </a:solidFill>
                <a:latin typeface="Aptos" panose="020B0004020202020204" pitchFamily="34" charset="0"/>
              </a:rPr>
            </a:br>
            <a:r>
              <a:rPr sz="1200" dirty="0">
                <a:latin typeface="Aptos" panose="020B0004020202020204" pitchFamily="34" charset="0"/>
              </a:rPr>
              <a:t>• </a:t>
            </a:r>
            <a:r>
              <a:rPr lang="en-GB" sz="1200" b="1" dirty="0">
                <a:latin typeface="Aptos" panose="020B0004020202020204" pitchFamily="34" charset="0"/>
              </a:rPr>
              <a:t>IBM DB2</a:t>
            </a:r>
            <a:br>
              <a:rPr sz="1200" dirty="0">
                <a:latin typeface="Aptos" panose="020B0004020202020204" pitchFamily="34" charset="0"/>
              </a:rPr>
            </a:br>
            <a:r>
              <a:rPr sz="1200" dirty="0">
                <a:latin typeface="Aptos" panose="020B0004020202020204" pitchFamily="34" charset="0"/>
              </a:rPr>
              <a:t>• </a:t>
            </a:r>
            <a:r>
              <a:rPr lang="en-US" sz="1200" b="1" dirty="0">
                <a:solidFill>
                  <a:srgbClr val="FFFFFF"/>
                </a:solidFill>
                <a:latin typeface="Aptos" panose="020B0004020202020204" pitchFamily="34" charset="0"/>
              </a:rPr>
              <a:t>Microsoft SQL Server (MSSQL)</a:t>
            </a:r>
          </a:p>
          <a:p>
            <a:pPr>
              <a:defRPr sz="1200">
                <a:solidFill>
                  <a:srgbClr val="FFFFFF"/>
                </a:solidFill>
              </a:defRPr>
            </a:pPr>
            <a:r>
              <a:rPr lang="en-GB" sz="1200" dirty="0">
                <a:latin typeface="Aptos" panose="020B0004020202020204" pitchFamily="34" charset="0"/>
              </a:rPr>
              <a:t>   (</a:t>
            </a:r>
            <a:r>
              <a:rPr lang="en-GB" sz="1200" b="1" dirty="0">
                <a:solidFill>
                  <a:srgbClr val="4A5568"/>
                </a:solidFill>
                <a:latin typeface="Aptos" panose="020B0004020202020204" pitchFamily="34" charset="0"/>
                <a:ea typeface="Calibri" pitchFamily="34" charset="-122"/>
                <a:cs typeface="Calibri" pitchFamily="34" charset="-120"/>
              </a:rPr>
              <a:t>Commercial dominance</a:t>
            </a:r>
            <a:r>
              <a:rPr lang="en-GB" sz="1200" dirty="0">
                <a:latin typeface="Aptos" panose="020B0004020202020204" pitchFamily="34" charset="0"/>
              </a:rPr>
              <a:t>)</a:t>
            </a:r>
          </a:p>
          <a:p>
            <a:pPr>
              <a:defRPr sz="1200">
                <a:solidFill>
                  <a:srgbClr val="FFFFFF"/>
                </a:solidFill>
              </a:defRPr>
            </a:pPr>
            <a:r>
              <a:rPr lang="en-GB" sz="1200" dirty="0">
                <a:latin typeface="Aptos" panose="020B0004020202020204" pitchFamily="34" charset="0"/>
              </a:rPr>
              <a:t>          • MySQL (</a:t>
            </a:r>
            <a:r>
              <a:rPr lang="en-GB" sz="1200" b="1" dirty="0">
                <a:latin typeface="Aptos" panose="020B0004020202020204" pitchFamily="34" charset="0"/>
              </a:rPr>
              <a:t>1995</a:t>
            </a:r>
            <a:r>
              <a:rPr lang="en-GB" sz="1200" dirty="0">
                <a:latin typeface="Aptos" panose="020B0004020202020204" pitchFamily="34" charset="0"/>
              </a:rPr>
              <a:t>)</a:t>
            </a:r>
            <a:br>
              <a:rPr lang="en-GB" sz="1200" dirty="0">
                <a:latin typeface="Aptos" panose="020B0004020202020204" pitchFamily="34" charset="0"/>
              </a:rPr>
            </a:br>
            <a:r>
              <a:rPr lang="en-GB" sz="1200" dirty="0">
                <a:latin typeface="Aptos" panose="020B0004020202020204" pitchFamily="34" charset="0"/>
              </a:rPr>
              <a:t>          • </a:t>
            </a:r>
            <a:r>
              <a:rPr lang="en-GB" sz="1200" dirty="0" err="1">
                <a:latin typeface="Aptos" panose="020B0004020202020204" pitchFamily="34" charset="0"/>
              </a:rPr>
              <a:t>Postgress</a:t>
            </a:r>
            <a:r>
              <a:rPr lang="en-GB" sz="1200" dirty="0">
                <a:latin typeface="Aptos" panose="020B0004020202020204" pitchFamily="34" charset="0"/>
              </a:rPr>
              <a:t> (</a:t>
            </a:r>
            <a:r>
              <a:rPr lang="en-KE" sz="1200" b="1" dirty="0">
                <a:solidFill>
                  <a:srgbClr val="FFFFFF"/>
                </a:solidFill>
                <a:latin typeface="Aptos" panose="020B0004020202020204" pitchFamily="34" charset="0"/>
              </a:rPr>
              <a:t>1989</a:t>
            </a:r>
            <a:r>
              <a:rPr lang="en-GB" sz="1200" dirty="0">
                <a:latin typeface="Aptos" panose="020B0004020202020204" pitchFamily="34" charset="0"/>
              </a:rPr>
              <a:t>)</a:t>
            </a:r>
            <a:endParaRPr lang="en-GB" sz="1200" dirty="0">
              <a:solidFill>
                <a:srgbClr val="FFFFFF"/>
              </a:solidFill>
              <a:latin typeface="Aptos" panose="020B0004020202020204" pitchFamily="34" charset="0"/>
            </a:endParaRPr>
          </a:p>
        </p:txBody>
      </p:sp>
      <p:sp>
        <p:nvSpPr>
          <p:cNvPr id="5" name="Rectangle 4"/>
          <p:cNvSpPr/>
          <p:nvPr/>
        </p:nvSpPr>
        <p:spPr>
          <a:xfrm>
            <a:off x="5903156" y="838781"/>
            <a:ext cx="3043896" cy="1508760"/>
          </a:xfrm>
          <a:prstGeom prst="rect">
            <a:avLst/>
          </a:prstGeom>
          <a:solidFill>
            <a:schemeClr val="accent2"/>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lang="en-GB" sz="1200" b="1" dirty="0">
                <a:solidFill>
                  <a:srgbClr val="FFFFFF"/>
                </a:solidFill>
                <a:latin typeface="Aptos" panose="020B0004020202020204" pitchFamily="34" charset="0"/>
              </a:rPr>
              <a:t>    Late 90s-2000s- The Web Explosion </a:t>
            </a:r>
          </a:p>
          <a:p>
            <a:pPr>
              <a:defRPr sz="1800" b="1">
                <a:solidFill>
                  <a:srgbClr val="FFFFFF"/>
                </a:solidFill>
              </a:defRPr>
            </a:pPr>
            <a:endParaRPr lang="en-GB" sz="1200" b="1" dirty="0">
              <a:solidFill>
                <a:srgbClr val="FFFFFF"/>
              </a:solidFill>
              <a:latin typeface="Aptos" panose="020B0004020202020204" pitchFamily="34" charset="0"/>
            </a:endParaRPr>
          </a:p>
          <a:p>
            <a:r>
              <a:rPr sz="1200" b="1" dirty="0">
                <a:solidFill>
                  <a:srgbClr val="FFFFFF"/>
                </a:solidFill>
                <a:latin typeface="Aptos" panose="020B0004020202020204" pitchFamily="34" charset="0"/>
              </a:rPr>
              <a:t>• </a:t>
            </a:r>
            <a:r>
              <a:rPr lang="en-GB" sz="1200" b="1" dirty="0">
                <a:solidFill>
                  <a:srgbClr val="FFFFFF"/>
                </a:solidFill>
                <a:latin typeface="Aptos" panose="020B0004020202020204" pitchFamily="34" charset="0"/>
              </a:rPr>
              <a:t>Google (1998) , </a:t>
            </a:r>
            <a:r>
              <a:rPr lang="en-GB" sz="1200" b="1" dirty="0" err="1">
                <a:solidFill>
                  <a:schemeClr val="accent6">
                    <a:lumMod val="50000"/>
                  </a:schemeClr>
                </a:solidFill>
                <a:latin typeface="Aptos" panose="020B0004020202020204" pitchFamily="34" charset="0"/>
              </a:rPr>
              <a:t>MPesa</a:t>
            </a:r>
            <a:r>
              <a:rPr lang="en-GB" sz="1200" b="1" dirty="0">
                <a:solidFill>
                  <a:srgbClr val="FFFFFF"/>
                </a:solidFill>
                <a:latin typeface="Aptos" panose="020B0004020202020204" pitchFamily="34" charset="0"/>
              </a:rPr>
              <a:t> (2007) &amp; </a:t>
            </a:r>
          </a:p>
          <a:p>
            <a:r>
              <a:rPr lang="en-GB" sz="1200" b="1" dirty="0">
                <a:solidFill>
                  <a:srgbClr val="FFFFFF"/>
                </a:solidFill>
                <a:latin typeface="Aptos" panose="020B0004020202020204" pitchFamily="34" charset="0"/>
              </a:rPr>
              <a:t>    Facebook (2004)</a:t>
            </a:r>
            <a:br>
              <a:rPr sz="1200" b="1" dirty="0">
                <a:solidFill>
                  <a:srgbClr val="FFFFFF"/>
                </a:solidFill>
                <a:latin typeface="Aptos" panose="020B0004020202020204" pitchFamily="34" charset="0"/>
              </a:rPr>
            </a:br>
            <a:r>
              <a:rPr sz="1200" b="1" dirty="0">
                <a:solidFill>
                  <a:srgbClr val="FFFFFF"/>
                </a:solidFill>
                <a:latin typeface="Aptos" panose="020B0004020202020204" pitchFamily="34" charset="0"/>
              </a:rPr>
              <a:t>• </a:t>
            </a:r>
            <a:r>
              <a:rPr lang="en-GB" sz="1200" b="1" dirty="0">
                <a:solidFill>
                  <a:srgbClr val="FFFFFF"/>
                </a:solidFill>
                <a:latin typeface="Aptos" panose="020B0004020202020204" pitchFamily="34" charset="0"/>
              </a:rPr>
              <a:t>Massive amounts of information</a:t>
            </a:r>
            <a:br>
              <a:rPr sz="1200" b="1" dirty="0">
                <a:solidFill>
                  <a:srgbClr val="FFFFFF"/>
                </a:solidFill>
                <a:latin typeface="Aptos" panose="020B0004020202020204" pitchFamily="34" charset="0"/>
              </a:rPr>
            </a:br>
            <a:r>
              <a:rPr sz="1200" b="1" dirty="0">
                <a:solidFill>
                  <a:srgbClr val="FFFFFF"/>
                </a:solidFill>
                <a:latin typeface="Aptos" panose="020B0004020202020204" pitchFamily="34" charset="0"/>
              </a:rPr>
              <a:t>• </a:t>
            </a:r>
            <a:r>
              <a:rPr lang="en-GB" sz="1200" b="1" dirty="0">
                <a:solidFill>
                  <a:srgbClr val="FFFFFF"/>
                </a:solidFill>
                <a:latin typeface="Aptos" panose="020B0004020202020204" pitchFamily="34" charset="0"/>
              </a:rPr>
              <a:t>Unstructured, semi-structured, </a:t>
            </a:r>
          </a:p>
          <a:p>
            <a:r>
              <a:rPr lang="en-GB" sz="1200" b="1" dirty="0">
                <a:solidFill>
                  <a:srgbClr val="FFFFFF"/>
                </a:solidFill>
                <a:latin typeface="Aptos" panose="020B0004020202020204" pitchFamily="34" charset="0"/>
              </a:rPr>
              <a:t>diverse sources</a:t>
            </a:r>
            <a:endParaRPr sz="1200" b="1" dirty="0">
              <a:solidFill>
                <a:srgbClr val="FFFFFF"/>
              </a:solidFill>
              <a:latin typeface="Aptos" panose="020B0004020202020204" pitchFamily="34" charset="0"/>
            </a:endParaRPr>
          </a:p>
        </p:txBody>
      </p:sp>
      <p:sp>
        <p:nvSpPr>
          <p:cNvPr id="6" name="Rectangle 5"/>
          <p:cNvSpPr/>
          <p:nvPr/>
        </p:nvSpPr>
        <p:spPr>
          <a:xfrm>
            <a:off x="520505" y="3072033"/>
            <a:ext cx="2412609" cy="986498"/>
          </a:xfrm>
          <a:prstGeom prst="rect">
            <a:avLst/>
          </a:prstGeom>
          <a:solidFill>
            <a:srgbClr val="E74C3C"/>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defRPr sz="1800" b="1">
                <a:solidFill>
                  <a:srgbClr val="FFFFFF"/>
                </a:solidFill>
              </a:defRPr>
            </a:pPr>
            <a:r>
              <a:rPr lang="en-GB" sz="1350" dirty="0"/>
              <a:t>Solutions to Web Explosion:</a:t>
            </a:r>
            <a:endParaRPr sz="1350" dirty="0"/>
          </a:p>
          <a:p>
            <a:pPr marL="171450" indent="-171450">
              <a:buFont typeface="Arial" panose="020B0604020202020204" pitchFamily="34" charset="0"/>
              <a:buChar char="•"/>
              <a:defRPr sz="1200">
                <a:solidFill>
                  <a:srgbClr val="FFFFFF"/>
                </a:solidFill>
              </a:defRPr>
            </a:pPr>
            <a:r>
              <a:rPr lang="en-US" sz="900" dirty="0">
                <a:solidFill>
                  <a:srgbClr val="FFFFFF"/>
                </a:solidFill>
              </a:rPr>
              <a:t>Carlo Strozzi coins 'NoSQL’ term in 1998</a:t>
            </a:r>
          </a:p>
          <a:p>
            <a:pPr marL="171450" indent="-171450">
              <a:buFont typeface="Arial" panose="020B0604020202020204" pitchFamily="34" charset="0"/>
              <a:buChar char="•"/>
              <a:defRPr sz="1200">
                <a:solidFill>
                  <a:srgbClr val="FFFFFF"/>
                </a:solidFill>
              </a:defRPr>
            </a:pPr>
            <a:r>
              <a:rPr lang="en-US" sz="900" dirty="0">
                <a:solidFill>
                  <a:srgbClr val="FFFFFF"/>
                </a:solidFill>
              </a:rPr>
              <a:t>Google publishes </a:t>
            </a:r>
            <a:r>
              <a:rPr lang="en-US" sz="900" dirty="0" err="1">
                <a:solidFill>
                  <a:srgbClr val="FFFFFF"/>
                </a:solidFill>
              </a:rPr>
              <a:t>BigTable</a:t>
            </a:r>
            <a:r>
              <a:rPr lang="en-US" sz="900" dirty="0">
                <a:solidFill>
                  <a:srgbClr val="FFFFFF"/>
                </a:solidFill>
              </a:rPr>
              <a:t> paper in 2004</a:t>
            </a:r>
          </a:p>
          <a:p>
            <a:pPr marL="171450" indent="-171450">
              <a:buFont typeface="Arial" panose="020B0604020202020204" pitchFamily="34" charset="0"/>
              <a:buChar char="•"/>
              <a:defRPr sz="1200">
                <a:solidFill>
                  <a:srgbClr val="FFFFFF"/>
                </a:solidFill>
              </a:defRPr>
            </a:pPr>
            <a:r>
              <a:rPr lang="en-US" sz="900" dirty="0">
                <a:solidFill>
                  <a:srgbClr val="FFFFFF"/>
                </a:solidFill>
              </a:rPr>
              <a:t>Amazon Dynamo paper published 2007</a:t>
            </a:r>
          </a:p>
          <a:p>
            <a:pPr>
              <a:defRPr sz="1200">
                <a:solidFill>
                  <a:srgbClr val="FFFFFF"/>
                </a:solidFill>
              </a:defRPr>
            </a:pPr>
            <a:endParaRPr sz="900" dirty="0"/>
          </a:p>
        </p:txBody>
      </p:sp>
      <p:sp>
        <p:nvSpPr>
          <p:cNvPr id="7" name="Right Brace 6">
            <a:extLst>
              <a:ext uri="{FF2B5EF4-FFF2-40B4-BE49-F238E27FC236}">
                <a16:creationId xmlns:a16="http://schemas.microsoft.com/office/drawing/2014/main" id="{8D206D7F-6B65-DDF2-6D65-07CA4DAEDE48}"/>
              </a:ext>
            </a:extLst>
          </p:cNvPr>
          <p:cNvSpPr/>
          <p:nvPr/>
        </p:nvSpPr>
        <p:spPr>
          <a:xfrm>
            <a:off x="5419713" y="1195750"/>
            <a:ext cx="295422" cy="583809"/>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KE" dirty="0"/>
          </a:p>
        </p:txBody>
      </p:sp>
      <p:sp>
        <p:nvSpPr>
          <p:cNvPr id="11" name="TextBox 10">
            <a:extLst>
              <a:ext uri="{FF2B5EF4-FFF2-40B4-BE49-F238E27FC236}">
                <a16:creationId xmlns:a16="http://schemas.microsoft.com/office/drawing/2014/main" id="{7DC55188-678E-B069-C238-B034DCB6F09A}"/>
              </a:ext>
            </a:extLst>
          </p:cNvPr>
          <p:cNvSpPr txBox="1"/>
          <p:nvPr/>
        </p:nvSpPr>
        <p:spPr>
          <a:xfrm>
            <a:off x="3010486" y="2541332"/>
            <a:ext cx="5936565" cy="2369880"/>
          </a:xfrm>
          <a:prstGeom prst="rect">
            <a:avLst/>
          </a:prstGeom>
          <a:noFill/>
        </p:spPr>
        <p:txBody>
          <a:bodyPr wrap="square">
            <a:spAutoFit/>
          </a:bodyPr>
          <a:lstStyle/>
          <a:p>
            <a:pPr marL="0" marR="0" lvl="0" indent="0" algn="l" defTabSz="914400" rtl="0" eaLnBrk="1" fontAlgn="t" latinLnBrk="0" hangingPunct="1">
              <a:lnSpc>
                <a:spcPts val="1500"/>
              </a:lnSpc>
              <a:spcBef>
                <a:spcPts val="0"/>
              </a:spcBef>
              <a:spcAft>
                <a:spcPts val="0"/>
              </a:spcAft>
              <a:buClrTx/>
              <a:buSzTx/>
              <a:buFontTx/>
              <a:buNone/>
              <a:tabLst/>
              <a:defRPr/>
            </a:pPr>
            <a:r>
              <a:rPr lang="en-GB" sz="1200" b="1" i="0" dirty="0">
                <a:effectLst/>
                <a:latin typeface="Aptos" panose="020B0004020202020204" pitchFamily="34" charset="0"/>
              </a:rPr>
              <a:t>Early Foundations (2004–2007):</a:t>
            </a:r>
            <a:r>
              <a:rPr lang="en-GB" sz="1200" b="0" i="0" dirty="0">
                <a:effectLst/>
                <a:latin typeface="Aptos" panose="020B0004020202020204" pitchFamily="34" charset="0"/>
              </a:rPr>
              <a:t> Google </a:t>
            </a:r>
            <a:r>
              <a:rPr lang="en-GB" sz="1200" b="0" i="0" dirty="0" err="1">
                <a:effectLst/>
                <a:latin typeface="Aptos" panose="020B0004020202020204" pitchFamily="34" charset="0"/>
              </a:rPr>
              <a:t>BigTable</a:t>
            </a:r>
            <a:r>
              <a:rPr lang="en-GB" sz="1200" b="0" i="0" dirty="0">
                <a:effectLst/>
                <a:latin typeface="Aptos" panose="020B0004020202020204" pitchFamily="34" charset="0"/>
              </a:rPr>
              <a:t> and Amazon Dynamo introduced scalable distributed storage and eventual consistency models, laying the groundwork for modern NoSQL systems.</a:t>
            </a:r>
            <a:r>
              <a:rPr lang="en-GB" sz="1200" dirty="0">
                <a:latin typeface="Aptos" panose="020B0004020202020204" pitchFamily="34" charset="0"/>
              </a:rPr>
              <a:t> </a:t>
            </a:r>
            <a:r>
              <a:rPr lang="en-GB" sz="1200" b="0" i="0" dirty="0">
                <a:effectLst/>
                <a:latin typeface="Aptos" panose="020B0004020202020204" pitchFamily="34" charset="0"/>
              </a:rPr>
              <a:t>The term </a:t>
            </a:r>
            <a:r>
              <a:rPr lang="en-GB" sz="1200" b="0" i="1" dirty="0">
                <a:effectLst/>
                <a:latin typeface="Aptos" panose="020B0004020202020204" pitchFamily="34" charset="0"/>
              </a:rPr>
              <a:t>“</a:t>
            </a:r>
            <a:r>
              <a:rPr lang="en-GB" sz="1200" b="1" i="1" dirty="0">
                <a:effectLst/>
                <a:latin typeface="Aptos" panose="020B0004020202020204" pitchFamily="34" charset="0"/>
              </a:rPr>
              <a:t>NoSQL”  (Not Only SQL)</a:t>
            </a:r>
            <a:r>
              <a:rPr lang="en-GB" sz="1200" i="1" dirty="0">
                <a:latin typeface="Aptos" panose="020B0004020202020204" pitchFamily="34" charset="0"/>
              </a:rPr>
              <a:t> </a:t>
            </a:r>
            <a:r>
              <a:rPr lang="en-GB" sz="1200" b="0" i="0" dirty="0">
                <a:effectLst/>
                <a:latin typeface="Aptos" panose="020B0004020202020204" pitchFamily="34" charset="0"/>
              </a:rPr>
              <a:t>gained popularity as a label for non‑relational, horizontally scalable databases for massive workloads. </a:t>
            </a:r>
          </a:p>
          <a:p>
            <a:pPr marL="0" marR="0" lvl="0" indent="0" algn="l" defTabSz="914400" rtl="0" eaLnBrk="1" fontAlgn="t" latinLnBrk="0" hangingPunct="1">
              <a:lnSpc>
                <a:spcPts val="1500"/>
              </a:lnSpc>
              <a:spcBef>
                <a:spcPts val="0"/>
              </a:spcBef>
              <a:spcAft>
                <a:spcPts val="0"/>
              </a:spcAft>
              <a:buClrTx/>
              <a:buSzTx/>
              <a:buFontTx/>
              <a:buNone/>
              <a:tabLst/>
              <a:defRPr/>
            </a:pPr>
            <a:endParaRPr lang="en-GB" sz="1200" b="0" i="0" dirty="0">
              <a:effectLst/>
              <a:latin typeface="Aptos" panose="020B0004020202020204" pitchFamily="34" charset="0"/>
            </a:endParaRPr>
          </a:p>
          <a:p>
            <a:r>
              <a:rPr lang="en-GB" sz="1200" dirty="0">
                <a:latin typeface="Segoe UI" panose="020B0502040204020203" pitchFamily="34" charset="0"/>
              </a:rPr>
              <a:t>Around the same period (</a:t>
            </a:r>
            <a:r>
              <a:rPr lang="en-GB" sz="1200" b="1" dirty="0">
                <a:latin typeface="Segoe UI" panose="020B0502040204020203" pitchFamily="34" charset="0"/>
              </a:rPr>
              <a:t>2010</a:t>
            </a:r>
            <a:r>
              <a:rPr lang="en-GB" sz="1200" dirty="0">
                <a:latin typeface="Segoe UI" panose="020B0502040204020203" pitchFamily="34" charset="0"/>
              </a:rPr>
              <a:t>), </a:t>
            </a:r>
            <a:r>
              <a:rPr lang="en-GB" sz="1200" b="1" dirty="0">
                <a:latin typeface="Segoe UI" panose="020B0502040204020203" pitchFamily="34" charset="0"/>
              </a:rPr>
              <a:t>James Dixon </a:t>
            </a:r>
            <a:r>
              <a:rPr lang="en-GB" sz="1200" dirty="0">
                <a:latin typeface="Segoe UI" panose="020B0502040204020203" pitchFamily="34" charset="0"/>
              </a:rPr>
              <a:t>introduced the concept of the </a:t>
            </a:r>
            <a:r>
              <a:rPr lang="en-GB" sz="1200" b="1" i="1" dirty="0">
                <a:latin typeface="Segoe UI" panose="020B0502040204020203" pitchFamily="34" charset="0"/>
              </a:rPr>
              <a:t>Data Lake</a:t>
            </a:r>
            <a:r>
              <a:rPr lang="en-GB" sz="1200" dirty="0">
                <a:latin typeface="Segoe UI" panose="020B0502040204020203" pitchFamily="34" charset="0"/>
              </a:rPr>
              <a:t>, describing it as a repository for massive raw, unstructured, semi-structured and  unprocessed data stored in its natural state. </a:t>
            </a:r>
          </a:p>
          <a:p>
            <a:endParaRPr lang="en-GB" sz="1200" b="0" i="0" dirty="0">
              <a:effectLst/>
              <a:latin typeface="Aptos" panose="020B0004020202020204" pitchFamily="34" charset="0"/>
            </a:endParaRPr>
          </a:p>
          <a:p>
            <a:pPr marL="0" marR="0" lvl="0" indent="0" algn="l" defTabSz="914400" rtl="0" eaLnBrk="1" fontAlgn="t" latinLnBrk="0" hangingPunct="1">
              <a:lnSpc>
                <a:spcPts val="1500"/>
              </a:lnSpc>
              <a:spcBef>
                <a:spcPts val="0"/>
              </a:spcBef>
              <a:spcAft>
                <a:spcPts val="0"/>
              </a:spcAft>
              <a:buClrTx/>
              <a:buSzTx/>
              <a:buFontTx/>
              <a:buNone/>
              <a:tabLst/>
              <a:defRPr/>
            </a:pPr>
            <a:r>
              <a:rPr lang="en-GB" sz="1200" b="1" i="0" dirty="0">
                <a:effectLst/>
                <a:latin typeface="Aptos" panose="020B0004020202020204" pitchFamily="34" charset="0"/>
              </a:rPr>
              <a:t>Modern Era (2020s+):</a:t>
            </a:r>
            <a:r>
              <a:rPr lang="en-GB" sz="1200" b="0" i="0" dirty="0">
                <a:effectLst/>
                <a:latin typeface="Aptos" panose="020B0004020202020204" pitchFamily="34" charset="0"/>
              </a:rPr>
              <a:t> Next‑generation systems blend </a:t>
            </a:r>
            <a:r>
              <a:rPr lang="en-GB" sz="1200" b="1" i="0" dirty="0">
                <a:effectLst/>
                <a:latin typeface="Aptos" panose="020B0004020202020204" pitchFamily="34" charset="0"/>
              </a:rPr>
              <a:t>SQL</a:t>
            </a:r>
            <a:r>
              <a:rPr lang="en-GB" sz="1200" b="0" i="0" dirty="0">
                <a:effectLst/>
                <a:latin typeface="Aptos" panose="020B0004020202020204" pitchFamily="34" charset="0"/>
              </a:rPr>
              <a:t> and </a:t>
            </a:r>
            <a:r>
              <a:rPr lang="en-GB" sz="1200" b="1" i="0" dirty="0">
                <a:effectLst/>
                <a:latin typeface="Aptos" panose="020B0004020202020204" pitchFamily="34" charset="0"/>
              </a:rPr>
              <a:t>NoSQL</a:t>
            </a:r>
            <a:r>
              <a:rPr lang="en-GB" sz="1200" b="0" i="0" dirty="0">
                <a:effectLst/>
                <a:latin typeface="Aptos" panose="020B0004020202020204" pitchFamily="34" charset="0"/>
              </a:rPr>
              <a:t> capabilities, giving rise to </a:t>
            </a:r>
            <a:r>
              <a:rPr lang="en-GB" sz="1200" b="1" i="0" dirty="0">
                <a:effectLst/>
                <a:latin typeface="Aptos" panose="020B0004020202020204" pitchFamily="34" charset="0"/>
              </a:rPr>
              <a:t>NewSQL</a:t>
            </a:r>
            <a:r>
              <a:rPr lang="en-GB" sz="1200" b="0" i="0" dirty="0">
                <a:effectLst/>
                <a:latin typeface="Aptos" panose="020B0004020202020204" pitchFamily="34" charset="0"/>
              </a:rPr>
              <a:t> and multi‑model databases that combine flexibility with strong consistency and transactional guarantees.</a:t>
            </a:r>
          </a:p>
        </p:txBody>
      </p:sp>
      <p:sp>
        <p:nvSpPr>
          <p:cNvPr id="14" name="Right Arrow 7">
            <a:extLst>
              <a:ext uri="{FF2B5EF4-FFF2-40B4-BE49-F238E27FC236}">
                <a16:creationId xmlns:a16="http://schemas.microsoft.com/office/drawing/2014/main" id="{1A0A0AFD-C838-11DD-6CFA-EA4AF83E56FF}"/>
              </a:ext>
            </a:extLst>
          </p:cNvPr>
          <p:cNvSpPr/>
          <p:nvPr/>
        </p:nvSpPr>
        <p:spPr>
          <a:xfrm>
            <a:off x="2693420" y="2092569"/>
            <a:ext cx="457200" cy="334108"/>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
        <p:nvSpPr>
          <p:cNvPr id="15" name="Right Arrow 7">
            <a:extLst>
              <a:ext uri="{FF2B5EF4-FFF2-40B4-BE49-F238E27FC236}">
                <a16:creationId xmlns:a16="http://schemas.microsoft.com/office/drawing/2014/main" id="{01815877-41FC-5AB9-1AA3-237B2CD25691}"/>
              </a:ext>
            </a:extLst>
          </p:cNvPr>
          <p:cNvSpPr/>
          <p:nvPr/>
        </p:nvSpPr>
        <p:spPr>
          <a:xfrm>
            <a:off x="5593936" y="2090812"/>
            <a:ext cx="457200" cy="335865"/>
          </a:xfrm>
          <a:prstGeom prst="rightArrow">
            <a:avLst/>
          </a:prstGeom>
          <a:solidFill>
            <a:srgbClr val="646464"/>
          </a:solidFill>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NoSQL Revolution: 2000s to Present</a:t>
            </a:r>
            <a:endParaRPr lang="en-US" sz="2400" dirty="0"/>
          </a:p>
        </p:txBody>
      </p:sp>
      <p:sp>
        <p:nvSpPr>
          <p:cNvPr id="5" name="Shape 3"/>
          <p:cNvSpPr/>
          <p:nvPr/>
        </p:nvSpPr>
        <p:spPr>
          <a:xfrm>
            <a:off x="320040" y="96012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2743200" cy="457200"/>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393192" y="96012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2004</a:t>
            </a:r>
            <a:endParaRPr lang="en-US" sz="1300" dirty="0"/>
          </a:p>
        </p:txBody>
      </p:sp>
      <p:sp>
        <p:nvSpPr>
          <p:cNvPr id="8" name="Text 6"/>
          <p:cNvSpPr/>
          <p:nvPr/>
        </p:nvSpPr>
        <p:spPr>
          <a:xfrm>
            <a:off x="1234440" y="96012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Google BigTable</a:t>
            </a:r>
            <a:endParaRPr lang="en-US" sz="1100" dirty="0"/>
          </a:p>
        </p:txBody>
      </p:sp>
      <p:sp>
        <p:nvSpPr>
          <p:cNvPr id="9" name="Text 7"/>
          <p:cNvSpPr/>
          <p:nvPr/>
        </p:nvSpPr>
        <p:spPr>
          <a:xfrm>
            <a:off x="411480" y="146304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Google publishes paper on BigTable — distributed storage for structured data across thousands of commodity servers.</a:t>
            </a:r>
            <a:endParaRPr lang="en-US" sz="1050" dirty="0"/>
          </a:p>
        </p:txBody>
      </p:sp>
      <p:sp>
        <p:nvSpPr>
          <p:cNvPr id="10" name="Shape 8"/>
          <p:cNvSpPr/>
          <p:nvPr/>
        </p:nvSpPr>
        <p:spPr>
          <a:xfrm>
            <a:off x="3200400" y="96012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1" name="Shape 9"/>
          <p:cNvSpPr/>
          <p:nvPr/>
        </p:nvSpPr>
        <p:spPr>
          <a:xfrm>
            <a:off x="3200400" y="960120"/>
            <a:ext cx="2743200" cy="457200"/>
          </a:xfrm>
          <a:prstGeom prst="rect">
            <a:avLst/>
          </a:prstGeom>
          <a:solidFill>
            <a:srgbClr val="028090"/>
          </a:solidFill>
          <a:ln w="12700">
            <a:solidFill>
              <a:srgbClr val="028090"/>
            </a:solidFill>
            <a:prstDash val="solid"/>
          </a:ln>
        </p:spPr>
        <p:txBody>
          <a:bodyPr/>
          <a:lstStyle/>
          <a:p>
            <a:endParaRPr lang="en-KE"/>
          </a:p>
        </p:txBody>
      </p:sp>
      <p:sp>
        <p:nvSpPr>
          <p:cNvPr id="12" name="Text 10"/>
          <p:cNvSpPr/>
          <p:nvPr/>
        </p:nvSpPr>
        <p:spPr>
          <a:xfrm>
            <a:off x="3273552" y="96012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2007</a:t>
            </a:r>
            <a:endParaRPr lang="en-US" sz="1300" dirty="0"/>
          </a:p>
        </p:txBody>
      </p:sp>
      <p:sp>
        <p:nvSpPr>
          <p:cNvPr id="13" name="Text 11"/>
          <p:cNvSpPr/>
          <p:nvPr/>
        </p:nvSpPr>
        <p:spPr>
          <a:xfrm>
            <a:off x="4114800" y="96012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Amazon Dynamo</a:t>
            </a:r>
            <a:endParaRPr lang="en-US" sz="1100" dirty="0"/>
          </a:p>
        </p:txBody>
      </p:sp>
      <p:sp>
        <p:nvSpPr>
          <p:cNvPr id="14" name="Text 12"/>
          <p:cNvSpPr/>
          <p:nvPr/>
        </p:nvSpPr>
        <p:spPr>
          <a:xfrm>
            <a:off x="3291840" y="146304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Amazon's landmark paper on Dynamo introduces eventual consistency and key-value storage at web scale.</a:t>
            </a:r>
            <a:endParaRPr lang="en-US" sz="1050" dirty="0"/>
          </a:p>
        </p:txBody>
      </p:sp>
      <p:sp>
        <p:nvSpPr>
          <p:cNvPr id="15" name="Shape 13"/>
          <p:cNvSpPr/>
          <p:nvPr/>
        </p:nvSpPr>
        <p:spPr>
          <a:xfrm>
            <a:off x="6080760" y="96012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6" name="Shape 14"/>
          <p:cNvSpPr/>
          <p:nvPr/>
        </p:nvSpPr>
        <p:spPr>
          <a:xfrm>
            <a:off x="6080760" y="960120"/>
            <a:ext cx="2743200" cy="457200"/>
          </a:xfrm>
          <a:prstGeom prst="rect">
            <a:avLst/>
          </a:prstGeom>
          <a:solidFill>
            <a:srgbClr val="0A2342"/>
          </a:solidFill>
          <a:ln w="12700">
            <a:solidFill>
              <a:srgbClr val="0A2342"/>
            </a:solidFill>
            <a:prstDash val="solid"/>
          </a:ln>
        </p:spPr>
        <p:txBody>
          <a:bodyPr/>
          <a:lstStyle/>
          <a:p>
            <a:endParaRPr lang="en-KE"/>
          </a:p>
        </p:txBody>
      </p:sp>
      <p:sp>
        <p:nvSpPr>
          <p:cNvPr id="17" name="Text 15"/>
          <p:cNvSpPr/>
          <p:nvPr/>
        </p:nvSpPr>
        <p:spPr>
          <a:xfrm>
            <a:off x="6153912" y="96012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2009</a:t>
            </a:r>
            <a:endParaRPr lang="en-US" sz="1300" dirty="0"/>
          </a:p>
        </p:txBody>
      </p:sp>
      <p:sp>
        <p:nvSpPr>
          <p:cNvPr id="18" name="Text 16"/>
          <p:cNvSpPr/>
          <p:nvPr/>
        </p:nvSpPr>
        <p:spPr>
          <a:xfrm>
            <a:off x="6995160" y="96012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'NoSQL' Recoined</a:t>
            </a:r>
            <a:endParaRPr lang="en-US" sz="1100" dirty="0"/>
          </a:p>
        </p:txBody>
      </p:sp>
      <p:sp>
        <p:nvSpPr>
          <p:cNvPr id="19" name="Text 17"/>
          <p:cNvSpPr/>
          <p:nvPr/>
        </p:nvSpPr>
        <p:spPr>
          <a:xfrm>
            <a:off x="6172200" y="146304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Johan Oskarsson's meetup in San Francisco popularizes 'NoSQL' to describe the new wave of non-relational databases.</a:t>
            </a:r>
            <a:endParaRPr lang="en-US" sz="1050" dirty="0"/>
          </a:p>
        </p:txBody>
      </p:sp>
      <p:sp>
        <p:nvSpPr>
          <p:cNvPr id="20" name="Shape 18"/>
          <p:cNvSpPr/>
          <p:nvPr/>
        </p:nvSpPr>
        <p:spPr>
          <a:xfrm>
            <a:off x="320040" y="292608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1" name="Shape 19"/>
          <p:cNvSpPr/>
          <p:nvPr/>
        </p:nvSpPr>
        <p:spPr>
          <a:xfrm>
            <a:off x="320040" y="2926080"/>
            <a:ext cx="2743200" cy="457200"/>
          </a:xfrm>
          <a:prstGeom prst="rect">
            <a:avLst/>
          </a:prstGeom>
          <a:solidFill>
            <a:srgbClr val="028090"/>
          </a:solidFill>
          <a:ln w="12700">
            <a:solidFill>
              <a:srgbClr val="028090"/>
            </a:solidFill>
            <a:prstDash val="solid"/>
          </a:ln>
        </p:spPr>
        <p:txBody>
          <a:bodyPr/>
          <a:lstStyle/>
          <a:p>
            <a:endParaRPr lang="en-KE"/>
          </a:p>
        </p:txBody>
      </p:sp>
      <p:sp>
        <p:nvSpPr>
          <p:cNvPr id="22" name="Text 20"/>
          <p:cNvSpPr/>
          <p:nvPr/>
        </p:nvSpPr>
        <p:spPr>
          <a:xfrm>
            <a:off x="393192" y="292608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2010</a:t>
            </a:r>
            <a:endParaRPr lang="en-US" sz="1300" dirty="0"/>
          </a:p>
        </p:txBody>
      </p:sp>
      <p:sp>
        <p:nvSpPr>
          <p:cNvPr id="23" name="Text 21"/>
          <p:cNvSpPr/>
          <p:nvPr/>
        </p:nvSpPr>
        <p:spPr>
          <a:xfrm>
            <a:off x="1234440" y="292608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Cassandra &amp; MongoDB Rise</a:t>
            </a:r>
            <a:endParaRPr lang="en-US" sz="1100" dirty="0"/>
          </a:p>
        </p:txBody>
      </p:sp>
      <p:sp>
        <p:nvSpPr>
          <p:cNvPr id="24" name="Text 22"/>
          <p:cNvSpPr/>
          <p:nvPr/>
        </p:nvSpPr>
        <p:spPr>
          <a:xfrm>
            <a:off x="411480" y="342900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Apache Cassandra (Facebook origin) and MongoDB gain massive enterprise and startup adoption.</a:t>
            </a:r>
            <a:endParaRPr lang="en-US" sz="1050" dirty="0"/>
          </a:p>
        </p:txBody>
      </p:sp>
      <p:sp>
        <p:nvSpPr>
          <p:cNvPr id="25" name="Shape 23"/>
          <p:cNvSpPr/>
          <p:nvPr/>
        </p:nvSpPr>
        <p:spPr>
          <a:xfrm>
            <a:off x="3200400" y="292608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3200400" y="2926080"/>
            <a:ext cx="2743200" cy="457200"/>
          </a:xfrm>
          <a:prstGeom prst="rect">
            <a:avLst/>
          </a:prstGeom>
          <a:solidFill>
            <a:srgbClr val="0A2342"/>
          </a:solidFill>
          <a:ln w="12700">
            <a:solidFill>
              <a:srgbClr val="0A2342"/>
            </a:solidFill>
            <a:prstDash val="solid"/>
          </a:ln>
        </p:spPr>
        <p:txBody>
          <a:bodyPr/>
          <a:lstStyle/>
          <a:p>
            <a:endParaRPr lang="en-KE"/>
          </a:p>
        </p:txBody>
      </p:sp>
      <p:sp>
        <p:nvSpPr>
          <p:cNvPr id="27" name="Text 25"/>
          <p:cNvSpPr/>
          <p:nvPr/>
        </p:nvSpPr>
        <p:spPr>
          <a:xfrm>
            <a:off x="3273552" y="292608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2012+</a:t>
            </a:r>
            <a:endParaRPr lang="en-US" sz="1300" dirty="0"/>
          </a:p>
        </p:txBody>
      </p:sp>
      <p:sp>
        <p:nvSpPr>
          <p:cNvPr id="28" name="Text 26"/>
          <p:cNvSpPr/>
          <p:nvPr/>
        </p:nvSpPr>
        <p:spPr>
          <a:xfrm>
            <a:off x="4114800" y="292608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Cloud-Native Era</a:t>
            </a:r>
            <a:endParaRPr lang="en-US" sz="1100" dirty="0"/>
          </a:p>
        </p:txBody>
      </p:sp>
      <p:sp>
        <p:nvSpPr>
          <p:cNvPr id="29" name="Text 27"/>
          <p:cNvSpPr/>
          <p:nvPr/>
        </p:nvSpPr>
        <p:spPr>
          <a:xfrm>
            <a:off x="3291840" y="342900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AWS DynamoDB, Azure Cosmos DB, Google Firestore — NoSQL becomes a fully managed, cloud-first offering.</a:t>
            </a:r>
            <a:endParaRPr lang="en-US" sz="1050" dirty="0"/>
          </a:p>
        </p:txBody>
      </p:sp>
      <p:sp>
        <p:nvSpPr>
          <p:cNvPr id="30" name="Shape 28"/>
          <p:cNvSpPr/>
          <p:nvPr/>
        </p:nvSpPr>
        <p:spPr>
          <a:xfrm>
            <a:off x="6080760" y="2926080"/>
            <a:ext cx="2743200" cy="182880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31" name="Shape 29"/>
          <p:cNvSpPr/>
          <p:nvPr/>
        </p:nvSpPr>
        <p:spPr>
          <a:xfrm>
            <a:off x="6080760" y="2926080"/>
            <a:ext cx="2743200" cy="457200"/>
          </a:xfrm>
          <a:prstGeom prst="rect">
            <a:avLst/>
          </a:prstGeom>
          <a:solidFill>
            <a:srgbClr val="028090"/>
          </a:solidFill>
          <a:ln w="12700">
            <a:solidFill>
              <a:srgbClr val="028090"/>
            </a:solidFill>
            <a:prstDash val="solid"/>
          </a:ln>
        </p:spPr>
        <p:txBody>
          <a:bodyPr/>
          <a:lstStyle/>
          <a:p>
            <a:endParaRPr lang="en-KE"/>
          </a:p>
        </p:txBody>
      </p:sp>
      <p:sp>
        <p:nvSpPr>
          <p:cNvPr id="32" name="Text 30"/>
          <p:cNvSpPr/>
          <p:nvPr/>
        </p:nvSpPr>
        <p:spPr>
          <a:xfrm>
            <a:off x="6153912" y="2926080"/>
            <a:ext cx="914400" cy="457200"/>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2020s</a:t>
            </a:r>
            <a:endParaRPr lang="en-US" sz="1300" dirty="0"/>
          </a:p>
        </p:txBody>
      </p:sp>
      <p:sp>
        <p:nvSpPr>
          <p:cNvPr id="33" name="Text 31"/>
          <p:cNvSpPr/>
          <p:nvPr/>
        </p:nvSpPr>
        <p:spPr>
          <a:xfrm>
            <a:off x="6995160" y="2926080"/>
            <a:ext cx="1783080" cy="45720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Multi-Model &amp; NewSQL</a:t>
            </a:r>
            <a:endParaRPr lang="en-US" sz="1100" dirty="0"/>
          </a:p>
        </p:txBody>
      </p:sp>
      <p:sp>
        <p:nvSpPr>
          <p:cNvPr id="34" name="Text 32"/>
          <p:cNvSpPr/>
          <p:nvPr/>
        </p:nvSpPr>
        <p:spPr>
          <a:xfrm>
            <a:off x="6172200" y="3429000"/>
            <a:ext cx="2578608" cy="1261872"/>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Databases blend SQL + NoSQL; NewSQL (CockroachDB, Spanner) emerges to combine both worlds.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B</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Definitions &amp; Key Terms in NoSQL</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What is NoSQL? Core Definitions</a:t>
            </a:r>
            <a:endParaRPr lang="en-US" sz="2400" dirty="0"/>
          </a:p>
        </p:txBody>
      </p:sp>
      <p:sp>
        <p:nvSpPr>
          <p:cNvPr id="5" name="Shape 3"/>
          <p:cNvSpPr/>
          <p:nvPr/>
        </p:nvSpPr>
        <p:spPr>
          <a:xfrm>
            <a:off x="320040" y="960120"/>
            <a:ext cx="4297680" cy="397764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6" name="Text 4"/>
          <p:cNvSpPr/>
          <p:nvPr/>
        </p:nvSpPr>
        <p:spPr>
          <a:xfrm>
            <a:off x="411480" y="1051560"/>
            <a:ext cx="4114800" cy="548640"/>
          </a:xfrm>
          <a:prstGeom prst="rect">
            <a:avLst/>
          </a:prstGeom>
          <a:noFill/>
          <a:ln/>
        </p:spPr>
        <p:txBody>
          <a:bodyPr wrap="square" rtlCol="0" anchor="ctr"/>
          <a:lstStyle/>
          <a:p>
            <a:pPr marL="0" indent="0">
              <a:buNone/>
            </a:pPr>
            <a:r>
              <a:rPr lang="en-US" sz="2600" b="1" dirty="0">
                <a:solidFill>
                  <a:srgbClr val="F0C040"/>
                </a:solidFill>
                <a:latin typeface="Georgia" pitchFamily="34" charset="0"/>
                <a:ea typeface="Georgia" pitchFamily="34" charset="-122"/>
                <a:cs typeface="Georgia" pitchFamily="34" charset="-120"/>
              </a:rPr>
              <a:t>NoSQL</a:t>
            </a:r>
            <a:endParaRPr lang="en-US" sz="2600" dirty="0"/>
          </a:p>
        </p:txBody>
      </p:sp>
      <p:sp>
        <p:nvSpPr>
          <p:cNvPr id="7" name="Text 5"/>
          <p:cNvSpPr/>
          <p:nvPr/>
        </p:nvSpPr>
        <p:spPr>
          <a:xfrm>
            <a:off x="411480" y="1645920"/>
            <a:ext cx="4114800" cy="3108960"/>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"Not Only SQL" — a broad class of database management systems that differ from traditional relational databases in that they do not use SQL as their primary query language and do not require fixed table schemas.</a:t>
            </a:r>
            <a:endParaRPr lang="en-US" sz="1200" dirty="0"/>
          </a:p>
          <a:p>
            <a:pPr marL="0" indent="0">
              <a:buNone/>
            </a:pP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NoSQL databases are built for: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Horizontal scalability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Flexible data models</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High availability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  · High write/read throughput</a:t>
            </a:r>
            <a:endParaRPr lang="en-US" sz="1200" dirty="0"/>
          </a:p>
        </p:txBody>
      </p:sp>
      <p:sp>
        <p:nvSpPr>
          <p:cNvPr id="8" name="Shape 6"/>
          <p:cNvSpPr/>
          <p:nvPr/>
        </p:nvSpPr>
        <p:spPr>
          <a:xfrm>
            <a:off x="4846320" y="96012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9" name="Shape 7"/>
          <p:cNvSpPr/>
          <p:nvPr/>
        </p:nvSpPr>
        <p:spPr>
          <a:xfrm>
            <a:off x="4846320" y="960120"/>
            <a:ext cx="73152" cy="914400"/>
          </a:xfrm>
          <a:prstGeom prst="rect">
            <a:avLst/>
          </a:prstGeom>
          <a:solidFill>
            <a:srgbClr val="02C39A"/>
          </a:solidFill>
          <a:ln w="12700">
            <a:solidFill>
              <a:srgbClr val="02C39A"/>
            </a:solidFill>
            <a:prstDash val="solid"/>
          </a:ln>
        </p:spPr>
        <p:txBody>
          <a:bodyPr/>
          <a:lstStyle/>
          <a:p>
            <a:endParaRPr lang="en-KE"/>
          </a:p>
        </p:txBody>
      </p:sp>
      <p:sp>
        <p:nvSpPr>
          <p:cNvPr id="10" name="Text 8"/>
          <p:cNvSpPr/>
          <p:nvPr/>
        </p:nvSpPr>
        <p:spPr>
          <a:xfrm>
            <a:off x="5029200" y="100584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Horizontal Scaling</a:t>
            </a:r>
            <a:endParaRPr lang="en-US" sz="1300" dirty="0"/>
          </a:p>
        </p:txBody>
      </p:sp>
      <p:sp>
        <p:nvSpPr>
          <p:cNvPr id="11" name="Text 9"/>
          <p:cNvSpPr/>
          <p:nvPr/>
        </p:nvSpPr>
        <p:spPr>
          <a:xfrm>
            <a:off x="5029200" y="134416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Adding more servers (nodes) to distribute load, vs vertical scaling (bigger single server).</a:t>
            </a:r>
            <a:endParaRPr lang="en-US" sz="1050" dirty="0"/>
          </a:p>
        </p:txBody>
      </p:sp>
      <p:sp>
        <p:nvSpPr>
          <p:cNvPr id="12" name="Shape 10"/>
          <p:cNvSpPr/>
          <p:nvPr/>
        </p:nvSpPr>
        <p:spPr>
          <a:xfrm>
            <a:off x="4846320" y="196596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846320" y="1965960"/>
            <a:ext cx="73152" cy="914400"/>
          </a:xfrm>
          <a:prstGeom prst="rect">
            <a:avLst/>
          </a:prstGeom>
          <a:solidFill>
            <a:srgbClr val="02C39A"/>
          </a:solidFill>
          <a:ln w="12700">
            <a:solidFill>
              <a:srgbClr val="02C39A"/>
            </a:solidFill>
            <a:prstDash val="solid"/>
          </a:ln>
        </p:spPr>
        <p:txBody>
          <a:bodyPr/>
          <a:lstStyle/>
          <a:p>
            <a:endParaRPr lang="en-KE"/>
          </a:p>
        </p:txBody>
      </p:sp>
      <p:sp>
        <p:nvSpPr>
          <p:cNvPr id="14" name="Text 12"/>
          <p:cNvSpPr/>
          <p:nvPr/>
        </p:nvSpPr>
        <p:spPr>
          <a:xfrm>
            <a:off x="5029200" y="201168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Eventual Consistency</a:t>
            </a:r>
            <a:endParaRPr lang="en-US" sz="1300" dirty="0"/>
          </a:p>
        </p:txBody>
      </p:sp>
      <p:sp>
        <p:nvSpPr>
          <p:cNvPr id="15" name="Text 13"/>
          <p:cNvSpPr/>
          <p:nvPr/>
        </p:nvSpPr>
        <p:spPr>
          <a:xfrm>
            <a:off x="5029200" y="235000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will become consistent across nodes over time — not immediately (vs. ACID).</a:t>
            </a:r>
            <a:endParaRPr lang="en-US" sz="1050" dirty="0"/>
          </a:p>
        </p:txBody>
      </p:sp>
      <p:sp>
        <p:nvSpPr>
          <p:cNvPr id="16" name="Shape 14"/>
          <p:cNvSpPr/>
          <p:nvPr/>
        </p:nvSpPr>
        <p:spPr>
          <a:xfrm>
            <a:off x="4846320" y="297180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7" name="Shape 15"/>
          <p:cNvSpPr/>
          <p:nvPr/>
        </p:nvSpPr>
        <p:spPr>
          <a:xfrm>
            <a:off x="4846320" y="2971800"/>
            <a:ext cx="73152" cy="914400"/>
          </a:xfrm>
          <a:prstGeom prst="rect">
            <a:avLst/>
          </a:prstGeom>
          <a:solidFill>
            <a:srgbClr val="02C39A"/>
          </a:solidFill>
          <a:ln w="12700">
            <a:solidFill>
              <a:srgbClr val="02C39A"/>
            </a:solidFill>
            <a:prstDash val="solid"/>
          </a:ln>
        </p:spPr>
        <p:txBody>
          <a:bodyPr/>
          <a:lstStyle/>
          <a:p>
            <a:endParaRPr lang="en-KE"/>
          </a:p>
        </p:txBody>
      </p:sp>
      <p:sp>
        <p:nvSpPr>
          <p:cNvPr id="18" name="Text 16"/>
          <p:cNvSpPr/>
          <p:nvPr/>
        </p:nvSpPr>
        <p:spPr>
          <a:xfrm>
            <a:off x="5029200" y="301752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CAP Theorem</a:t>
            </a:r>
            <a:endParaRPr lang="en-US" sz="1300" dirty="0"/>
          </a:p>
        </p:txBody>
      </p:sp>
      <p:sp>
        <p:nvSpPr>
          <p:cNvPr id="19" name="Text 17"/>
          <p:cNvSpPr/>
          <p:nvPr/>
        </p:nvSpPr>
        <p:spPr>
          <a:xfrm>
            <a:off x="5029200" y="335584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 distributed system can only guarantee 2 of 3: Consistency, Availability, Partition Tolerance.</a:t>
            </a:r>
            <a:endParaRPr lang="en-US" sz="1050" dirty="0"/>
          </a:p>
        </p:txBody>
      </p:sp>
      <p:sp>
        <p:nvSpPr>
          <p:cNvPr id="20" name="Shape 18"/>
          <p:cNvSpPr/>
          <p:nvPr/>
        </p:nvSpPr>
        <p:spPr>
          <a:xfrm>
            <a:off x="4846320" y="3977640"/>
            <a:ext cx="4023360" cy="91440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1" name="Shape 19"/>
          <p:cNvSpPr/>
          <p:nvPr/>
        </p:nvSpPr>
        <p:spPr>
          <a:xfrm>
            <a:off x="4846320" y="3977640"/>
            <a:ext cx="73152" cy="914400"/>
          </a:xfrm>
          <a:prstGeom prst="rect">
            <a:avLst/>
          </a:prstGeom>
          <a:solidFill>
            <a:srgbClr val="02C39A"/>
          </a:solidFill>
          <a:ln w="12700">
            <a:solidFill>
              <a:srgbClr val="02C39A"/>
            </a:solidFill>
            <a:prstDash val="solid"/>
          </a:ln>
        </p:spPr>
        <p:txBody>
          <a:bodyPr/>
          <a:lstStyle/>
          <a:p>
            <a:endParaRPr lang="en-KE"/>
          </a:p>
        </p:txBody>
      </p:sp>
      <p:sp>
        <p:nvSpPr>
          <p:cNvPr id="22" name="Text 20"/>
          <p:cNvSpPr/>
          <p:nvPr/>
        </p:nvSpPr>
        <p:spPr>
          <a:xfrm>
            <a:off x="5029200" y="4023360"/>
            <a:ext cx="3749040" cy="32004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Schema-less</a:t>
            </a:r>
            <a:endParaRPr lang="en-US" sz="1300" dirty="0"/>
          </a:p>
        </p:txBody>
      </p:sp>
      <p:sp>
        <p:nvSpPr>
          <p:cNvPr id="23" name="Text 21"/>
          <p:cNvSpPr/>
          <p:nvPr/>
        </p:nvSpPr>
        <p:spPr>
          <a:xfrm>
            <a:off x="5029200" y="4361688"/>
            <a:ext cx="374904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No rigid predefined structure; each record can have different fields.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KEY Concepts: ACID vs BASE &amp; CAP Theorem</a:t>
            </a:r>
            <a:endParaRPr lang="en-US" sz="2400" dirty="0"/>
          </a:p>
        </p:txBody>
      </p:sp>
      <p:sp>
        <p:nvSpPr>
          <p:cNvPr id="5" name="Shape 3"/>
          <p:cNvSpPr/>
          <p:nvPr/>
        </p:nvSpPr>
        <p:spPr>
          <a:xfrm>
            <a:off x="320040" y="960120"/>
            <a:ext cx="3931920" cy="397764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3931920" cy="502920"/>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3749040" cy="5029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ACID (SQL Databases)</a:t>
            </a:r>
            <a:endParaRPr lang="en-US" sz="1500" dirty="0"/>
          </a:p>
        </p:txBody>
      </p:sp>
      <p:sp>
        <p:nvSpPr>
          <p:cNvPr id="8" name="Shape 6"/>
          <p:cNvSpPr/>
          <p:nvPr/>
        </p:nvSpPr>
        <p:spPr>
          <a:xfrm>
            <a:off x="411480" y="1554480"/>
            <a:ext cx="502920" cy="502920"/>
          </a:xfrm>
          <a:prstGeom prst="ellipse">
            <a:avLst/>
          </a:prstGeom>
          <a:solidFill>
            <a:srgbClr val="028090"/>
          </a:solidFill>
          <a:ln w="12700">
            <a:solidFill>
              <a:srgbClr val="028090"/>
            </a:solidFill>
            <a:prstDash val="solid"/>
          </a:ln>
        </p:spPr>
        <p:txBody>
          <a:bodyPr/>
          <a:lstStyle/>
          <a:p>
            <a:endParaRPr lang="en-KE"/>
          </a:p>
        </p:txBody>
      </p:sp>
      <p:sp>
        <p:nvSpPr>
          <p:cNvPr id="9" name="Text 7"/>
          <p:cNvSpPr/>
          <p:nvPr/>
        </p:nvSpPr>
        <p:spPr>
          <a:xfrm>
            <a:off x="411480" y="155448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a:t>
            </a:r>
            <a:endParaRPr lang="en-US" sz="1800" dirty="0"/>
          </a:p>
        </p:txBody>
      </p:sp>
      <p:sp>
        <p:nvSpPr>
          <p:cNvPr id="10" name="Text 8"/>
          <p:cNvSpPr/>
          <p:nvPr/>
        </p:nvSpPr>
        <p:spPr>
          <a:xfrm>
            <a:off x="1005840" y="157276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Atomicity</a:t>
            </a:r>
            <a:endParaRPr lang="en-US" sz="1200" dirty="0"/>
          </a:p>
        </p:txBody>
      </p:sp>
      <p:sp>
        <p:nvSpPr>
          <p:cNvPr id="11" name="Text 9"/>
          <p:cNvSpPr/>
          <p:nvPr/>
        </p:nvSpPr>
        <p:spPr>
          <a:xfrm>
            <a:off x="1005840" y="182880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All operations in a transaction succeed or all fail.</a:t>
            </a:r>
            <a:endParaRPr lang="en-US" sz="1050" dirty="0"/>
          </a:p>
        </p:txBody>
      </p:sp>
      <p:sp>
        <p:nvSpPr>
          <p:cNvPr id="12" name="Shape 10"/>
          <p:cNvSpPr/>
          <p:nvPr/>
        </p:nvSpPr>
        <p:spPr>
          <a:xfrm>
            <a:off x="411480" y="2377440"/>
            <a:ext cx="502920" cy="502920"/>
          </a:xfrm>
          <a:prstGeom prst="ellipse">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411480" y="237744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C</a:t>
            </a:r>
            <a:endParaRPr lang="en-US" sz="1800" dirty="0"/>
          </a:p>
        </p:txBody>
      </p:sp>
      <p:sp>
        <p:nvSpPr>
          <p:cNvPr id="14" name="Text 12"/>
          <p:cNvSpPr/>
          <p:nvPr/>
        </p:nvSpPr>
        <p:spPr>
          <a:xfrm>
            <a:off x="1005840" y="239572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Consistency</a:t>
            </a:r>
            <a:endParaRPr lang="en-US" sz="1200" dirty="0"/>
          </a:p>
        </p:txBody>
      </p:sp>
      <p:sp>
        <p:nvSpPr>
          <p:cNvPr id="15" name="Text 13"/>
          <p:cNvSpPr/>
          <p:nvPr/>
        </p:nvSpPr>
        <p:spPr>
          <a:xfrm>
            <a:off x="1005840" y="265176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must always be in a valid state.</a:t>
            </a:r>
            <a:endParaRPr lang="en-US" sz="1050" dirty="0"/>
          </a:p>
        </p:txBody>
      </p:sp>
      <p:sp>
        <p:nvSpPr>
          <p:cNvPr id="16" name="Shape 14"/>
          <p:cNvSpPr/>
          <p:nvPr/>
        </p:nvSpPr>
        <p:spPr>
          <a:xfrm>
            <a:off x="411480" y="3200400"/>
            <a:ext cx="502920" cy="502920"/>
          </a:xfrm>
          <a:prstGeom prst="ellipse">
            <a:avLst/>
          </a:prstGeom>
          <a:solidFill>
            <a:srgbClr val="028090"/>
          </a:solidFill>
          <a:ln w="12700">
            <a:solidFill>
              <a:srgbClr val="028090"/>
            </a:solidFill>
            <a:prstDash val="solid"/>
          </a:ln>
        </p:spPr>
        <p:txBody>
          <a:bodyPr/>
          <a:lstStyle/>
          <a:p>
            <a:endParaRPr lang="en-KE"/>
          </a:p>
        </p:txBody>
      </p:sp>
      <p:sp>
        <p:nvSpPr>
          <p:cNvPr id="17" name="Text 15"/>
          <p:cNvSpPr/>
          <p:nvPr/>
        </p:nvSpPr>
        <p:spPr>
          <a:xfrm>
            <a:off x="411480" y="320040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I</a:t>
            </a:r>
            <a:endParaRPr lang="en-US" sz="1800" dirty="0"/>
          </a:p>
        </p:txBody>
      </p:sp>
      <p:sp>
        <p:nvSpPr>
          <p:cNvPr id="18" name="Text 16"/>
          <p:cNvSpPr/>
          <p:nvPr/>
        </p:nvSpPr>
        <p:spPr>
          <a:xfrm>
            <a:off x="1005840" y="321868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Isolation</a:t>
            </a:r>
            <a:endParaRPr lang="en-US" sz="1200" dirty="0"/>
          </a:p>
        </p:txBody>
      </p:sp>
      <p:sp>
        <p:nvSpPr>
          <p:cNvPr id="19" name="Text 17"/>
          <p:cNvSpPr/>
          <p:nvPr/>
        </p:nvSpPr>
        <p:spPr>
          <a:xfrm>
            <a:off x="1005840" y="347472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Concurrent transactions don't interfere.</a:t>
            </a:r>
            <a:endParaRPr lang="en-US" sz="1050" dirty="0"/>
          </a:p>
        </p:txBody>
      </p:sp>
      <p:sp>
        <p:nvSpPr>
          <p:cNvPr id="20" name="Shape 18"/>
          <p:cNvSpPr/>
          <p:nvPr/>
        </p:nvSpPr>
        <p:spPr>
          <a:xfrm>
            <a:off x="411480" y="4023360"/>
            <a:ext cx="502920" cy="502920"/>
          </a:xfrm>
          <a:prstGeom prst="ellipse">
            <a:avLst/>
          </a:prstGeom>
          <a:solidFill>
            <a:srgbClr val="028090"/>
          </a:solidFill>
          <a:ln w="12700">
            <a:solidFill>
              <a:srgbClr val="028090"/>
            </a:solidFill>
            <a:prstDash val="solid"/>
          </a:ln>
        </p:spPr>
        <p:txBody>
          <a:bodyPr/>
          <a:lstStyle/>
          <a:p>
            <a:endParaRPr lang="en-KE"/>
          </a:p>
        </p:txBody>
      </p:sp>
      <p:sp>
        <p:nvSpPr>
          <p:cNvPr id="21" name="Text 19"/>
          <p:cNvSpPr/>
          <p:nvPr/>
        </p:nvSpPr>
        <p:spPr>
          <a:xfrm>
            <a:off x="411480" y="4023360"/>
            <a:ext cx="502920" cy="50292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D</a:t>
            </a:r>
            <a:endParaRPr lang="en-US" sz="1800" dirty="0"/>
          </a:p>
        </p:txBody>
      </p:sp>
      <p:sp>
        <p:nvSpPr>
          <p:cNvPr id="22" name="Text 20"/>
          <p:cNvSpPr/>
          <p:nvPr/>
        </p:nvSpPr>
        <p:spPr>
          <a:xfrm>
            <a:off x="1005840" y="4041648"/>
            <a:ext cx="118872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Durability</a:t>
            </a:r>
            <a:endParaRPr lang="en-US" sz="1200" dirty="0"/>
          </a:p>
        </p:txBody>
      </p:sp>
      <p:sp>
        <p:nvSpPr>
          <p:cNvPr id="23" name="Text 21"/>
          <p:cNvSpPr/>
          <p:nvPr/>
        </p:nvSpPr>
        <p:spPr>
          <a:xfrm>
            <a:off x="1005840" y="4297680"/>
            <a:ext cx="3108960" cy="45720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Committed data persists even after failures.</a:t>
            </a:r>
            <a:endParaRPr lang="en-US" sz="1050" dirty="0"/>
          </a:p>
        </p:txBody>
      </p:sp>
      <p:sp>
        <p:nvSpPr>
          <p:cNvPr id="24" name="Shape 22"/>
          <p:cNvSpPr/>
          <p:nvPr/>
        </p:nvSpPr>
        <p:spPr>
          <a:xfrm>
            <a:off x="4434840" y="960120"/>
            <a:ext cx="4389120" cy="397764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5" name="Shape 23"/>
          <p:cNvSpPr/>
          <p:nvPr/>
        </p:nvSpPr>
        <p:spPr>
          <a:xfrm>
            <a:off x="4434840" y="960120"/>
            <a:ext cx="4389120" cy="502920"/>
          </a:xfrm>
          <a:prstGeom prst="rect">
            <a:avLst/>
          </a:prstGeom>
          <a:solidFill>
            <a:srgbClr val="028090"/>
          </a:solidFill>
          <a:ln w="12700">
            <a:solidFill>
              <a:srgbClr val="028090"/>
            </a:solidFill>
            <a:prstDash val="solid"/>
          </a:ln>
        </p:spPr>
        <p:txBody>
          <a:bodyPr/>
          <a:lstStyle/>
          <a:p>
            <a:endParaRPr lang="en-KE"/>
          </a:p>
        </p:txBody>
      </p:sp>
      <p:sp>
        <p:nvSpPr>
          <p:cNvPr id="26" name="Text 24"/>
          <p:cNvSpPr/>
          <p:nvPr/>
        </p:nvSpPr>
        <p:spPr>
          <a:xfrm>
            <a:off x="4526280" y="960120"/>
            <a:ext cx="4206240" cy="50292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BASE (NoSQL Databases)</a:t>
            </a:r>
            <a:endParaRPr lang="en-US" sz="1500" dirty="0"/>
          </a:p>
        </p:txBody>
      </p:sp>
      <p:sp>
        <p:nvSpPr>
          <p:cNvPr id="27" name="Shape 25"/>
          <p:cNvSpPr/>
          <p:nvPr/>
        </p:nvSpPr>
        <p:spPr>
          <a:xfrm>
            <a:off x="4526280" y="1554480"/>
            <a:ext cx="594360" cy="594360"/>
          </a:xfrm>
          <a:prstGeom prst="ellipse">
            <a:avLst/>
          </a:prstGeom>
          <a:solidFill>
            <a:srgbClr val="02C39A"/>
          </a:solidFill>
          <a:ln w="12700">
            <a:solidFill>
              <a:srgbClr val="02C39A"/>
            </a:solidFill>
            <a:prstDash val="solid"/>
          </a:ln>
        </p:spPr>
        <p:txBody>
          <a:bodyPr/>
          <a:lstStyle/>
          <a:p>
            <a:endParaRPr lang="en-KE"/>
          </a:p>
        </p:txBody>
      </p:sp>
      <p:sp>
        <p:nvSpPr>
          <p:cNvPr id="28" name="Text 26"/>
          <p:cNvSpPr/>
          <p:nvPr/>
        </p:nvSpPr>
        <p:spPr>
          <a:xfrm>
            <a:off x="4526280" y="155448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BA</a:t>
            </a:r>
            <a:endParaRPr lang="en-US" sz="1100" dirty="0"/>
          </a:p>
        </p:txBody>
      </p:sp>
      <p:sp>
        <p:nvSpPr>
          <p:cNvPr id="29" name="Text 27"/>
          <p:cNvSpPr/>
          <p:nvPr/>
        </p:nvSpPr>
        <p:spPr>
          <a:xfrm>
            <a:off x="5230368" y="159105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Basically Available</a:t>
            </a:r>
            <a:endParaRPr lang="en-US" sz="1200" dirty="0"/>
          </a:p>
        </p:txBody>
      </p:sp>
      <p:sp>
        <p:nvSpPr>
          <p:cNvPr id="30" name="Text 28"/>
          <p:cNvSpPr/>
          <p:nvPr/>
        </p:nvSpPr>
        <p:spPr>
          <a:xfrm>
            <a:off x="5230368" y="188366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guarantees availability (some data may be stale).</a:t>
            </a:r>
            <a:endParaRPr lang="en-US" sz="1050" dirty="0"/>
          </a:p>
        </p:txBody>
      </p:sp>
      <p:sp>
        <p:nvSpPr>
          <p:cNvPr id="31" name="Shape 29"/>
          <p:cNvSpPr/>
          <p:nvPr/>
        </p:nvSpPr>
        <p:spPr>
          <a:xfrm>
            <a:off x="4526280" y="2651760"/>
            <a:ext cx="594360" cy="594360"/>
          </a:xfrm>
          <a:prstGeom prst="ellipse">
            <a:avLst/>
          </a:prstGeom>
          <a:solidFill>
            <a:srgbClr val="02C39A"/>
          </a:solidFill>
          <a:ln w="12700">
            <a:solidFill>
              <a:srgbClr val="02C39A"/>
            </a:solidFill>
            <a:prstDash val="solid"/>
          </a:ln>
        </p:spPr>
        <p:txBody>
          <a:bodyPr/>
          <a:lstStyle/>
          <a:p>
            <a:endParaRPr lang="en-KE"/>
          </a:p>
        </p:txBody>
      </p:sp>
      <p:sp>
        <p:nvSpPr>
          <p:cNvPr id="32" name="Text 30"/>
          <p:cNvSpPr/>
          <p:nvPr/>
        </p:nvSpPr>
        <p:spPr>
          <a:xfrm>
            <a:off x="4526280" y="265176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a:t>
            </a:r>
            <a:endParaRPr lang="en-US" sz="1100" dirty="0"/>
          </a:p>
        </p:txBody>
      </p:sp>
      <p:sp>
        <p:nvSpPr>
          <p:cNvPr id="33" name="Text 31"/>
          <p:cNvSpPr/>
          <p:nvPr/>
        </p:nvSpPr>
        <p:spPr>
          <a:xfrm>
            <a:off x="5230368" y="268833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Soft State</a:t>
            </a:r>
            <a:endParaRPr lang="en-US" sz="1200" dirty="0"/>
          </a:p>
        </p:txBody>
      </p:sp>
      <p:sp>
        <p:nvSpPr>
          <p:cNvPr id="34" name="Text 32"/>
          <p:cNvSpPr/>
          <p:nvPr/>
        </p:nvSpPr>
        <p:spPr>
          <a:xfrm>
            <a:off x="5230368" y="298094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State may change even without new input (due to eventual consistency).</a:t>
            </a:r>
            <a:endParaRPr lang="en-US" sz="1050" dirty="0"/>
          </a:p>
        </p:txBody>
      </p:sp>
      <p:sp>
        <p:nvSpPr>
          <p:cNvPr id="35" name="Shape 33"/>
          <p:cNvSpPr/>
          <p:nvPr/>
        </p:nvSpPr>
        <p:spPr>
          <a:xfrm>
            <a:off x="4526280" y="3749040"/>
            <a:ext cx="594360" cy="594360"/>
          </a:xfrm>
          <a:prstGeom prst="ellipse">
            <a:avLst/>
          </a:prstGeom>
          <a:solidFill>
            <a:srgbClr val="02C39A"/>
          </a:solidFill>
          <a:ln w="12700">
            <a:solidFill>
              <a:srgbClr val="02C39A"/>
            </a:solidFill>
            <a:prstDash val="solid"/>
          </a:ln>
        </p:spPr>
        <p:txBody>
          <a:bodyPr/>
          <a:lstStyle/>
          <a:p>
            <a:endParaRPr lang="en-KE"/>
          </a:p>
        </p:txBody>
      </p:sp>
      <p:sp>
        <p:nvSpPr>
          <p:cNvPr id="36" name="Text 34"/>
          <p:cNvSpPr/>
          <p:nvPr/>
        </p:nvSpPr>
        <p:spPr>
          <a:xfrm>
            <a:off x="4526280" y="3749040"/>
            <a:ext cx="594360" cy="594360"/>
          </a:xfrm>
          <a:prstGeom prst="rect">
            <a:avLst/>
          </a:prstGeom>
          <a:noFill/>
          <a:ln/>
        </p:spPr>
        <p:txBody>
          <a:bodyPr wrap="square" lIns="0" tIns="0" rIns="0" bIns="0"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E</a:t>
            </a:r>
            <a:endParaRPr lang="en-US" sz="1100" dirty="0"/>
          </a:p>
        </p:txBody>
      </p:sp>
      <p:sp>
        <p:nvSpPr>
          <p:cNvPr id="37" name="Text 35"/>
          <p:cNvSpPr/>
          <p:nvPr/>
        </p:nvSpPr>
        <p:spPr>
          <a:xfrm>
            <a:off x="5230368" y="3785616"/>
            <a:ext cx="3383280" cy="274320"/>
          </a:xfrm>
          <a:prstGeom prst="rect">
            <a:avLst/>
          </a:prstGeom>
          <a:noFill/>
          <a:ln/>
        </p:spPr>
        <p:txBody>
          <a:bodyPr wrap="square" lIns="0" tIns="0" rIns="0" bIns="0" rtlCol="0" anchor="ctr"/>
          <a:lstStyle/>
          <a:p>
            <a:pPr marL="0" indent="0">
              <a:buNone/>
            </a:pPr>
            <a:r>
              <a:rPr lang="en-US" sz="1200" b="1" dirty="0">
                <a:solidFill>
                  <a:srgbClr val="0A2342"/>
                </a:solidFill>
                <a:latin typeface="Georgia" pitchFamily="34" charset="0"/>
                <a:ea typeface="Georgia" pitchFamily="34" charset="-122"/>
                <a:cs typeface="Georgia" pitchFamily="34" charset="-120"/>
              </a:rPr>
              <a:t>Eventual Consistency</a:t>
            </a:r>
            <a:endParaRPr lang="en-US" sz="1200" dirty="0"/>
          </a:p>
        </p:txBody>
      </p:sp>
      <p:sp>
        <p:nvSpPr>
          <p:cNvPr id="38" name="Text 36"/>
          <p:cNvSpPr/>
          <p:nvPr/>
        </p:nvSpPr>
        <p:spPr>
          <a:xfrm>
            <a:off x="5230368" y="4078224"/>
            <a:ext cx="3383280" cy="640080"/>
          </a:xfrm>
          <a:prstGeom prst="rect">
            <a:avLst/>
          </a:prstGeom>
          <a:noFill/>
          <a:ln/>
        </p:spPr>
        <p:txBody>
          <a:bodyPr wrap="square" lIns="0" tIns="0" rIns="0" bIns="0"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System will become consistent over time without guaranteeing when.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C</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Main Features, Design &amp; Deployment Considerations</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Main Features of NoSQL Databases</a:t>
            </a:r>
            <a:endParaRPr lang="en-US" sz="2400" dirty="0"/>
          </a:p>
        </p:txBody>
      </p:sp>
      <p:sp>
        <p:nvSpPr>
          <p:cNvPr id="5" name="Shape 3"/>
          <p:cNvSpPr/>
          <p:nvPr/>
        </p:nvSpPr>
        <p:spPr>
          <a:xfrm>
            <a:off x="32004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73152" cy="1874520"/>
          </a:xfrm>
          <a:prstGeom prst="rect">
            <a:avLst/>
          </a:prstGeom>
          <a:solidFill>
            <a:srgbClr val="028090"/>
          </a:solidFill>
          <a:ln w="12700">
            <a:solidFill>
              <a:srgbClr val="028090"/>
            </a:solidFill>
            <a:prstDash val="solid"/>
          </a:ln>
        </p:spPr>
        <p:txBody>
          <a:bodyPr/>
          <a:lstStyle/>
          <a:p>
            <a:endParaRPr lang="en-KE"/>
          </a:p>
        </p:txBody>
      </p:sp>
      <p:sp>
        <p:nvSpPr>
          <p:cNvPr id="7" name="Text 5"/>
          <p:cNvSpPr/>
          <p:nvPr/>
        </p:nvSpPr>
        <p:spPr>
          <a:xfrm>
            <a:off x="48463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High Performance</a:t>
            </a:r>
            <a:endParaRPr lang="en-US" sz="1300" dirty="0"/>
          </a:p>
        </p:txBody>
      </p:sp>
      <p:sp>
        <p:nvSpPr>
          <p:cNvPr id="8" name="Text 6"/>
          <p:cNvSpPr/>
          <p:nvPr/>
        </p:nvSpPr>
        <p:spPr>
          <a:xfrm>
            <a:off x="48463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Optimized read/write speeds. No JOIN overhead. Direct document or key access.</a:t>
            </a:r>
            <a:endParaRPr lang="en-US" sz="1100" dirty="0"/>
          </a:p>
        </p:txBody>
      </p:sp>
      <p:sp>
        <p:nvSpPr>
          <p:cNvPr id="9" name="Shape 7"/>
          <p:cNvSpPr/>
          <p:nvPr/>
        </p:nvSpPr>
        <p:spPr>
          <a:xfrm>
            <a:off x="320040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3200400" y="960120"/>
            <a:ext cx="73152" cy="1874520"/>
          </a:xfrm>
          <a:prstGeom prst="rect">
            <a:avLst/>
          </a:prstGeom>
          <a:solidFill>
            <a:srgbClr val="028090"/>
          </a:solidFill>
          <a:ln w="12700">
            <a:solidFill>
              <a:srgbClr val="028090"/>
            </a:solidFill>
            <a:prstDash val="solid"/>
          </a:ln>
        </p:spPr>
        <p:txBody>
          <a:bodyPr/>
          <a:lstStyle/>
          <a:p>
            <a:endParaRPr lang="en-KE"/>
          </a:p>
        </p:txBody>
      </p:sp>
      <p:sp>
        <p:nvSpPr>
          <p:cNvPr id="11" name="Text 9"/>
          <p:cNvSpPr/>
          <p:nvPr/>
        </p:nvSpPr>
        <p:spPr>
          <a:xfrm>
            <a:off x="336499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Flexible Schema</a:t>
            </a:r>
            <a:endParaRPr lang="en-US" sz="1300" dirty="0"/>
          </a:p>
        </p:txBody>
      </p:sp>
      <p:sp>
        <p:nvSpPr>
          <p:cNvPr id="12" name="Text 10"/>
          <p:cNvSpPr/>
          <p:nvPr/>
        </p:nvSpPr>
        <p:spPr>
          <a:xfrm>
            <a:off x="336499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Add/remove fields without migrations. Each record can have different attributes.</a:t>
            </a:r>
            <a:endParaRPr lang="en-US" sz="1100" dirty="0"/>
          </a:p>
        </p:txBody>
      </p:sp>
      <p:sp>
        <p:nvSpPr>
          <p:cNvPr id="13" name="Shape 11"/>
          <p:cNvSpPr/>
          <p:nvPr/>
        </p:nvSpPr>
        <p:spPr>
          <a:xfrm>
            <a:off x="6080760" y="96012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6080760" y="960120"/>
            <a:ext cx="73152" cy="1874520"/>
          </a:xfrm>
          <a:prstGeom prst="rect">
            <a:avLst/>
          </a:prstGeom>
          <a:solidFill>
            <a:srgbClr val="028090"/>
          </a:solidFill>
          <a:ln w="12700">
            <a:solidFill>
              <a:srgbClr val="028090"/>
            </a:solidFill>
            <a:prstDash val="solid"/>
          </a:ln>
        </p:spPr>
        <p:txBody>
          <a:bodyPr/>
          <a:lstStyle/>
          <a:p>
            <a:endParaRPr lang="en-KE"/>
          </a:p>
        </p:txBody>
      </p:sp>
      <p:sp>
        <p:nvSpPr>
          <p:cNvPr id="15" name="Text 13"/>
          <p:cNvSpPr/>
          <p:nvPr/>
        </p:nvSpPr>
        <p:spPr>
          <a:xfrm>
            <a:off x="6245352" y="106984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Horizontal Scalability</a:t>
            </a:r>
            <a:endParaRPr lang="en-US" sz="1300" dirty="0"/>
          </a:p>
        </p:txBody>
      </p:sp>
      <p:sp>
        <p:nvSpPr>
          <p:cNvPr id="16" name="Text 14"/>
          <p:cNvSpPr/>
          <p:nvPr/>
        </p:nvSpPr>
        <p:spPr>
          <a:xfrm>
            <a:off x="6245352" y="152704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Distribute data across commodity servers. Add nodes as data grows without downtime.</a:t>
            </a:r>
            <a:endParaRPr lang="en-US" sz="1100" dirty="0"/>
          </a:p>
        </p:txBody>
      </p:sp>
      <p:sp>
        <p:nvSpPr>
          <p:cNvPr id="17" name="Shape 15"/>
          <p:cNvSpPr/>
          <p:nvPr/>
        </p:nvSpPr>
        <p:spPr>
          <a:xfrm>
            <a:off x="32004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320040" y="2971800"/>
            <a:ext cx="73152" cy="1874520"/>
          </a:xfrm>
          <a:prstGeom prst="rect">
            <a:avLst/>
          </a:prstGeom>
          <a:solidFill>
            <a:srgbClr val="02C39A"/>
          </a:solidFill>
          <a:ln w="12700">
            <a:solidFill>
              <a:srgbClr val="02C39A"/>
            </a:solidFill>
            <a:prstDash val="solid"/>
          </a:ln>
        </p:spPr>
        <p:txBody>
          <a:bodyPr/>
          <a:lstStyle/>
          <a:p>
            <a:endParaRPr lang="en-KE"/>
          </a:p>
        </p:txBody>
      </p:sp>
      <p:sp>
        <p:nvSpPr>
          <p:cNvPr id="19" name="Text 17"/>
          <p:cNvSpPr/>
          <p:nvPr/>
        </p:nvSpPr>
        <p:spPr>
          <a:xfrm>
            <a:off x="48463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Replication &amp; HA</a:t>
            </a:r>
            <a:endParaRPr lang="en-US" sz="1300" dirty="0"/>
          </a:p>
        </p:txBody>
      </p:sp>
      <p:sp>
        <p:nvSpPr>
          <p:cNvPr id="20" name="Text 18"/>
          <p:cNvSpPr/>
          <p:nvPr/>
        </p:nvSpPr>
        <p:spPr>
          <a:xfrm>
            <a:off x="48463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Built-in replication across multiple nodes. Auto-failover for 99.99%+ uptime.</a:t>
            </a:r>
            <a:endParaRPr lang="en-US" sz="1100" dirty="0"/>
          </a:p>
        </p:txBody>
      </p:sp>
      <p:sp>
        <p:nvSpPr>
          <p:cNvPr id="21" name="Shape 19"/>
          <p:cNvSpPr/>
          <p:nvPr/>
        </p:nvSpPr>
        <p:spPr>
          <a:xfrm>
            <a:off x="320040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0" y="2971800"/>
            <a:ext cx="73152" cy="1874520"/>
          </a:xfrm>
          <a:prstGeom prst="rect">
            <a:avLst/>
          </a:prstGeom>
          <a:solidFill>
            <a:srgbClr val="02C39A"/>
          </a:solidFill>
          <a:ln w="12700">
            <a:solidFill>
              <a:srgbClr val="02C39A"/>
            </a:solidFill>
            <a:prstDash val="solid"/>
          </a:ln>
        </p:spPr>
        <p:txBody>
          <a:bodyPr/>
          <a:lstStyle/>
          <a:p>
            <a:endParaRPr lang="en-KE"/>
          </a:p>
        </p:txBody>
      </p:sp>
      <p:sp>
        <p:nvSpPr>
          <p:cNvPr id="23" name="Text 21"/>
          <p:cNvSpPr/>
          <p:nvPr/>
        </p:nvSpPr>
        <p:spPr>
          <a:xfrm>
            <a:off x="336499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Geographically Distributed</a:t>
            </a:r>
            <a:endParaRPr lang="en-US" sz="1300" dirty="0"/>
          </a:p>
        </p:txBody>
      </p:sp>
      <p:sp>
        <p:nvSpPr>
          <p:cNvPr id="24" name="Text 22"/>
          <p:cNvSpPr/>
          <p:nvPr/>
        </p:nvSpPr>
        <p:spPr>
          <a:xfrm>
            <a:off x="336499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Multi-region clusters. Data stays close to users for low-latency global access.</a:t>
            </a:r>
            <a:endParaRPr lang="en-US" sz="1100" dirty="0"/>
          </a:p>
        </p:txBody>
      </p:sp>
      <p:sp>
        <p:nvSpPr>
          <p:cNvPr id="25" name="Shape 23"/>
          <p:cNvSpPr/>
          <p:nvPr/>
        </p:nvSpPr>
        <p:spPr>
          <a:xfrm>
            <a:off x="6080760" y="2971800"/>
            <a:ext cx="2743200" cy="18745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6080760" y="2971800"/>
            <a:ext cx="73152" cy="1874520"/>
          </a:xfrm>
          <a:prstGeom prst="rect">
            <a:avLst/>
          </a:prstGeom>
          <a:solidFill>
            <a:srgbClr val="02C39A"/>
          </a:solidFill>
          <a:ln w="12700">
            <a:solidFill>
              <a:srgbClr val="02C39A"/>
            </a:solidFill>
            <a:prstDash val="solid"/>
          </a:ln>
        </p:spPr>
        <p:txBody>
          <a:bodyPr/>
          <a:lstStyle/>
          <a:p>
            <a:endParaRPr lang="en-KE"/>
          </a:p>
        </p:txBody>
      </p:sp>
      <p:sp>
        <p:nvSpPr>
          <p:cNvPr id="27" name="Text 25"/>
          <p:cNvSpPr/>
          <p:nvPr/>
        </p:nvSpPr>
        <p:spPr>
          <a:xfrm>
            <a:off x="6245352" y="3081528"/>
            <a:ext cx="2514600" cy="41148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  Cost Efficiency</a:t>
            </a:r>
            <a:endParaRPr lang="en-US" sz="1300" dirty="0"/>
          </a:p>
        </p:txBody>
      </p:sp>
      <p:sp>
        <p:nvSpPr>
          <p:cNvPr id="28" name="Text 26"/>
          <p:cNvSpPr/>
          <p:nvPr/>
        </p:nvSpPr>
        <p:spPr>
          <a:xfrm>
            <a:off x="6245352" y="3538728"/>
            <a:ext cx="2514600" cy="118872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Runs on commodity hardware. Open-source options. Pay-as-you-grow cloud models.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Design &amp; Deployment Considerations</a:t>
            </a:r>
            <a:endParaRPr lang="en-US" sz="2400" dirty="0"/>
          </a:p>
        </p:txBody>
      </p:sp>
      <p:sp>
        <p:nvSpPr>
          <p:cNvPr id="5" name="Text 3"/>
          <p:cNvSpPr/>
          <p:nvPr/>
        </p:nvSpPr>
        <p:spPr>
          <a:xfrm>
            <a:off x="365760" y="960120"/>
            <a:ext cx="841248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Choosing and deploying a NoSQL database requires careful planning across several dimensions:</a:t>
            </a:r>
            <a:endParaRPr lang="en-US" sz="1200" dirty="0"/>
          </a:p>
        </p:txBody>
      </p:sp>
      <p:sp>
        <p:nvSpPr>
          <p:cNvPr id="6" name="Shape 4"/>
          <p:cNvSpPr/>
          <p:nvPr/>
        </p:nvSpPr>
        <p:spPr>
          <a:xfrm>
            <a:off x="320040" y="14173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7" name="Shape 5"/>
          <p:cNvSpPr/>
          <p:nvPr/>
        </p:nvSpPr>
        <p:spPr>
          <a:xfrm>
            <a:off x="320040" y="1417320"/>
            <a:ext cx="4206240" cy="438912"/>
          </a:xfrm>
          <a:prstGeom prst="rect">
            <a:avLst/>
          </a:prstGeom>
          <a:solidFill>
            <a:srgbClr val="0A2342"/>
          </a:solidFill>
          <a:ln w="12700">
            <a:solidFill>
              <a:srgbClr val="0A2342"/>
            </a:solidFill>
            <a:prstDash val="solid"/>
          </a:ln>
        </p:spPr>
        <p:txBody>
          <a:bodyPr/>
          <a:lstStyle/>
          <a:p>
            <a:endParaRPr lang="en-KE"/>
          </a:p>
        </p:txBody>
      </p:sp>
      <p:sp>
        <p:nvSpPr>
          <p:cNvPr id="8" name="Text 6"/>
          <p:cNvSpPr/>
          <p:nvPr/>
        </p:nvSpPr>
        <p:spPr>
          <a:xfrm>
            <a:off x="429768" y="14173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Data Modeling</a:t>
            </a:r>
            <a:endParaRPr lang="en-US" sz="1400" dirty="0"/>
          </a:p>
        </p:txBody>
      </p:sp>
      <p:sp>
        <p:nvSpPr>
          <p:cNvPr id="9" name="Text 7"/>
          <p:cNvSpPr/>
          <p:nvPr/>
        </p:nvSpPr>
        <p:spPr>
          <a:xfrm>
            <a:off x="429768" y="18928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Understand access patterns FIRST, then model data</a:t>
            </a:r>
            <a:endParaRPr lang="en-US" sz="1050" dirty="0"/>
          </a:p>
        </p:txBody>
      </p:sp>
      <p:sp>
        <p:nvSpPr>
          <p:cNvPr id="10" name="Text 8"/>
          <p:cNvSpPr/>
          <p:nvPr/>
        </p:nvSpPr>
        <p:spPr>
          <a:xfrm>
            <a:off x="429768" y="22677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Denormalization is intentional and expected</a:t>
            </a:r>
            <a:endParaRPr lang="en-US" sz="1050" dirty="0"/>
          </a:p>
        </p:txBody>
      </p:sp>
      <p:sp>
        <p:nvSpPr>
          <p:cNvPr id="11" name="Text 9"/>
          <p:cNvSpPr/>
          <p:nvPr/>
        </p:nvSpPr>
        <p:spPr>
          <a:xfrm>
            <a:off x="429768" y="26426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Avoid thinking in relational tables</a:t>
            </a:r>
            <a:endParaRPr lang="en-US" sz="1050" dirty="0"/>
          </a:p>
        </p:txBody>
      </p:sp>
      <p:sp>
        <p:nvSpPr>
          <p:cNvPr id="12" name="Shape 10"/>
          <p:cNvSpPr/>
          <p:nvPr/>
        </p:nvSpPr>
        <p:spPr>
          <a:xfrm>
            <a:off x="4754880" y="14173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754880" y="1417320"/>
            <a:ext cx="4206240" cy="438912"/>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4864608" y="14173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Consistency Needs</a:t>
            </a:r>
            <a:endParaRPr lang="en-US" sz="1400" dirty="0"/>
          </a:p>
        </p:txBody>
      </p:sp>
      <p:sp>
        <p:nvSpPr>
          <p:cNvPr id="15" name="Text 13"/>
          <p:cNvSpPr/>
          <p:nvPr/>
        </p:nvSpPr>
        <p:spPr>
          <a:xfrm>
            <a:off x="4864608" y="18928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Strong consistency → choose CP systems (HBase, Zookeeper)</a:t>
            </a:r>
            <a:endParaRPr lang="en-US" sz="1050" dirty="0"/>
          </a:p>
        </p:txBody>
      </p:sp>
      <p:sp>
        <p:nvSpPr>
          <p:cNvPr id="16" name="Text 14"/>
          <p:cNvSpPr/>
          <p:nvPr/>
        </p:nvSpPr>
        <p:spPr>
          <a:xfrm>
            <a:off x="4864608" y="22677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High availability → choose AP systems (Cassandra, CouchDB)</a:t>
            </a:r>
            <a:endParaRPr lang="en-US" sz="1050" dirty="0"/>
          </a:p>
        </p:txBody>
      </p:sp>
      <p:sp>
        <p:nvSpPr>
          <p:cNvPr id="17" name="Text 15"/>
          <p:cNvSpPr/>
          <p:nvPr/>
        </p:nvSpPr>
        <p:spPr>
          <a:xfrm>
            <a:off x="4864608" y="26426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Define acceptable staleness windows</a:t>
            </a:r>
            <a:endParaRPr lang="en-US" sz="1050" dirty="0"/>
          </a:p>
        </p:txBody>
      </p:sp>
      <p:sp>
        <p:nvSpPr>
          <p:cNvPr id="18" name="Shape 16"/>
          <p:cNvSpPr/>
          <p:nvPr/>
        </p:nvSpPr>
        <p:spPr>
          <a:xfrm>
            <a:off x="320040" y="32461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9" name="Shape 17"/>
          <p:cNvSpPr/>
          <p:nvPr/>
        </p:nvSpPr>
        <p:spPr>
          <a:xfrm>
            <a:off x="320040" y="3246120"/>
            <a:ext cx="4206240" cy="438912"/>
          </a:xfrm>
          <a:prstGeom prst="rect">
            <a:avLst/>
          </a:prstGeom>
          <a:solidFill>
            <a:srgbClr val="0A2342"/>
          </a:solidFill>
          <a:ln w="12700">
            <a:solidFill>
              <a:srgbClr val="0A2342"/>
            </a:solidFill>
            <a:prstDash val="solid"/>
          </a:ln>
        </p:spPr>
        <p:txBody>
          <a:bodyPr/>
          <a:lstStyle/>
          <a:p>
            <a:endParaRPr lang="en-KE"/>
          </a:p>
        </p:txBody>
      </p:sp>
      <p:sp>
        <p:nvSpPr>
          <p:cNvPr id="20" name="Text 18"/>
          <p:cNvSpPr/>
          <p:nvPr/>
        </p:nvSpPr>
        <p:spPr>
          <a:xfrm>
            <a:off x="429768" y="32461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Scalability Strategy</a:t>
            </a:r>
            <a:endParaRPr lang="en-US" sz="1400" dirty="0"/>
          </a:p>
        </p:txBody>
      </p:sp>
      <p:sp>
        <p:nvSpPr>
          <p:cNvPr id="21" name="Text 19"/>
          <p:cNvSpPr/>
          <p:nvPr/>
        </p:nvSpPr>
        <p:spPr>
          <a:xfrm>
            <a:off x="429768" y="37216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Plan sharding/partitioning strategy early</a:t>
            </a:r>
            <a:endParaRPr lang="en-US" sz="1050" dirty="0"/>
          </a:p>
        </p:txBody>
      </p:sp>
      <p:sp>
        <p:nvSpPr>
          <p:cNvPr id="22" name="Text 20"/>
          <p:cNvSpPr/>
          <p:nvPr/>
        </p:nvSpPr>
        <p:spPr>
          <a:xfrm>
            <a:off x="429768" y="40965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Choose partition key carefully to avoid hotspots</a:t>
            </a:r>
            <a:endParaRPr lang="en-US" sz="1050" dirty="0"/>
          </a:p>
        </p:txBody>
      </p:sp>
      <p:sp>
        <p:nvSpPr>
          <p:cNvPr id="23" name="Text 21"/>
          <p:cNvSpPr/>
          <p:nvPr/>
        </p:nvSpPr>
        <p:spPr>
          <a:xfrm>
            <a:off x="429768" y="44714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Monitor node balance as data grows</a:t>
            </a:r>
            <a:endParaRPr lang="en-US" sz="1050" dirty="0"/>
          </a:p>
        </p:txBody>
      </p:sp>
      <p:sp>
        <p:nvSpPr>
          <p:cNvPr id="24" name="Shape 22"/>
          <p:cNvSpPr/>
          <p:nvPr/>
        </p:nvSpPr>
        <p:spPr>
          <a:xfrm>
            <a:off x="4754880" y="3246120"/>
            <a:ext cx="4206240" cy="16916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5" name="Shape 23"/>
          <p:cNvSpPr/>
          <p:nvPr/>
        </p:nvSpPr>
        <p:spPr>
          <a:xfrm>
            <a:off x="4754880" y="3246120"/>
            <a:ext cx="4206240" cy="438912"/>
          </a:xfrm>
          <a:prstGeom prst="rect">
            <a:avLst/>
          </a:prstGeom>
          <a:solidFill>
            <a:srgbClr val="028090"/>
          </a:solidFill>
          <a:ln w="12700">
            <a:solidFill>
              <a:srgbClr val="028090"/>
            </a:solidFill>
            <a:prstDash val="solid"/>
          </a:ln>
        </p:spPr>
        <p:txBody>
          <a:bodyPr/>
          <a:lstStyle/>
          <a:p>
            <a:endParaRPr lang="en-KE"/>
          </a:p>
        </p:txBody>
      </p:sp>
      <p:sp>
        <p:nvSpPr>
          <p:cNvPr id="26" name="Text 24"/>
          <p:cNvSpPr/>
          <p:nvPr/>
        </p:nvSpPr>
        <p:spPr>
          <a:xfrm>
            <a:off x="4864608" y="3246120"/>
            <a:ext cx="3977640" cy="438912"/>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Deployment Options</a:t>
            </a:r>
            <a:endParaRPr lang="en-US" sz="1400" dirty="0"/>
          </a:p>
        </p:txBody>
      </p:sp>
      <p:sp>
        <p:nvSpPr>
          <p:cNvPr id="27" name="Text 25"/>
          <p:cNvSpPr/>
          <p:nvPr/>
        </p:nvSpPr>
        <p:spPr>
          <a:xfrm>
            <a:off x="4864608" y="3721608"/>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Self-managed: full control, higher ops burden</a:t>
            </a:r>
            <a:endParaRPr lang="en-US" sz="1050" dirty="0"/>
          </a:p>
        </p:txBody>
      </p:sp>
      <p:sp>
        <p:nvSpPr>
          <p:cNvPr id="28" name="Text 26"/>
          <p:cNvSpPr/>
          <p:nvPr/>
        </p:nvSpPr>
        <p:spPr>
          <a:xfrm>
            <a:off x="4864608" y="4096512"/>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Managed cloud: AWS DynamoDB, Atlas, Cosmos DB</a:t>
            </a:r>
            <a:endParaRPr lang="en-US" sz="1050" dirty="0"/>
          </a:p>
        </p:txBody>
      </p:sp>
      <p:sp>
        <p:nvSpPr>
          <p:cNvPr id="29" name="Text 27"/>
          <p:cNvSpPr/>
          <p:nvPr/>
        </p:nvSpPr>
        <p:spPr>
          <a:xfrm>
            <a:off x="4864608" y="4471416"/>
            <a:ext cx="3977640" cy="347472"/>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Hybrid: on-premises + cloud for compliance</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4860000" y="147456"/>
            <a:ext cx="4204800" cy="731520"/>
          </a:xfrm>
          <a:prstGeom prst="ellipse">
            <a:avLst/>
          </a:prstGeom>
          <a:solidFill>
            <a:schemeClr val="accent6">
              <a:lumMod val="40000"/>
              <a:lumOff val="60000"/>
              <a:alpha val="25000"/>
            </a:schemeClr>
          </a:solidFill>
          <a:ln w="12700">
            <a:solidFill>
              <a:srgbClr val="028090">
                <a:alpha val="25000"/>
              </a:srgbClr>
            </a:solidFill>
            <a:prstDash val="solid"/>
          </a:ln>
        </p:spPr>
        <p:txBody>
          <a:bodyPr/>
          <a:lstStyle/>
          <a:p>
            <a:r>
              <a:rPr lang="en-KE" b="1" dirty="0">
                <a:solidFill>
                  <a:srgbClr val="FF0000"/>
                </a:solidFill>
                <a:highlight>
                  <a:srgbClr val="FFFF00"/>
                </a:highlight>
              </a:rPr>
              <a:t>Mbarak Abdallah Kumbo</a:t>
            </a:r>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D</a:t>
            </a:r>
            <a:endParaRPr lang="en-US" sz="4200" dirty="0"/>
          </a:p>
        </p:txBody>
      </p:sp>
      <p:sp>
        <p:nvSpPr>
          <p:cNvPr id="7" name="Text 5"/>
          <p:cNvSpPr/>
          <p:nvPr/>
        </p:nvSpPr>
        <p:spPr>
          <a:xfrm>
            <a:off x="548640" y="2926080"/>
            <a:ext cx="8046720" cy="1307592"/>
          </a:xfrm>
          <a:prstGeom prst="rect">
            <a:avLst/>
          </a:prstGeom>
          <a:noFill/>
          <a:ln/>
        </p:spPr>
        <p:txBody>
          <a:bodyPr wrap="square" rtlCol="0" anchor="ctr"/>
          <a:lstStyle/>
          <a:p>
            <a:pPr marL="342900" indent="-342900">
              <a:buFont typeface="Wingdings" panose="05000000000000000000" pitchFamily="2" charset="2"/>
              <a:buChar char="v"/>
            </a:pPr>
            <a:r>
              <a:rPr lang="en-KE" sz="2000" b="1" dirty="0">
                <a:solidFill>
                  <a:srgbClr val="F0C040"/>
                </a:solidFill>
                <a:latin typeface="Calibri" pitchFamily="34" charset="0"/>
                <a:ea typeface="Calibri" pitchFamily="34" charset="-122"/>
                <a:cs typeface="Calibri" pitchFamily="34" charset="-120"/>
              </a:rPr>
              <a:t>Comparison between Traditional </a:t>
            </a:r>
            <a:r>
              <a:rPr lang="en-US" sz="2000" b="1" dirty="0">
                <a:solidFill>
                  <a:srgbClr val="F0C040"/>
                </a:solidFill>
                <a:latin typeface="Calibri" pitchFamily="34" charset="0"/>
                <a:ea typeface="Calibri" pitchFamily="34" charset="-122"/>
                <a:cs typeface="Calibri" pitchFamily="34" charset="-120"/>
              </a:rPr>
              <a:t>Relational Databases </a:t>
            </a:r>
            <a:r>
              <a:rPr lang="en-KE" sz="2000" b="1" dirty="0">
                <a:solidFill>
                  <a:srgbClr val="F0C040"/>
                </a:solidFill>
                <a:latin typeface="Calibri" pitchFamily="34" charset="0"/>
                <a:ea typeface="Calibri" pitchFamily="34" charset="-122"/>
                <a:cs typeface="Calibri" pitchFamily="34" charset="-120"/>
              </a:rPr>
              <a:t> </a:t>
            </a:r>
            <a:r>
              <a:rPr lang="en-US" sz="2000" b="1" dirty="0">
                <a:solidFill>
                  <a:srgbClr val="F0C040"/>
                </a:solidFill>
                <a:latin typeface="Calibri" pitchFamily="34" charset="0"/>
                <a:ea typeface="Calibri" pitchFamily="34" charset="-122"/>
                <a:cs typeface="Calibri" pitchFamily="34" charset="-120"/>
              </a:rPr>
              <a:t>vs NoSQL </a:t>
            </a:r>
            <a:endParaRPr lang="en-KE" sz="2000" b="1" dirty="0">
              <a:solidFill>
                <a:srgbClr val="F0C040"/>
              </a:solidFill>
              <a:latin typeface="Calibri" pitchFamily="34" charset="0"/>
              <a:ea typeface="Calibri" pitchFamily="34" charset="-122"/>
              <a:cs typeface="Calibri" pitchFamily="34" charset="-120"/>
            </a:endParaRPr>
          </a:p>
          <a:p>
            <a:pPr marL="342900" indent="-342900">
              <a:buFont typeface="Wingdings" panose="05000000000000000000" pitchFamily="2" charset="2"/>
              <a:buChar char="v"/>
            </a:pPr>
            <a:r>
              <a:rPr lang="en-US" sz="2000" b="1" dirty="0">
                <a:solidFill>
                  <a:srgbClr val="F0C040"/>
                </a:solidFill>
                <a:latin typeface="Calibri" pitchFamily="34" charset="0"/>
                <a:ea typeface="Calibri" pitchFamily="34" charset="-122"/>
                <a:cs typeface="Calibri" pitchFamily="34" charset="-120"/>
              </a:rPr>
              <a:t>Types of NoSQL</a:t>
            </a:r>
            <a:endParaRPr lang="en-KE" sz="2000" b="1" dirty="0">
              <a:solidFill>
                <a:srgbClr val="F0C040"/>
              </a:solidFill>
              <a:latin typeface="Calibri" pitchFamily="34" charset="0"/>
              <a:ea typeface="Calibri" pitchFamily="34" charset="-122"/>
              <a:cs typeface="Calibri" pitchFamily="34" charset="-120"/>
            </a:endParaRPr>
          </a:p>
          <a:p>
            <a:pPr marL="342900" indent="-342900">
              <a:buFont typeface="Wingdings" panose="05000000000000000000" pitchFamily="2" charset="2"/>
              <a:buChar char="v"/>
            </a:pPr>
            <a:r>
              <a:rPr lang="en-KE" sz="2000" b="1" dirty="0">
                <a:solidFill>
                  <a:srgbClr val="F0C040"/>
                </a:solidFill>
                <a:latin typeface="Calibri" pitchFamily="34" charset="0"/>
                <a:ea typeface="Calibri" pitchFamily="34" charset="-122"/>
                <a:cs typeface="Calibri" pitchFamily="34" charset="-120"/>
              </a:rPr>
              <a:t>Choosing the right Database Type given some scenarios</a:t>
            </a:r>
            <a:endParaRPr lang="en-US" sz="2000" b="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Traditional Relational vs NoSQL: Head-to-Head</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23360"/>
        </p:xfrm>
        <a:graphic>
          <a:graphicData uri="http://schemas.openxmlformats.org/drawingml/2006/table">
            <a:tbl>
              <a:tblPr/>
              <a:tblGrid>
                <a:gridCol w="19202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tblGrid>
              <a:tr h="447040">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Dimension</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Relational (SQL)</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300" b="1" dirty="0">
                          <a:solidFill>
                            <a:srgbClr val="FFFFFF"/>
                          </a:solidFill>
                          <a:latin typeface="Georgia" pitchFamily="34" charset="0"/>
                          <a:ea typeface="Georgia" pitchFamily="34" charset="-122"/>
                          <a:cs typeface="Georgia" pitchFamily="34" charset="-120"/>
                        </a:rPr>
                        <a:t>NoSQL</a:t>
                      </a:r>
                      <a:endParaRPr lang="en-US" sz="130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Data Model</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Tables, rows &amp; columns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Documents, K-V, Columns, Graphs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1"/>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Schema</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Fixed / predefined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Dynamic / schema-less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2"/>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Scalability</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Vertical (scale up)</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Horizontal (scale out)</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3"/>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Query Language</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SQL — standardized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Database-specific APIs &amp; languages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4"/>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Consistency</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Strong ACID guarantees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Eventual (BASE) by default</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5"/>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Transactions</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Multi-table ACID transactions</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Limited (improving in modern NoSQL)</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6"/>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Best For</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Financial, ERP, transactional</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Big data, real-time, IoT, unstructured</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extLst>
                  <a:ext uri="{0D108BD9-81ED-4DB2-BD59-A6C34878D82A}">
                    <a16:rowId xmlns:a16="http://schemas.microsoft.com/office/drawing/2014/main" val="10007"/>
                  </a:ext>
                </a:extLst>
              </a:tr>
              <a:tr h="447040">
                <a:tc>
                  <a:txBody>
                    <a:bodyPr/>
                    <a:lstStyle/>
                    <a:p>
                      <a:pPr marL="0" indent="0" algn="l">
                        <a:buNone/>
                      </a:pPr>
                      <a:r>
                        <a:rPr lang="en-US" sz="1150" b="1" dirty="0">
                          <a:solidFill>
                            <a:srgbClr val="0A2342"/>
                          </a:solidFill>
                          <a:latin typeface="Georgia" pitchFamily="34" charset="0"/>
                          <a:ea typeface="Georgia" pitchFamily="34" charset="-122"/>
                          <a:cs typeface="Georgia" pitchFamily="34" charset="-120"/>
                        </a:rPr>
                        <a:t>Examples</a:t>
                      </a:r>
                      <a:endParaRPr lang="en-US" sz="1150" dirty="0">
                        <a:latin typeface="Georgia" charset="0"/>
                        <a:ea typeface="Georgia" charset="0"/>
                        <a:cs typeface="Georgia"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MySQL, PostgreSQL, Oracle</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5F5F5"/>
                    </a:solidFill>
                  </a:tcPr>
                </a:tc>
                <a:tc>
                  <a:txBody>
                    <a:bodyPr/>
                    <a:lstStyle/>
                    <a:p>
                      <a:pPr marL="0" indent="0" algn="l">
                        <a:buNone/>
                      </a:pPr>
                      <a:r>
                        <a:rPr lang="en-US" sz="1150" dirty="0">
                          <a:solidFill>
                            <a:srgbClr val="1A1A2E"/>
                          </a:solidFill>
                          <a:latin typeface="Calibri" pitchFamily="34" charset="0"/>
                          <a:ea typeface="Calibri" pitchFamily="34" charset="-122"/>
                          <a:cs typeface="Calibri" pitchFamily="34" charset="-120"/>
                        </a:rPr>
                        <a:t>MongoDB, Cassandra, Redis, Neo4j</a:t>
                      </a:r>
                      <a:endParaRPr lang="en-US" sz="1150" dirty="0">
                        <a:latin typeface="Calibri" charset="0"/>
                        <a:ea typeface="Calibri" charset="0"/>
                        <a:cs typeface="Calibri" charset="0"/>
                      </a:endParaRPr>
                    </a:p>
                  </a:txBody>
                  <a:tcPr marL="101600" marR="101600" marT="76200" marB="762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Types of NoSQL Databases</a:t>
            </a:r>
            <a:endParaRPr lang="en-US" sz="2400" dirty="0"/>
          </a:p>
        </p:txBody>
      </p:sp>
      <p:sp>
        <p:nvSpPr>
          <p:cNvPr id="5" name="Shape 3"/>
          <p:cNvSpPr/>
          <p:nvPr/>
        </p:nvSpPr>
        <p:spPr>
          <a:xfrm>
            <a:off x="320040" y="96012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Document Store</a:t>
            </a:r>
            <a:endParaRPr lang="en-US" sz="1500" dirty="0"/>
          </a:p>
        </p:txBody>
      </p:sp>
      <p:sp>
        <p:nvSpPr>
          <p:cNvPr id="8" name="Text 6"/>
          <p:cNvSpPr/>
          <p:nvPr/>
        </p:nvSpPr>
        <p:spPr>
          <a:xfrm>
            <a:off x="411480" y="1481328"/>
            <a:ext cx="4023360" cy="320040"/>
          </a:xfrm>
          <a:prstGeom prst="rect">
            <a:avLst/>
          </a:prstGeom>
          <a:noFill/>
          <a:ln/>
        </p:spPr>
        <p:txBody>
          <a:bodyPr wrap="square" lIns="0" tIns="0" rIns="0" bIns="0" rtlCol="0" anchor="ctr"/>
          <a:lstStyle/>
          <a:p>
            <a:pPr marL="0" indent="0">
              <a:buNone/>
            </a:pPr>
            <a:r>
              <a:rPr lang="en-US" sz="1050" b="1" i="1" dirty="0">
                <a:solidFill>
                  <a:srgbClr val="0A2342"/>
                </a:solidFill>
                <a:latin typeface="Calibri" pitchFamily="34" charset="0"/>
                <a:ea typeface="Calibri" pitchFamily="34" charset="-122"/>
                <a:cs typeface="Calibri" pitchFamily="34" charset="-120"/>
              </a:rPr>
              <a:t>e.g. MongoDB, CouchDB, Firestore</a:t>
            </a:r>
            <a:endParaRPr lang="en-US" sz="1050" dirty="0"/>
          </a:p>
        </p:txBody>
      </p:sp>
      <p:sp>
        <p:nvSpPr>
          <p:cNvPr id="9" name="Text 7"/>
          <p:cNvSpPr/>
          <p:nvPr/>
        </p:nvSpPr>
        <p:spPr>
          <a:xfrm>
            <a:off x="411480" y="182880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Stores data as JSON/BSON documents. Each document can have a different structure. Ideal for content management, user profiles, e-commerce catalogues.</a:t>
            </a:r>
            <a:endParaRPr lang="en-US" sz="1050" dirty="0"/>
          </a:p>
        </p:txBody>
      </p:sp>
      <p:sp>
        <p:nvSpPr>
          <p:cNvPr id="10" name="Shape 8"/>
          <p:cNvSpPr/>
          <p:nvPr/>
        </p:nvSpPr>
        <p:spPr>
          <a:xfrm>
            <a:off x="411480" y="2624328"/>
            <a:ext cx="3977640" cy="228600"/>
          </a:xfrm>
          <a:prstGeom prst="rect">
            <a:avLst/>
          </a:prstGeom>
          <a:solidFill>
            <a:srgbClr val="0A2342">
              <a:alpha val="20000"/>
            </a:srgbClr>
          </a:solidFill>
          <a:ln w="12700">
            <a:solidFill>
              <a:srgbClr val="0A2342">
                <a:alpha val="20000"/>
              </a:srgbClr>
            </a:solidFill>
            <a:prstDash val="solid"/>
          </a:ln>
        </p:spPr>
        <p:txBody>
          <a:bodyPr/>
          <a:lstStyle/>
          <a:p>
            <a:endParaRPr lang="en-KE"/>
          </a:p>
        </p:txBody>
      </p:sp>
      <p:sp>
        <p:nvSpPr>
          <p:cNvPr id="11" name="Text 9"/>
          <p:cNvSpPr/>
          <p:nvPr/>
        </p:nvSpPr>
        <p:spPr>
          <a:xfrm>
            <a:off x="411480" y="2624328"/>
            <a:ext cx="4023360" cy="228600"/>
          </a:xfrm>
          <a:prstGeom prst="rect">
            <a:avLst/>
          </a:prstGeom>
          <a:noFill/>
          <a:ln/>
        </p:spPr>
        <p:txBody>
          <a:bodyPr wrap="square" lIns="0" tIns="0" rIns="0" bIns="0" rtlCol="0" anchor="ctr"/>
          <a:lstStyle/>
          <a:p>
            <a:pPr marL="0" indent="0">
              <a:buNone/>
            </a:pPr>
            <a:r>
              <a:rPr lang="en-US" sz="950" b="1" dirty="0">
                <a:solidFill>
                  <a:srgbClr val="0A2342"/>
                </a:solidFill>
                <a:latin typeface="Calibri" pitchFamily="34" charset="0"/>
                <a:ea typeface="Calibri" pitchFamily="34" charset="-122"/>
                <a:cs typeface="Calibri" pitchFamily="34" charset="-120"/>
              </a:rPr>
              <a:t>Best for: Hierarchical, nested, semi-structured data</a:t>
            </a:r>
            <a:endParaRPr lang="en-US" sz="950" dirty="0"/>
          </a:p>
        </p:txBody>
      </p:sp>
      <p:sp>
        <p:nvSpPr>
          <p:cNvPr id="12" name="Shape 10"/>
          <p:cNvSpPr/>
          <p:nvPr/>
        </p:nvSpPr>
        <p:spPr>
          <a:xfrm>
            <a:off x="4754880" y="96012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754880" y="960120"/>
            <a:ext cx="4206240" cy="475488"/>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4846320" y="96012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Key-Value Store</a:t>
            </a:r>
            <a:endParaRPr lang="en-US" sz="1500" dirty="0"/>
          </a:p>
        </p:txBody>
      </p:sp>
      <p:sp>
        <p:nvSpPr>
          <p:cNvPr id="15" name="Text 13"/>
          <p:cNvSpPr/>
          <p:nvPr/>
        </p:nvSpPr>
        <p:spPr>
          <a:xfrm>
            <a:off x="4846320" y="1481328"/>
            <a:ext cx="4023360" cy="320040"/>
          </a:xfrm>
          <a:prstGeom prst="rect">
            <a:avLst/>
          </a:prstGeom>
          <a:noFill/>
          <a:ln/>
        </p:spPr>
        <p:txBody>
          <a:bodyPr wrap="square" lIns="0" tIns="0" rIns="0" bIns="0" rtlCol="0" anchor="ctr"/>
          <a:lstStyle/>
          <a:p>
            <a:pPr marL="0" indent="0">
              <a:buNone/>
            </a:pPr>
            <a:r>
              <a:rPr lang="en-US" sz="1050" b="1" i="1" dirty="0">
                <a:solidFill>
                  <a:srgbClr val="028090"/>
                </a:solidFill>
                <a:latin typeface="Calibri" pitchFamily="34" charset="0"/>
                <a:ea typeface="Calibri" pitchFamily="34" charset="-122"/>
                <a:cs typeface="Calibri" pitchFamily="34" charset="-120"/>
              </a:rPr>
              <a:t>e.g. Redis, DynamoDB, Riak</a:t>
            </a:r>
            <a:endParaRPr lang="en-US" sz="1050" dirty="0"/>
          </a:p>
        </p:txBody>
      </p:sp>
      <p:sp>
        <p:nvSpPr>
          <p:cNvPr id="16" name="Text 14"/>
          <p:cNvSpPr/>
          <p:nvPr/>
        </p:nvSpPr>
        <p:spPr>
          <a:xfrm>
            <a:off x="4846320" y="182880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Simplest model: unique key maps to a value (string, list, hash). Extremely fast O(1) lookups. Often used for caching and session management.</a:t>
            </a:r>
            <a:endParaRPr lang="en-US" sz="1050" dirty="0"/>
          </a:p>
        </p:txBody>
      </p:sp>
      <p:sp>
        <p:nvSpPr>
          <p:cNvPr id="17" name="Shape 15"/>
          <p:cNvSpPr/>
          <p:nvPr/>
        </p:nvSpPr>
        <p:spPr>
          <a:xfrm>
            <a:off x="4846320" y="2624328"/>
            <a:ext cx="3977640" cy="228600"/>
          </a:xfrm>
          <a:prstGeom prst="rect">
            <a:avLst/>
          </a:prstGeom>
          <a:solidFill>
            <a:srgbClr val="028090">
              <a:alpha val="20000"/>
            </a:srgbClr>
          </a:solidFill>
          <a:ln w="12700">
            <a:solidFill>
              <a:srgbClr val="028090">
                <a:alpha val="20000"/>
              </a:srgbClr>
            </a:solidFill>
            <a:prstDash val="solid"/>
          </a:ln>
        </p:spPr>
        <p:txBody>
          <a:bodyPr/>
          <a:lstStyle/>
          <a:p>
            <a:endParaRPr lang="en-KE"/>
          </a:p>
        </p:txBody>
      </p:sp>
      <p:sp>
        <p:nvSpPr>
          <p:cNvPr id="18" name="Text 16"/>
          <p:cNvSpPr/>
          <p:nvPr/>
        </p:nvSpPr>
        <p:spPr>
          <a:xfrm>
            <a:off x="4846320" y="2624328"/>
            <a:ext cx="4023360" cy="228600"/>
          </a:xfrm>
          <a:prstGeom prst="rect">
            <a:avLst/>
          </a:prstGeom>
          <a:noFill/>
          <a:ln/>
        </p:spPr>
        <p:txBody>
          <a:bodyPr wrap="square" lIns="0" tIns="0" rIns="0" bIns="0" rtlCol="0" anchor="ctr"/>
          <a:lstStyle/>
          <a:p>
            <a:pPr marL="0" indent="0">
              <a:buNone/>
            </a:pPr>
            <a:r>
              <a:rPr lang="en-US" sz="950" b="1" dirty="0">
                <a:solidFill>
                  <a:srgbClr val="028090"/>
                </a:solidFill>
                <a:latin typeface="Calibri" pitchFamily="34" charset="0"/>
                <a:ea typeface="Calibri" pitchFamily="34" charset="-122"/>
                <a:cs typeface="Calibri" pitchFamily="34" charset="-120"/>
              </a:rPr>
              <a:t>Best for: Caching, session data, shopping carts</a:t>
            </a:r>
            <a:endParaRPr lang="en-US" sz="950" dirty="0"/>
          </a:p>
        </p:txBody>
      </p:sp>
      <p:sp>
        <p:nvSpPr>
          <p:cNvPr id="19" name="Shape 17"/>
          <p:cNvSpPr/>
          <p:nvPr/>
        </p:nvSpPr>
        <p:spPr>
          <a:xfrm>
            <a:off x="320040" y="306324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320040" y="3063240"/>
            <a:ext cx="4206240" cy="475488"/>
          </a:xfrm>
          <a:prstGeom prst="rect">
            <a:avLst/>
          </a:prstGeom>
          <a:solidFill>
            <a:srgbClr val="00A896"/>
          </a:solidFill>
          <a:ln w="12700">
            <a:solidFill>
              <a:srgbClr val="00A896"/>
            </a:solidFill>
            <a:prstDash val="solid"/>
          </a:ln>
        </p:spPr>
        <p:txBody>
          <a:bodyPr/>
          <a:lstStyle/>
          <a:p>
            <a:endParaRPr lang="en-KE"/>
          </a:p>
        </p:txBody>
      </p:sp>
      <p:sp>
        <p:nvSpPr>
          <p:cNvPr id="21" name="Text 19"/>
          <p:cNvSpPr/>
          <p:nvPr/>
        </p:nvSpPr>
        <p:spPr>
          <a:xfrm>
            <a:off x="411480" y="306324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Column-Family Store</a:t>
            </a:r>
            <a:endParaRPr lang="en-US" sz="1500" dirty="0"/>
          </a:p>
        </p:txBody>
      </p:sp>
      <p:sp>
        <p:nvSpPr>
          <p:cNvPr id="22" name="Text 20"/>
          <p:cNvSpPr/>
          <p:nvPr/>
        </p:nvSpPr>
        <p:spPr>
          <a:xfrm>
            <a:off x="411480" y="3584448"/>
            <a:ext cx="4023360" cy="320040"/>
          </a:xfrm>
          <a:prstGeom prst="rect">
            <a:avLst/>
          </a:prstGeom>
          <a:noFill/>
          <a:ln/>
        </p:spPr>
        <p:txBody>
          <a:bodyPr wrap="square" lIns="0" tIns="0" rIns="0" bIns="0" rtlCol="0" anchor="ctr"/>
          <a:lstStyle/>
          <a:p>
            <a:pPr marL="0" indent="0">
              <a:buNone/>
            </a:pPr>
            <a:r>
              <a:rPr lang="en-US" sz="1050" b="1" i="1" dirty="0">
                <a:solidFill>
                  <a:srgbClr val="00A896"/>
                </a:solidFill>
                <a:latin typeface="Calibri" pitchFamily="34" charset="0"/>
                <a:ea typeface="Calibri" pitchFamily="34" charset="-122"/>
                <a:cs typeface="Calibri" pitchFamily="34" charset="-120"/>
              </a:rPr>
              <a:t>e.g. Apache Cassandra, HBase</a:t>
            </a:r>
            <a:endParaRPr lang="en-US" sz="1050" dirty="0"/>
          </a:p>
        </p:txBody>
      </p:sp>
      <p:sp>
        <p:nvSpPr>
          <p:cNvPr id="23" name="Text 21"/>
          <p:cNvSpPr/>
          <p:nvPr/>
        </p:nvSpPr>
        <p:spPr>
          <a:xfrm>
            <a:off x="411480" y="393192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organized in rows and dynamic columns grouped into 'families'. Optimized for heavy writes and time-series data across distributed clusters.</a:t>
            </a:r>
            <a:endParaRPr lang="en-US" sz="1050" dirty="0"/>
          </a:p>
        </p:txBody>
      </p:sp>
      <p:sp>
        <p:nvSpPr>
          <p:cNvPr id="24" name="Shape 22"/>
          <p:cNvSpPr/>
          <p:nvPr/>
        </p:nvSpPr>
        <p:spPr>
          <a:xfrm>
            <a:off x="411480" y="4727448"/>
            <a:ext cx="3977640" cy="228600"/>
          </a:xfrm>
          <a:prstGeom prst="rect">
            <a:avLst/>
          </a:prstGeom>
          <a:solidFill>
            <a:srgbClr val="00A896">
              <a:alpha val="20000"/>
            </a:srgbClr>
          </a:solidFill>
          <a:ln w="12700">
            <a:solidFill>
              <a:srgbClr val="00A896">
                <a:alpha val="20000"/>
              </a:srgbClr>
            </a:solidFill>
            <a:prstDash val="solid"/>
          </a:ln>
        </p:spPr>
        <p:txBody>
          <a:bodyPr/>
          <a:lstStyle/>
          <a:p>
            <a:endParaRPr lang="en-KE"/>
          </a:p>
        </p:txBody>
      </p:sp>
      <p:sp>
        <p:nvSpPr>
          <p:cNvPr id="25" name="Text 23"/>
          <p:cNvSpPr/>
          <p:nvPr/>
        </p:nvSpPr>
        <p:spPr>
          <a:xfrm>
            <a:off x="411480" y="4727448"/>
            <a:ext cx="4023360" cy="228600"/>
          </a:xfrm>
          <a:prstGeom prst="rect">
            <a:avLst/>
          </a:prstGeom>
          <a:noFill/>
          <a:ln/>
        </p:spPr>
        <p:txBody>
          <a:bodyPr wrap="square" lIns="0" tIns="0" rIns="0" bIns="0" rtlCol="0" anchor="ctr"/>
          <a:lstStyle/>
          <a:p>
            <a:pPr marL="0" indent="0">
              <a:buNone/>
            </a:pPr>
            <a:r>
              <a:rPr lang="en-US" sz="950" b="1" dirty="0">
                <a:solidFill>
                  <a:srgbClr val="00A896"/>
                </a:solidFill>
                <a:latin typeface="Calibri" pitchFamily="34" charset="0"/>
                <a:ea typeface="Calibri" pitchFamily="34" charset="-122"/>
                <a:cs typeface="Calibri" pitchFamily="34" charset="-120"/>
              </a:rPr>
              <a:t>Best for: IoT data, analytics, time-series</a:t>
            </a:r>
            <a:endParaRPr lang="en-US" sz="950" dirty="0"/>
          </a:p>
        </p:txBody>
      </p:sp>
      <p:sp>
        <p:nvSpPr>
          <p:cNvPr id="26" name="Shape 24"/>
          <p:cNvSpPr/>
          <p:nvPr/>
        </p:nvSpPr>
        <p:spPr>
          <a:xfrm>
            <a:off x="4754880" y="3063240"/>
            <a:ext cx="420624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7" name="Shape 25"/>
          <p:cNvSpPr/>
          <p:nvPr/>
        </p:nvSpPr>
        <p:spPr>
          <a:xfrm>
            <a:off x="4754880" y="3063240"/>
            <a:ext cx="4206240" cy="475488"/>
          </a:xfrm>
          <a:prstGeom prst="rect">
            <a:avLst/>
          </a:prstGeom>
          <a:solidFill>
            <a:srgbClr val="02C39A"/>
          </a:solidFill>
          <a:ln w="12700">
            <a:solidFill>
              <a:srgbClr val="02C39A"/>
            </a:solidFill>
            <a:prstDash val="solid"/>
          </a:ln>
        </p:spPr>
        <p:txBody>
          <a:bodyPr/>
          <a:lstStyle/>
          <a:p>
            <a:endParaRPr lang="en-KE"/>
          </a:p>
        </p:txBody>
      </p:sp>
      <p:sp>
        <p:nvSpPr>
          <p:cNvPr id="28" name="Text 26"/>
          <p:cNvSpPr/>
          <p:nvPr/>
        </p:nvSpPr>
        <p:spPr>
          <a:xfrm>
            <a:off x="4846320" y="3063240"/>
            <a:ext cx="2743200" cy="475488"/>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Graph Database</a:t>
            </a:r>
            <a:endParaRPr lang="en-US" sz="1500" dirty="0"/>
          </a:p>
        </p:txBody>
      </p:sp>
      <p:sp>
        <p:nvSpPr>
          <p:cNvPr id="29" name="Text 27"/>
          <p:cNvSpPr/>
          <p:nvPr/>
        </p:nvSpPr>
        <p:spPr>
          <a:xfrm>
            <a:off x="4846320" y="3584448"/>
            <a:ext cx="4023360" cy="320040"/>
          </a:xfrm>
          <a:prstGeom prst="rect">
            <a:avLst/>
          </a:prstGeom>
          <a:noFill/>
          <a:ln/>
        </p:spPr>
        <p:txBody>
          <a:bodyPr wrap="square" lIns="0" tIns="0" rIns="0" bIns="0" rtlCol="0" anchor="ctr"/>
          <a:lstStyle/>
          <a:p>
            <a:pPr marL="0" indent="0">
              <a:buNone/>
            </a:pPr>
            <a:r>
              <a:rPr lang="en-US" sz="1050" b="1" i="1" dirty="0">
                <a:solidFill>
                  <a:srgbClr val="02C39A"/>
                </a:solidFill>
                <a:latin typeface="Calibri" pitchFamily="34" charset="0"/>
                <a:ea typeface="Calibri" pitchFamily="34" charset="-122"/>
                <a:cs typeface="Calibri" pitchFamily="34" charset="-120"/>
              </a:rPr>
              <a:t>e.g. Neo4j, Amazon Neptune</a:t>
            </a:r>
            <a:endParaRPr lang="en-US" sz="1050" dirty="0"/>
          </a:p>
        </p:txBody>
      </p:sp>
      <p:sp>
        <p:nvSpPr>
          <p:cNvPr id="30" name="Text 28"/>
          <p:cNvSpPr/>
          <p:nvPr/>
        </p:nvSpPr>
        <p:spPr>
          <a:xfrm>
            <a:off x="4846320" y="3931920"/>
            <a:ext cx="4023360" cy="77724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Stores entities as nodes and relationships as edges. Highly efficient for traversing complex relationships that would require expensive JOINs in SQL.</a:t>
            </a:r>
            <a:endParaRPr lang="en-US" sz="1050" dirty="0"/>
          </a:p>
        </p:txBody>
      </p:sp>
      <p:sp>
        <p:nvSpPr>
          <p:cNvPr id="31" name="Shape 29"/>
          <p:cNvSpPr/>
          <p:nvPr/>
        </p:nvSpPr>
        <p:spPr>
          <a:xfrm>
            <a:off x="4846320" y="4727448"/>
            <a:ext cx="3977640" cy="228600"/>
          </a:xfrm>
          <a:prstGeom prst="rect">
            <a:avLst/>
          </a:prstGeom>
          <a:solidFill>
            <a:srgbClr val="02C39A">
              <a:alpha val="20000"/>
            </a:srgbClr>
          </a:solidFill>
          <a:ln w="12700">
            <a:solidFill>
              <a:srgbClr val="02C39A">
                <a:alpha val="20000"/>
              </a:srgbClr>
            </a:solidFill>
            <a:prstDash val="solid"/>
          </a:ln>
        </p:spPr>
        <p:txBody>
          <a:bodyPr/>
          <a:lstStyle/>
          <a:p>
            <a:endParaRPr lang="en-KE"/>
          </a:p>
        </p:txBody>
      </p:sp>
      <p:sp>
        <p:nvSpPr>
          <p:cNvPr id="32" name="Text 30"/>
          <p:cNvSpPr/>
          <p:nvPr/>
        </p:nvSpPr>
        <p:spPr>
          <a:xfrm>
            <a:off x="4846320" y="4727448"/>
            <a:ext cx="4023360" cy="228600"/>
          </a:xfrm>
          <a:prstGeom prst="rect">
            <a:avLst/>
          </a:prstGeom>
          <a:noFill/>
          <a:ln/>
        </p:spPr>
        <p:txBody>
          <a:bodyPr wrap="square" lIns="0" tIns="0" rIns="0" bIns="0" rtlCol="0" anchor="ctr"/>
          <a:lstStyle/>
          <a:p>
            <a:pPr marL="0" indent="0">
              <a:buNone/>
            </a:pPr>
            <a:r>
              <a:rPr lang="en-US" sz="950" b="1" dirty="0">
                <a:solidFill>
                  <a:srgbClr val="02C39A"/>
                </a:solidFill>
                <a:latin typeface="Calibri" pitchFamily="34" charset="0"/>
                <a:ea typeface="Calibri" pitchFamily="34" charset="-122"/>
                <a:cs typeface="Calibri" pitchFamily="34" charset="-120"/>
              </a:rPr>
              <a:t>Best for: Social networks, fraud detection, recommendations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Choosing the Right Database Type</a:t>
            </a:r>
            <a:endParaRPr lang="en-US" sz="2400" dirty="0"/>
          </a:p>
        </p:txBody>
      </p:sp>
      <p:sp>
        <p:nvSpPr>
          <p:cNvPr id="5" name="Text 3"/>
          <p:cNvSpPr/>
          <p:nvPr/>
        </p:nvSpPr>
        <p:spPr>
          <a:xfrm>
            <a:off x="365760" y="960120"/>
            <a:ext cx="8412480" cy="32004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Match your workload characteristics to the right NoSQL model:</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320040" y="1325880"/>
          <a:ext cx="8503920" cy="3657598"/>
        </p:xfrm>
        <a:graphic>
          <a:graphicData uri="http://schemas.openxmlformats.org/drawingml/2006/table">
            <a:tbl>
              <a:tblPr/>
              <a:tblGrid>
                <a:gridCol w="29260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522514">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Scenario</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Recommended Type</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200" b="1" dirty="0">
                          <a:solidFill>
                            <a:srgbClr val="FFFFFF"/>
                          </a:solidFill>
                          <a:latin typeface="Georgia" pitchFamily="34" charset="0"/>
                          <a:ea typeface="Georgia" pitchFamily="34" charset="-122"/>
                          <a:cs typeface="Georgia" pitchFamily="34" charset="-120"/>
                        </a:rPr>
                        <a:t>Why</a:t>
                      </a:r>
                      <a:endParaRPr lang="en-US" sz="1200" dirty="0">
                        <a:latin typeface="Georgia" charset="0"/>
                        <a:ea typeface="Georgia" charset="0"/>
                        <a:cs typeface="Georgia"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Store patient medical records with varying fields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Document Store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Flexible schema handles varying data per patient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Cache API responses for fast retrieval</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Key-Value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Simple lookup by request key, millisecond response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2"/>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Track sensor readings every second from 10,000 devices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Column-Family</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Optimized for time-series, heavy write throughput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Detect fraudulent transaction patterns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Graph DB</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Traversing relationships is native and efficient</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4"/>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User profiles with nested addresses &amp; preferences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Document Store</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Nested JSON maps naturally to document model</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22514">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Real-time leaderboards / ranking</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b="1" dirty="0">
                          <a:solidFill>
                            <a:srgbClr val="028090"/>
                          </a:solidFill>
                          <a:latin typeface="Calibri" pitchFamily="34" charset="0"/>
                          <a:ea typeface="Calibri" pitchFamily="34" charset="-122"/>
                          <a:cs typeface="Calibri" pitchFamily="34" charset="-120"/>
                        </a:rPr>
                        <a:t>Key-Value (Redis)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100" dirty="0">
                          <a:solidFill>
                            <a:srgbClr val="1A1A2E"/>
                          </a:solidFill>
                          <a:latin typeface="Calibri" pitchFamily="34" charset="0"/>
                          <a:ea typeface="Calibri" pitchFamily="34" charset="-122"/>
                          <a:cs typeface="Calibri" pitchFamily="34" charset="-120"/>
                        </a:rPr>
                        <a:t>Sorted sets provide O(log N) ranking operations</a:t>
                      </a:r>
                      <a:endParaRPr lang="en-US" sz="1100" dirty="0">
                        <a:latin typeface="Calibri" charset="0"/>
                        <a:ea typeface="Calibri" charset="0"/>
                        <a:cs typeface="Calibri" charset="0"/>
                      </a:endParaRPr>
                    </a:p>
                  </a:txBody>
                  <a:tcPr marL="101600" marR="101600" marT="63500" marB="635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E</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Introduction to Data Lakes: History &amp; Evolution</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History &amp; Evolution of Data Lakes</a:t>
            </a:r>
            <a:endParaRPr lang="en-US" sz="2400" dirty="0"/>
          </a:p>
        </p:txBody>
      </p:sp>
      <p:sp>
        <p:nvSpPr>
          <p:cNvPr id="5" name="Shape 3"/>
          <p:cNvSpPr/>
          <p:nvPr/>
        </p:nvSpPr>
        <p:spPr>
          <a:xfrm>
            <a:off x="3200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73152" cy="1188720"/>
          </a:xfrm>
          <a:prstGeom prst="rect">
            <a:avLst/>
          </a:prstGeom>
          <a:solidFill>
            <a:srgbClr val="F0C040"/>
          </a:solidFill>
          <a:ln w="12700">
            <a:solidFill>
              <a:srgbClr val="F0C040"/>
            </a:solidFill>
            <a:prstDash val="solid"/>
          </a:ln>
        </p:spPr>
        <p:txBody>
          <a:bodyPr/>
          <a:lstStyle/>
          <a:p>
            <a:endParaRPr lang="en-KE"/>
          </a:p>
        </p:txBody>
      </p:sp>
      <p:sp>
        <p:nvSpPr>
          <p:cNvPr id="7" name="Text 5"/>
          <p:cNvSpPr/>
          <p:nvPr/>
        </p:nvSpPr>
        <p:spPr>
          <a:xfrm>
            <a:off x="5029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2010 — Term Coined</a:t>
            </a:r>
            <a:endParaRPr lang="en-US" sz="1300" dirty="0"/>
          </a:p>
        </p:txBody>
      </p:sp>
      <p:sp>
        <p:nvSpPr>
          <p:cNvPr id="8" name="Text 6"/>
          <p:cNvSpPr/>
          <p:nvPr/>
        </p:nvSpPr>
        <p:spPr>
          <a:xfrm>
            <a:off x="5029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James Dixon (Pentaho CTO) introduces 'Data Lake' to contrast with data marts — a full reservoir vs. bottled water.</a:t>
            </a:r>
            <a:endParaRPr lang="en-US" sz="1050" dirty="0"/>
          </a:p>
        </p:txBody>
      </p:sp>
      <p:sp>
        <p:nvSpPr>
          <p:cNvPr id="9" name="Shape 7"/>
          <p:cNvSpPr/>
          <p:nvPr/>
        </p:nvSpPr>
        <p:spPr>
          <a:xfrm>
            <a:off x="46634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4663440" y="960120"/>
            <a:ext cx="73152" cy="1188720"/>
          </a:xfrm>
          <a:prstGeom prst="rect">
            <a:avLst/>
          </a:prstGeom>
          <a:solidFill>
            <a:srgbClr val="F0C040"/>
          </a:solidFill>
          <a:ln w="12700">
            <a:solidFill>
              <a:srgbClr val="F0C040"/>
            </a:solidFill>
            <a:prstDash val="solid"/>
          </a:ln>
        </p:spPr>
        <p:txBody>
          <a:bodyPr/>
          <a:lstStyle/>
          <a:p>
            <a:endParaRPr lang="en-KE"/>
          </a:p>
        </p:txBody>
      </p:sp>
      <p:sp>
        <p:nvSpPr>
          <p:cNvPr id="11" name="Text 9"/>
          <p:cNvSpPr/>
          <p:nvPr/>
        </p:nvSpPr>
        <p:spPr>
          <a:xfrm>
            <a:off x="48463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2011 — Hadoop Era</a:t>
            </a:r>
            <a:endParaRPr lang="en-US" sz="1300" dirty="0"/>
          </a:p>
        </p:txBody>
      </p:sp>
      <p:sp>
        <p:nvSpPr>
          <p:cNvPr id="12" name="Text 10"/>
          <p:cNvSpPr/>
          <p:nvPr/>
        </p:nvSpPr>
        <p:spPr>
          <a:xfrm>
            <a:off x="48463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Apache Hadoop HDFS becomes the foundation for early data lakes — cheap, distributed, petabyte-scale storage.</a:t>
            </a:r>
            <a:endParaRPr lang="en-US" sz="1050" dirty="0"/>
          </a:p>
        </p:txBody>
      </p:sp>
      <p:sp>
        <p:nvSpPr>
          <p:cNvPr id="13" name="Shape 11"/>
          <p:cNvSpPr/>
          <p:nvPr/>
        </p:nvSpPr>
        <p:spPr>
          <a:xfrm>
            <a:off x="320040" y="96012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320040" y="960120"/>
            <a:ext cx="73152" cy="1188720"/>
          </a:xfrm>
          <a:prstGeom prst="rect">
            <a:avLst/>
          </a:prstGeom>
          <a:solidFill>
            <a:srgbClr val="00A896"/>
          </a:solidFill>
          <a:ln w="12700">
            <a:solidFill>
              <a:srgbClr val="00A896"/>
            </a:solidFill>
            <a:prstDash val="solid"/>
          </a:ln>
        </p:spPr>
        <p:txBody>
          <a:bodyPr/>
          <a:lstStyle/>
          <a:p>
            <a:endParaRPr lang="en-KE"/>
          </a:p>
        </p:txBody>
      </p:sp>
      <p:sp>
        <p:nvSpPr>
          <p:cNvPr id="15" name="Text 13"/>
          <p:cNvSpPr/>
          <p:nvPr/>
        </p:nvSpPr>
        <p:spPr>
          <a:xfrm>
            <a:off x="502920" y="103327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2012 — Schema-on-Read</a:t>
            </a:r>
            <a:endParaRPr lang="en-US" sz="1300" dirty="0"/>
          </a:p>
        </p:txBody>
      </p:sp>
      <p:sp>
        <p:nvSpPr>
          <p:cNvPr id="16" name="Text 14"/>
          <p:cNvSpPr/>
          <p:nvPr/>
        </p:nvSpPr>
        <p:spPr>
          <a:xfrm>
            <a:off x="502920" y="141732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The concept of storing raw data and applying schema only when reading gains traction over traditional ETL.</a:t>
            </a:r>
            <a:endParaRPr lang="en-US" sz="1050" dirty="0"/>
          </a:p>
        </p:txBody>
      </p:sp>
      <p:sp>
        <p:nvSpPr>
          <p:cNvPr id="17" name="Shape 15"/>
          <p:cNvSpPr/>
          <p:nvPr/>
        </p:nvSpPr>
        <p:spPr>
          <a:xfrm>
            <a:off x="46634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4663440" y="2286000"/>
            <a:ext cx="73152" cy="1188720"/>
          </a:xfrm>
          <a:prstGeom prst="rect">
            <a:avLst/>
          </a:prstGeom>
          <a:solidFill>
            <a:srgbClr val="00A896"/>
          </a:solidFill>
          <a:ln w="12700">
            <a:solidFill>
              <a:srgbClr val="00A896"/>
            </a:solidFill>
            <a:prstDash val="solid"/>
          </a:ln>
        </p:spPr>
        <p:txBody>
          <a:bodyPr/>
          <a:lstStyle/>
          <a:p>
            <a:endParaRPr lang="en-KE"/>
          </a:p>
        </p:txBody>
      </p:sp>
      <p:sp>
        <p:nvSpPr>
          <p:cNvPr id="19" name="Text 17"/>
          <p:cNvSpPr/>
          <p:nvPr/>
        </p:nvSpPr>
        <p:spPr>
          <a:xfrm>
            <a:off x="48463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2014 — Cloud Lakes Born</a:t>
            </a:r>
            <a:endParaRPr lang="en-US" sz="1300" dirty="0"/>
          </a:p>
        </p:txBody>
      </p:sp>
      <p:sp>
        <p:nvSpPr>
          <p:cNvPr id="20" name="Text 18"/>
          <p:cNvSpPr/>
          <p:nvPr/>
        </p:nvSpPr>
        <p:spPr>
          <a:xfrm>
            <a:off x="48463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AWS S3 + EMR, Azure Data Lake Storage emerge as cloud-native data lake solutions.</a:t>
            </a:r>
            <a:endParaRPr lang="en-US" sz="1050" dirty="0"/>
          </a:p>
        </p:txBody>
      </p:sp>
      <p:sp>
        <p:nvSpPr>
          <p:cNvPr id="21" name="Shape 19"/>
          <p:cNvSpPr/>
          <p:nvPr/>
        </p:nvSpPr>
        <p:spPr>
          <a:xfrm>
            <a:off x="3200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 y="2286000"/>
            <a:ext cx="73152" cy="1188720"/>
          </a:xfrm>
          <a:prstGeom prst="rect">
            <a:avLst/>
          </a:prstGeom>
          <a:solidFill>
            <a:srgbClr val="02C39A"/>
          </a:solidFill>
          <a:ln w="12700">
            <a:solidFill>
              <a:srgbClr val="02C39A"/>
            </a:solidFill>
            <a:prstDash val="solid"/>
          </a:ln>
        </p:spPr>
        <p:txBody>
          <a:bodyPr/>
          <a:lstStyle/>
          <a:p>
            <a:endParaRPr lang="en-KE"/>
          </a:p>
        </p:txBody>
      </p:sp>
      <p:sp>
        <p:nvSpPr>
          <p:cNvPr id="23" name="Text 21"/>
          <p:cNvSpPr/>
          <p:nvPr/>
        </p:nvSpPr>
        <p:spPr>
          <a:xfrm>
            <a:off x="5029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2017 — Delta Lake / Lakehouse</a:t>
            </a:r>
            <a:endParaRPr lang="en-US" sz="1300" dirty="0"/>
          </a:p>
        </p:txBody>
      </p:sp>
      <p:sp>
        <p:nvSpPr>
          <p:cNvPr id="24" name="Text 22"/>
          <p:cNvSpPr/>
          <p:nvPr/>
        </p:nvSpPr>
        <p:spPr>
          <a:xfrm>
            <a:off x="5029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Databricks introduces Delta Lake — adding ACID transactions and schema enforcement to raw lakes.</a:t>
            </a:r>
            <a:endParaRPr lang="en-US" sz="1050" dirty="0"/>
          </a:p>
        </p:txBody>
      </p:sp>
      <p:sp>
        <p:nvSpPr>
          <p:cNvPr id="25" name="Shape 23"/>
          <p:cNvSpPr/>
          <p:nvPr/>
        </p:nvSpPr>
        <p:spPr>
          <a:xfrm>
            <a:off x="4663440" y="2286000"/>
            <a:ext cx="4160520" cy="118872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4663440" y="2286000"/>
            <a:ext cx="73152" cy="1188720"/>
          </a:xfrm>
          <a:prstGeom prst="rect">
            <a:avLst/>
          </a:prstGeom>
          <a:solidFill>
            <a:srgbClr val="02C39A"/>
          </a:solidFill>
          <a:ln w="12700">
            <a:solidFill>
              <a:srgbClr val="02C39A"/>
            </a:solidFill>
            <a:prstDash val="solid"/>
          </a:ln>
        </p:spPr>
        <p:txBody>
          <a:bodyPr/>
          <a:lstStyle/>
          <a:p>
            <a:endParaRPr lang="en-KE"/>
          </a:p>
        </p:txBody>
      </p:sp>
      <p:sp>
        <p:nvSpPr>
          <p:cNvPr id="27" name="Text 25"/>
          <p:cNvSpPr/>
          <p:nvPr/>
        </p:nvSpPr>
        <p:spPr>
          <a:xfrm>
            <a:off x="4846320" y="2359152"/>
            <a:ext cx="388620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2020+ — Modern Lakehouse</a:t>
            </a:r>
            <a:endParaRPr lang="en-US" sz="1300" dirty="0"/>
          </a:p>
        </p:txBody>
      </p:sp>
      <p:sp>
        <p:nvSpPr>
          <p:cNvPr id="28" name="Text 26"/>
          <p:cNvSpPr/>
          <p:nvPr/>
        </p:nvSpPr>
        <p:spPr>
          <a:xfrm>
            <a:off x="4846320" y="2743200"/>
            <a:ext cx="3886200" cy="658368"/>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Lakehouse architecture merges data lake flexibility with data warehouse performance. Apache Iceberg, Hudi.</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Why Data Lakes? The Business Case</a:t>
            </a:r>
            <a:endParaRPr lang="en-US" sz="2400" dirty="0"/>
          </a:p>
        </p:txBody>
      </p:sp>
      <p:sp>
        <p:nvSpPr>
          <p:cNvPr id="5" name="Shape 3"/>
          <p:cNvSpPr/>
          <p:nvPr/>
        </p:nvSpPr>
        <p:spPr>
          <a:xfrm>
            <a:off x="45720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6" name="Text 4"/>
          <p:cNvSpPr/>
          <p:nvPr/>
        </p:nvSpPr>
        <p:spPr>
          <a:xfrm>
            <a:off x="45720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80%</a:t>
            </a:r>
            <a:endParaRPr lang="en-US" sz="4400" dirty="0"/>
          </a:p>
        </p:txBody>
      </p:sp>
      <p:sp>
        <p:nvSpPr>
          <p:cNvPr id="7" name="Text 5"/>
          <p:cNvSpPr/>
          <p:nvPr/>
        </p:nvSpPr>
        <p:spPr>
          <a:xfrm>
            <a:off x="45720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of enterprise data is unstructured</a:t>
            </a:r>
            <a:endParaRPr lang="en-US" sz="1100" dirty="0"/>
          </a:p>
        </p:txBody>
      </p:sp>
      <p:sp>
        <p:nvSpPr>
          <p:cNvPr id="8" name="Shape 6"/>
          <p:cNvSpPr/>
          <p:nvPr/>
        </p:nvSpPr>
        <p:spPr>
          <a:xfrm>
            <a:off x="329184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9" name="Text 7"/>
          <p:cNvSpPr/>
          <p:nvPr/>
        </p:nvSpPr>
        <p:spPr>
          <a:xfrm>
            <a:off x="329184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3×</a:t>
            </a:r>
            <a:endParaRPr lang="en-US" sz="4400" dirty="0"/>
          </a:p>
        </p:txBody>
      </p:sp>
      <p:sp>
        <p:nvSpPr>
          <p:cNvPr id="10" name="Text 8"/>
          <p:cNvSpPr/>
          <p:nvPr/>
        </p:nvSpPr>
        <p:spPr>
          <a:xfrm>
            <a:off x="329184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faster insight than traditional warehouses</a:t>
            </a:r>
            <a:endParaRPr lang="en-US" sz="1100" dirty="0"/>
          </a:p>
        </p:txBody>
      </p:sp>
      <p:sp>
        <p:nvSpPr>
          <p:cNvPr id="11" name="Shape 9"/>
          <p:cNvSpPr/>
          <p:nvPr/>
        </p:nvSpPr>
        <p:spPr>
          <a:xfrm>
            <a:off x="6126480" y="960120"/>
            <a:ext cx="2606040" cy="1188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12" name="Text 10"/>
          <p:cNvSpPr/>
          <p:nvPr/>
        </p:nvSpPr>
        <p:spPr>
          <a:xfrm>
            <a:off x="6126480" y="960120"/>
            <a:ext cx="2606040" cy="777240"/>
          </a:xfrm>
          <a:prstGeom prst="rect">
            <a:avLst/>
          </a:prstGeom>
          <a:noFill/>
          <a:ln/>
        </p:spPr>
        <p:txBody>
          <a:bodyPr wrap="square" rtlCol="0" anchor="ctr"/>
          <a:lstStyle/>
          <a:p>
            <a:pPr marL="0" indent="0" algn="ctr">
              <a:buNone/>
            </a:pPr>
            <a:r>
              <a:rPr lang="en-US" sz="4400" b="1" dirty="0">
                <a:solidFill>
                  <a:srgbClr val="F0C040"/>
                </a:solidFill>
                <a:latin typeface="Georgia" pitchFamily="34" charset="0"/>
                <a:ea typeface="Georgia" pitchFamily="34" charset="-122"/>
                <a:cs typeface="Georgia" pitchFamily="34" charset="-120"/>
              </a:rPr>
              <a:t>50%</a:t>
            </a:r>
            <a:endParaRPr lang="en-US" sz="4400" dirty="0"/>
          </a:p>
        </p:txBody>
      </p:sp>
      <p:sp>
        <p:nvSpPr>
          <p:cNvPr id="13" name="Text 11"/>
          <p:cNvSpPr/>
          <p:nvPr/>
        </p:nvSpPr>
        <p:spPr>
          <a:xfrm>
            <a:off x="6126480" y="1691640"/>
            <a:ext cx="2606040" cy="411480"/>
          </a:xfrm>
          <a:prstGeom prst="rect">
            <a:avLst/>
          </a:prstGeom>
          <a:noFill/>
          <a:ln/>
        </p:spPr>
        <p:txBody>
          <a:bodyPr wrap="square" rtlCol="0" anchor="ctr"/>
          <a:lstStyle/>
          <a:p>
            <a:pPr marL="0" indent="0" algn="ctr">
              <a:buNone/>
            </a:pPr>
            <a:r>
              <a:rPr lang="en-US" sz="1100" dirty="0">
                <a:solidFill>
                  <a:srgbClr val="02C39A"/>
                </a:solidFill>
                <a:latin typeface="Calibri" pitchFamily="34" charset="0"/>
                <a:ea typeface="Calibri" pitchFamily="34" charset="-122"/>
                <a:cs typeface="Calibri" pitchFamily="34" charset="-120"/>
              </a:rPr>
              <a:t>lower storage cost vs. data warehouses</a:t>
            </a:r>
            <a:endParaRPr lang="en-US" sz="1100" dirty="0"/>
          </a:p>
        </p:txBody>
      </p:sp>
      <p:sp>
        <p:nvSpPr>
          <p:cNvPr id="14" name="Shape 12"/>
          <p:cNvSpPr/>
          <p:nvPr/>
        </p:nvSpPr>
        <p:spPr>
          <a:xfrm>
            <a:off x="320040" y="22860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5" name="Shape 13"/>
          <p:cNvSpPr/>
          <p:nvPr/>
        </p:nvSpPr>
        <p:spPr>
          <a:xfrm>
            <a:off x="429768" y="2606040"/>
            <a:ext cx="457200" cy="457200"/>
          </a:xfrm>
          <a:prstGeom prst="ellipse">
            <a:avLst/>
          </a:prstGeom>
          <a:solidFill>
            <a:srgbClr val="028090"/>
          </a:solidFill>
          <a:ln w="12700">
            <a:solidFill>
              <a:srgbClr val="028090"/>
            </a:solidFill>
            <a:prstDash val="solid"/>
          </a:ln>
        </p:spPr>
        <p:txBody>
          <a:bodyPr/>
          <a:lstStyle/>
          <a:p>
            <a:endParaRPr lang="en-KE"/>
          </a:p>
        </p:txBody>
      </p:sp>
      <p:sp>
        <p:nvSpPr>
          <p:cNvPr id="16" name="Text 14"/>
          <p:cNvSpPr/>
          <p:nvPr/>
        </p:nvSpPr>
        <p:spPr>
          <a:xfrm>
            <a:off x="429768" y="2606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17" name="Text 15"/>
          <p:cNvSpPr/>
          <p:nvPr/>
        </p:nvSpPr>
        <p:spPr>
          <a:xfrm>
            <a:off x="1005840" y="23591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Store Everything</a:t>
            </a:r>
            <a:endParaRPr lang="en-US" sz="1300" dirty="0"/>
          </a:p>
        </p:txBody>
      </p:sp>
      <p:sp>
        <p:nvSpPr>
          <p:cNvPr id="18" name="Text 16"/>
          <p:cNvSpPr/>
          <p:nvPr/>
        </p:nvSpPr>
        <p:spPr>
          <a:xfrm>
            <a:off x="1005840" y="27614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Ingest raw data immediately — structured, semi-structured, unstructured — without costly transformations.</a:t>
            </a:r>
            <a:endParaRPr lang="en-US" sz="1050" dirty="0"/>
          </a:p>
        </p:txBody>
      </p:sp>
      <p:sp>
        <p:nvSpPr>
          <p:cNvPr id="19" name="Shape 17"/>
          <p:cNvSpPr/>
          <p:nvPr/>
        </p:nvSpPr>
        <p:spPr>
          <a:xfrm>
            <a:off x="4754880" y="22860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4864608" y="2606040"/>
            <a:ext cx="457200" cy="457200"/>
          </a:xfrm>
          <a:prstGeom prst="ellipse">
            <a:avLst/>
          </a:prstGeom>
          <a:solidFill>
            <a:srgbClr val="028090"/>
          </a:solidFill>
          <a:ln w="12700">
            <a:solidFill>
              <a:srgbClr val="028090"/>
            </a:solidFill>
            <a:prstDash val="solid"/>
          </a:ln>
        </p:spPr>
        <p:txBody>
          <a:bodyPr/>
          <a:lstStyle/>
          <a:p>
            <a:endParaRPr lang="en-KE"/>
          </a:p>
        </p:txBody>
      </p:sp>
      <p:sp>
        <p:nvSpPr>
          <p:cNvPr id="21" name="Text 19"/>
          <p:cNvSpPr/>
          <p:nvPr/>
        </p:nvSpPr>
        <p:spPr>
          <a:xfrm>
            <a:off x="4864608" y="26060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2" name="Text 20"/>
          <p:cNvSpPr/>
          <p:nvPr/>
        </p:nvSpPr>
        <p:spPr>
          <a:xfrm>
            <a:off x="5440680" y="23591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Serve Multiple Users</a:t>
            </a:r>
            <a:endParaRPr lang="en-US" sz="1300" dirty="0"/>
          </a:p>
        </p:txBody>
      </p:sp>
      <p:sp>
        <p:nvSpPr>
          <p:cNvPr id="23" name="Text 21"/>
          <p:cNvSpPr/>
          <p:nvPr/>
        </p:nvSpPr>
        <p:spPr>
          <a:xfrm>
            <a:off x="5440680" y="27614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scientists (Python/R), analysts (SQL), ML engineers — all query the same lake with different tools.</a:t>
            </a:r>
            <a:endParaRPr lang="en-US" sz="1050" dirty="0"/>
          </a:p>
        </p:txBody>
      </p:sp>
      <p:sp>
        <p:nvSpPr>
          <p:cNvPr id="24" name="Shape 22"/>
          <p:cNvSpPr/>
          <p:nvPr/>
        </p:nvSpPr>
        <p:spPr>
          <a:xfrm>
            <a:off x="320040" y="36576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5" name="Shape 23"/>
          <p:cNvSpPr/>
          <p:nvPr/>
        </p:nvSpPr>
        <p:spPr>
          <a:xfrm>
            <a:off x="429768" y="3977640"/>
            <a:ext cx="457200" cy="457200"/>
          </a:xfrm>
          <a:prstGeom prst="ellipse">
            <a:avLst/>
          </a:prstGeom>
          <a:solidFill>
            <a:srgbClr val="028090"/>
          </a:solidFill>
          <a:ln w="12700">
            <a:solidFill>
              <a:srgbClr val="028090"/>
            </a:solidFill>
            <a:prstDash val="solid"/>
          </a:ln>
        </p:spPr>
        <p:txBody>
          <a:bodyPr/>
          <a:lstStyle/>
          <a:p>
            <a:endParaRPr lang="en-KE"/>
          </a:p>
        </p:txBody>
      </p:sp>
      <p:sp>
        <p:nvSpPr>
          <p:cNvPr id="26" name="Text 24"/>
          <p:cNvSpPr/>
          <p:nvPr/>
        </p:nvSpPr>
        <p:spPr>
          <a:xfrm>
            <a:off x="429768" y="3977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7" name="Text 25"/>
          <p:cNvSpPr/>
          <p:nvPr/>
        </p:nvSpPr>
        <p:spPr>
          <a:xfrm>
            <a:off x="1005840" y="37307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Future-Proof Analytics</a:t>
            </a:r>
            <a:endParaRPr lang="en-US" sz="1300" dirty="0"/>
          </a:p>
        </p:txBody>
      </p:sp>
      <p:sp>
        <p:nvSpPr>
          <p:cNvPr id="28" name="Text 26"/>
          <p:cNvSpPr/>
          <p:nvPr/>
        </p:nvSpPr>
        <p:spPr>
          <a:xfrm>
            <a:off x="1005840" y="41330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Data stored today can be analysed in ways not yet conceived. Raw data enables re-analysis anytime.</a:t>
            </a:r>
            <a:endParaRPr lang="en-US" sz="1050" dirty="0"/>
          </a:p>
        </p:txBody>
      </p:sp>
      <p:sp>
        <p:nvSpPr>
          <p:cNvPr id="29" name="Shape 27"/>
          <p:cNvSpPr/>
          <p:nvPr/>
        </p:nvSpPr>
        <p:spPr>
          <a:xfrm>
            <a:off x="4754880" y="3657600"/>
            <a:ext cx="4206240" cy="123444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30" name="Shape 28"/>
          <p:cNvSpPr/>
          <p:nvPr/>
        </p:nvSpPr>
        <p:spPr>
          <a:xfrm>
            <a:off x="4864608" y="3977640"/>
            <a:ext cx="457200" cy="457200"/>
          </a:xfrm>
          <a:prstGeom prst="ellipse">
            <a:avLst/>
          </a:prstGeom>
          <a:solidFill>
            <a:srgbClr val="028090"/>
          </a:solidFill>
          <a:ln w="12700">
            <a:solidFill>
              <a:srgbClr val="028090"/>
            </a:solidFill>
            <a:prstDash val="solid"/>
          </a:ln>
        </p:spPr>
        <p:txBody>
          <a:bodyPr/>
          <a:lstStyle/>
          <a:p>
            <a:endParaRPr lang="en-KE"/>
          </a:p>
        </p:txBody>
      </p:sp>
      <p:sp>
        <p:nvSpPr>
          <p:cNvPr id="31" name="Text 29"/>
          <p:cNvSpPr/>
          <p:nvPr/>
        </p:nvSpPr>
        <p:spPr>
          <a:xfrm>
            <a:off x="4864608" y="3977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32" name="Text 30"/>
          <p:cNvSpPr/>
          <p:nvPr/>
        </p:nvSpPr>
        <p:spPr>
          <a:xfrm>
            <a:off x="5440680" y="3730752"/>
            <a:ext cx="3429000" cy="384048"/>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AI &amp; ML Ready</a:t>
            </a:r>
            <a:endParaRPr lang="en-US" sz="1300" dirty="0"/>
          </a:p>
        </p:txBody>
      </p:sp>
      <p:sp>
        <p:nvSpPr>
          <p:cNvPr id="33" name="Text 31"/>
          <p:cNvSpPr/>
          <p:nvPr/>
        </p:nvSpPr>
        <p:spPr>
          <a:xfrm>
            <a:off x="5440680" y="4133088"/>
            <a:ext cx="3429000" cy="685800"/>
          </a:xfrm>
          <a:prstGeom prst="rect">
            <a:avLst/>
          </a:prstGeom>
          <a:noFill/>
          <a:ln/>
        </p:spPr>
        <p:txBody>
          <a:bodyPr wrap="square" rtlCol="0" anchor="ctr"/>
          <a:lstStyle/>
          <a:p>
            <a:pPr marL="0" indent="0">
              <a:buNone/>
            </a:pPr>
            <a:r>
              <a:rPr lang="en-US" sz="1050" dirty="0">
                <a:solidFill>
                  <a:srgbClr val="4A5568"/>
                </a:solidFill>
                <a:latin typeface="Calibri" pitchFamily="34" charset="0"/>
                <a:ea typeface="Calibri" pitchFamily="34" charset="-122"/>
                <a:cs typeface="Calibri" pitchFamily="34" charset="-120"/>
              </a:rPr>
              <a:t>Train machine learning models directly on raw data at scale without moving or pre-aggregating datasets.</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F</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Data Lake Architectures &amp; Data Lake vs Data Warehouse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Architecture: The Layered Model</a:t>
            </a:r>
            <a:endParaRPr lang="en-US" sz="2400" dirty="0"/>
          </a:p>
        </p:txBody>
      </p:sp>
      <p:sp>
        <p:nvSpPr>
          <p:cNvPr id="5" name="Text 3"/>
          <p:cNvSpPr/>
          <p:nvPr/>
        </p:nvSpPr>
        <p:spPr>
          <a:xfrm>
            <a:off x="365760" y="960120"/>
            <a:ext cx="8412480" cy="34747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A well-designed data lake is organized in distinct zones, not a single dumping ground:</a:t>
            </a:r>
            <a:endParaRPr lang="en-US" sz="1200" dirty="0"/>
          </a:p>
        </p:txBody>
      </p:sp>
      <p:sp>
        <p:nvSpPr>
          <p:cNvPr id="6" name="Shape 4"/>
          <p:cNvSpPr/>
          <p:nvPr/>
        </p:nvSpPr>
        <p:spPr>
          <a:xfrm>
            <a:off x="320040" y="1389888"/>
            <a:ext cx="8503920" cy="658368"/>
          </a:xfrm>
          <a:prstGeom prst="rect">
            <a:avLst/>
          </a:prstGeom>
          <a:solidFill>
            <a:srgbClr val="F0C040"/>
          </a:solidFill>
          <a:ln w="12700">
            <a:solidFill>
              <a:srgbClr val="F0C040"/>
            </a:solidFill>
            <a:prstDash val="solid"/>
          </a:ln>
        </p:spPr>
        <p:txBody>
          <a:bodyPr/>
          <a:lstStyle/>
          <a:p>
            <a:endParaRPr lang="en-KE"/>
          </a:p>
        </p:txBody>
      </p:sp>
      <p:sp>
        <p:nvSpPr>
          <p:cNvPr id="7" name="Text 5"/>
          <p:cNvSpPr/>
          <p:nvPr/>
        </p:nvSpPr>
        <p:spPr>
          <a:xfrm>
            <a:off x="457200" y="138988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Ingestion / Landing Zone</a:t>
            </a:r>
            <a:endParaRPr lang="en-US" sz="1300" dirty="0"/>
          </a:p>
        </p:txBody>
      </p:sp>
      <p:sp>
        <p:nvSpPr>
          <p:cNvPr id="8" name="Text 6"/>
          <p:cNvSpPr/>
          <p:nvPr/>
        </p:nvSpPr>
        <p:spPr>
          <a:xfrm>
            <a:off x="3474720" y="138988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Raw data arrives here. No transformation. Files in original format (CSV, JSON, images, logs). Short retention.</a:t>
            </a:r>
            <a:endParaRPr lang="en-US" sz="1100" dirty="0"/>
          </a:p>
        </p:txBody>
      </p:sp>
      <p:sp>
        <p:nvSpPr>
          <p:cNvPr id="9" name="Shape 7"/>
          <p:cNvSpPr/>
          <p:nvPr/>
        </p:nvSpPr>
        <p:spPr>
          <a:xfrm>
            <a:off x="320040" y="2121408"/>
            <a:ext cx="8503920" cy="658368"/>
          </a:xfrm>
          <a:prstGeom prst="rect">
            <a:avLst/>
          </a:prstGeom>
          <a:solidFill>
            <a:srgbClr val="0A2342"/>
          </a:solidFill>
          <a:ln w="12700">
            <a:solidFill>
              <a:srgbClr val="0A2342"/>
            </a:solidFill>
            <a:prstDash val="solid"/>
          </a:ln>
        </p:spPr>
        <p:txBody>
          <a:bodyPr/>
          <a:lstStyle/>
          <a:p>
            <a:endParaRPr lang="en-KE"/>
          </a:p>
        </p:txBody>
      </p:sp>
      <p:sp>
        <p:nvSpPr>
          <p:cNvPr id="10" name="Text 8"/>
          <p:cNvSpPr/>
          <p:nvPr/>
        </p:nvSpPr>
        <p:spPr>
          <a:xfrm>
            <a:off x="457200" y="2121408"/>
            <a:ext cx="2926080" cy="65836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Raw / Bronze Layer</a:t>
            </a:r>
            <a:endParaRPr lang="en-US" sz="1300" dirty="0"/>
          </a:p>
        </p:txBody>
      </p:sp>
      <p:sp>
        <p:nvSpPr>
          <p:cNvPr id="11" name="Text 9"/>
          <p:cNvSpPr/>
          <p:nvPr/>
        </p:nvSpPr>
        <p:spPr>
          <a:xfrm>
            <a:off x="3474720" y="2121408"/>
            <a:ext cx="52578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Persisted raw data. Schema-on-read. Data catalogued and tagged. Full historical retention.</a:t>
            </a:r>
            <a:endParaRPr lang="en-US" sz="1100" dirty="0"/>
          </a:p>
        </p:txBody>
      </p:sp>
      <p:sp>
        <p:nvSpPr>
          <p:cNvPr id="12" name="Shape 10"/>
          <p:cNvSpPr/>
          <p:nvPr/>
        </p:nvSpPr>
        <p:spPr>
          <a:xfrm>
            <a:off x="320040" y="2852928"/>
            <a:ext cx="8503920" cy="658368"/>
          </a:xfrm>
          <a:prstGeom prst="rect">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457200" y="2852928"/>
            <a:ext cx="2926080" cy="658368"/>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Cleansed / Silver Layer</a:t>
            </a:r>
            <a:endParaRPr lang="en-US" sz="1300" dirty="0"/>
          </a:p>
        </p:txBody>
      </p:sp>
      <p:sp>
        <p:nvSpPr>
          <p:cNvPr id="14" name="Text 12"/>
          <p:cNvSpPr/>
          <p:nvPr/>
        </p:nvSpPr>
        <p:spPr>
          <a:xfrm>
            <a:off x="3474720" y="2852928"/>
            <a:ext cx="5257800" cy="658368"/>
          </a:xfrm>
          <a:prstGeom prst="rect">
            <a:avLst/>
          </a:prstGeom>
          <a:noFill/>
          <a:ln/>
        </p:spPr>
        <p:txBody>
          <a:bodyPr wrap="square" rtlCol="0" anchor="ctr"/>
          <a:lstStyle/>
          <a:p>
            <a:pPr marL="0" indent="0">
              <a:buNone/>
            </a:pPr>
            <a:r>
              <a:rPr lang="en-US" sz="1100" dirty="0">
                <a:solidFill>
                  <a:srgbClr val="FFFFFF"/>
                </a:solidFill>
                <a:latin typeface="Calibri" pitchFamily="34" charset="0"/>
                <a:ea typeface="Calibri" pitchFamily="34" charset="-122"/>
                <a:cs typeface="Calibri" pitchFamily="34" charset="-120"/>
              </a:rPr>
              <a:t>Validated, deduplicated, standardized data. Business rules applied. Ready for exploration.</a:t>
            </a:r>
            <a:endParaRPr lang="en-US" sz="1100" dirty="0"/>
          </a:p>
        </p:txBody>
      </p:sp>
      <p:sp>
        <p:nvSpPr>
          <p:cNvPr id="15" name="Shape 13"/>
          <p:cNvSpPr/>
          <p:nvPr/>
        </p:nvSpPr>
        <p:spPr>
          <a:xfrm>
            <a:off x="320040" y="3584448"/>
            <a:ext cx="8503920" cy="658368"/>
          </a:xfrm>
          <a:prstGeom prst="rect">
            <a:avLst/>
          </a:prstGeom>
          <a:solidFill>
            <a:srgbClr val="02C39A"/>
          </a:solidFill>
          <a:ln w="12700">
            <a:solidFill>
              <a:srgbClr val="02C39A"/>
            </a:solidFill>
            <a:prstDash val="solid"/>
          </a:ln>
        </p:spPr>
        <p:txBody>
          <a:bodyPr/>
          <a:lstStyle/>
          <a:p>
            <a:endParaRPr lang="en-KE"/>
          </a:p>
        </p:txBody>
      </p:sp>
      <p:sp>
        <p:nvSpPr>
          <p:cNvPr id="16" name="Text 14"/>
          <p:cNvSpPr/>
          <p:nvPr/>
        </p:nvSpPr>
        <p:spPr>
          <a:xfrm>
            <a:off x="457200" y="358444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Curated / Gold Layer</a:t>
            </a:r>
            <a:endParaRPr lang="en-US" sz="1300" dirty="0"/>
          </a:p>
        </p:txBody>
      </p:sp>
      <p:sp>
        <p:nvSpPr>
          <p:cNvPr id="17" name="Text 15"/>
          <p:cNvSpPr/>
          <p:nvPr/>
        </p:nvSpPr>
        <p:spPr>
          <a:xfrm>
            <a:off x="3474720" y="358444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Aggregated, business-ready datasets. Optimized for specific analytics use cases and reporting.</a:t>
            </a:r>
            <a:endParaRPr lang="en-US" sz="1100" dirty="0"/>
          </a:p>
        </p:txBody>
      </p:sp>
      <p:sp>
        <p:nvSpPr>
          <p:cNvPr id="18" name="Shape 16"/>
          <p:cNvSpPr/>
          <p:nvPr/>
        </p:nvSpPr>
        <p:spPr>
          <a:xfrm>
            <a:off x="320040" y="4315968"/>
            <a:ext cx="8503920" cy="658368"/>
          </a:xfrm>
          <a:prstGeom prst="rect">
            <a:avLst/>
          </a:prstGeom>
          <a:solidFill>
            <a:srgbClr val="00A896"/>
          </a:solidFill>
          <a:ln w="12700">
            <a:solidFill>
              <a:srgbClr val="00A896"/>
            </a:solidFill>
            <a:prstDash val="solid"/>
          </a:ln>
        </p:spPr>
        <p:txBody>
          <a:bodyPr/>
          <a:lstStyle/>
          <a:p>
            <a:endParaRPr lang="en-KE"/>
          </a:p>
        </p:txBody>
      </p:sp>
      <p:sp>
        <p:nvSpPr>
          <p:cNvPr id="19" name="Text 17"/>
          <p:cNvSpPr/>
          <p:nvPr/>
        </p:nvSpPr>
        <p:spPr>
          <a:xfrm>
            <a:off x="457200" y="4315968"/>
            <a:ext cx="2926080" cy="658368"/>
          </a:xfrm>
          <a:prstGeom prst="rect">
            <a:avLst/>
          </a:prstGeom>
          <a:noFill/>
          <a:ln/>
        </p:spPr>
        <p:txBody>
          <a:bodyPr wrap="square" lIns="0" tIns="0" rIns="0" bIns="0" rtlCol="0" anchor="ctr"/>
          <a:lstStyle/>
          <a:p>
            <a:pPr marL="0" indent="0">
              <a:buNone/>
            </a:pPr>
            <a:r>
              <a:rPr lang="en-US" sz="1300" b="1" dirty="0">
                <a:solidFill>
                  <a:srgbClr val="1A1A2E"/>
                </a:solidFill>
                <a:latin typeface="Georgia" pitchFamily="34" charset="0"/>
                <a:ea typeface="Georgia" pitchFamily="34" charset="-122"/>
                <a:cs typeface="Georgia" pitchFamily="34" charset="-120"/>
              </a:rPr>
              <a:t>Consumption Layer</a:t>
            </a:r>
            <a:endParaRPr lang="en-US" sz="1300" dirty="0"/>
          </a:p>
        </p:txBody>
      </p:sp>
      <p:sp>
        <p:nvSpPr>
          <p:cNvPr id="20" name="Text 18"/>
          <p:cNvSpPr/>
          <p:nvPr/>
        </p:nvSpPr>
        <p:spPr>
          <a:xfrm>
            <a:off x="3474720" y="4315968"/>
            <a:ext cx="5257800" cy="658368"/>
          </a:xfrm>
          <a:prstGeom prst="rect">
            <a:avLst/>
          </a:prstGeom>
          <a:noFill/>
          <a:ln/>
        </p:spPr>
        <p:txBody>
          <a:bodyPr wrap="square" rtlCol="0" anchor="ctr"/>
          <a:lstStyle/>
          <a:p>
            <a:pPr marL="0" indent="0">
              <a:buNone/>
            </a:pPr>
            <a:r>
              <a:rPr lang="en-US" sz="1100" dirty="0">
                <a:solidFill>
                  <a:srgbClr val="1A1A2E"/>
                </a:solidFill>
                <a:latin typeface="Calibri" pitchFamily="34" charset="0"/>
                <a:ea typeface="Calibri" pitchFamily="34" charset="-122"/>
                <a:cs typeface="Calibri" pitchFamily="34" charset="-120"/>
              </a:rPr>
              <a:t>BI dashboards, ML models, APIs, data science notebooks consume gold layer data.</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lgn="ctr">
              <a:buNone/>
            </a:pPr>
            <a:r>
              <a:rPr lang="en-US" sz="2400" b="1" dirty="0">
                <a:solidFill>
                  <a:srgbClr val="FFFFFF"/>
                </a:solidFill>
                <a:latin typeface="Georgia" pitchFamily="34" charset="0"/>
                <a:ea typeface="Georgia" pitchFamily="34" charset="-122"/>
                <a:cs typeface="Georgia" pitchFamily="34" charset="-120"/>
              </a:rPr>
              <a:t>Data Lake vs Data Warehouse vs Lakehouse</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757376765"/>
              </p:ext>
            </p:extLst>
          </p:nvPr>
        </p:nvGraphicFramePr>
        <p:xfrm>
          <a:off x="320040" y="960120"/>
          <a:ext cx="8503920" cy="3149657"/>
        </p:xfrm>
        <a:graphic>
          <a:graphicData uri="http://schemas.openxmlformats.org/drawingml/2006/table">
            <a:tbl>
              <a:tblPr/>
              <a:tblGrid>
                <a:gridCol w="17373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tblGrid>
              <a:tr h="513947">
                <a:tc>
                  <a:txBody>
                    <a:bodyPr/>
                    <a:lstStyle/>
                    <a:p>
                      <a:pPr>
                        <a:lnSpc>
                          <a:spcPts val="1575"/>
                        </a:lnSpc>
                        <a:buNone/>
                      </a:pPr>
                      <a:r>
                        <a:rPr lang="en-US" sz="1200" b="1" dirty="0">
                          <a:effectLst/>
                          <a:latin typeface="+mn-lt"/>
                        </a:rPr>
                        <a:t>Dimension</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a:lnSpc>
                          <a:spcPts val="1575"/>
                        </a:lnSpc>
                        <a:buNone/>
                      </a:pPr>
                      <a:r>
                        <a:rPr lang="en-US" sz="1200" b="1">
                          <a:effectLst/>
                          <a:latin typeface="+mn-lt"/>
                        </a:rPr>
                        <a:t>Data Warehouse</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a:lnSpc>
                          <a:spcPts val="1575"/>
                        </a:lnSpc>
                        <a:buNone/>
                      </a:pPr>
                      <a:r>
                        <a:rPr lang="en-US" sz="1200" b="1">
                          <a:effectLst/>
                          <a:latin typeface="+mn-lt"/>
                        </a:rPr>
                        <a:t>Data Lake</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a:lnSpc>
                          <a:spcPts val="1575"/>
                        </a:lnSpc>
                        <a:buNone/>
                      </a:pPr>
                      <a:r>
                        <a:rPr lang="en-US" sz="1200" b="1">
                          <a:effectLst/>
                          <a:latin typeface="+mn-lt"/>
                        </a:rPr>
                        <a:t>Lakehouse</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513947">
                <a:tc>
                  <a:txBody>
                    <a:bodyPr/>
                    <a:lstStyle/>
                    <a:p>
                      <a:pPr>
                        <a:lnSpc>
                          <a:spcPts val="1575"/>
                        </a:lnSpc>
                        <a:buNone/>
                      </a:pPr>
                      <a:r>
                        <a:rPr lang="en-US" sz="1200" b="1" dirty="0">
                          <a:effectLst/>
                          <a:latin typeface="+mn-lt"/>
                        </a:rPr>
                        <a:t>Data Type</a:t>
                      </a:r>
                      <a:endParaRPr lang="en-US" sz="1200" b="0" dirty="0">
                        <a:effectLst/>
                        <a:latin typeface="+mn-lt"/>
                      </a:endParaRP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nSpc>
                          <a:spcPts val="1575"/>
                        </a:lnSpc>
                        <a:buNone/>
                      </a:pPr>
                      <a:r>
                        <a:rPr lang="en-US" sz="1200" b="0" dirty="0">
                          <a:effectLst/>
                          <a:latin typeface="+mn-lt"/>
                        </a:rPr>
                        <a:t>Structured only</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nSpc>
                          <a:spcPts val="1575"/>
                        </a:lnSpc>
                        <a:buNone/>
                      </a:pPr>
                      <a:r>
                        <a:rPr lang="en-US" sz="1200" b="0">
                          <a:effectLst/>
                          <a:latin typeface="+mn-lt"/>
                        </a:rPr>
                        <a:t>All types (Raw, Unstructured)</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a:lnSpc>
                          <a:spcPts val="1575"/>
                        </a:lnSpc>
                        <a:buNone/>
                      </a:pPr>
                      <a:r>
                        <a:rPr lang="en-US" sz="1200" b="0">
                          <a:effectLst/>
                          <a:latin typeface="+mn-lt"/>
                        </a:rPr>
                        <a:t>All types</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1"/>
                  </a:ext>
                </a:extLst>
              </a:tr>
              <a:tr h="513947">
                <a:tc>
                  <a:txBody>
                    <a:bodyPr/>
                    <a:lstStyle/>
                    <a:p>
                      <a:pPr>
                        <a:lnSpc>
                          <a:spcPts val="1575"/>
                        </a:lnSpc>
                        <a:buNone/>
                      </a:pPr>
                      <a:r>
                        <a:rPr lang="en-US" sz="1200" b="1" dirty="0">
                          <a:effectLst/>
                          <a:latin typeface="+mn-lt"/>
                        </a:rPr>
                        <a:t>Schema</a:t>
                      </a:r>
                      <a:endParaRPr lang="en-US" sz="1200" b="0" dirty="0">
                        <a:effectLst/>
                        <a:latin typeface="+mn-lt"/>
                      </a:endParaRP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a:lnSpc>
                          <a:spcPts val="1575"/>
                        </a:lnSpc>
                        <a:buNone/>
                      </a:pPr>
                      <a:r>
                        <a:rPr lang="en-US" sz="1200" b="0">
                          <a:effectLst/>
                          <a:latin typeface="+mn-lt"/>
                        </a:rPr>
                        <a:t>Schema-on-Write</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a:lnSpc>
                          <a:spcPts val="1575"/>
                        </a:lnSpc>
                        <a:buNone/>
                      </a:pPr>
                      <a:r>
                        <a:rPr lang="en-US" sz="1200" b="1">
                          <a:effectLst/>
                          <a:latin typeface="+mn-lt"/>
                        </a:rPr>
                        <a:t>Schema-on-Read</a:t>
                      </a:r>
                      <a:endParaRPr lang="en-US" sz="1200" b="0">
                        <a:effectLst/>
                        <a:latin typeface="+mn-lt"/>
                      </a:endParaRP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a:lnSpc>
                          <a:spcPts val="1575"/>
                        </a:lnSpc>
                        <a:buNone/>
                      </a:pPr>
                      <a:r>
                        <a:rPr lang="en-US" sz="1200" b="0">
                          <a:effectLst/>
                          <a:latin typeface="+mn-lt"/>
                        </a:rPr>
                        <a:t>Flexible (Both)</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2"/>
                  </a:ext>
                </a:extLst>
              </a:tr>
              <a:tr h="513947">
                <a:tc>
                  <a:txBody>
                    <a:bodyPr/>
                    <a:lstStyle/>
                    <a:p>
                      <a:pPr>
                        <a:lnSpc>
                          <a:spcPts val="1575"/>
                        </a:lnSpc>
                        <a:buNone/>
                      </a:pPr>
                      <a:r>
                        <a:rPr lang="en-US" sz="1200" b="1">
                          <a:effectLst/>
                          <a:latin typeface="+mn-lt"/>
                        </a:rPr>
                        <a:t>Storage Cost</a:t>
                      </a:r>
                      <a:endParaRPr lang="en-US" sz="1200" b="0">
                        <a:effectLst/>
                        <a:latin typeface="+mn-lt"/>
                      </a:endParaRP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nSpc>
                          <a:spcPts val="1575"/>
                        </a:lnSpc>
                        <a:buNone/>
                      </a:pPr>
                      <a:r>
                        <a:rPr lang="en-US" sz="1200" b="0" dirty="0">
                          <a:effectLst/>
                          <a:latin typeface="+mn-lt"/>
                        </a:rPr>
                        <a:t>High (Premium storage)</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nSpc>
                          <a:spcPts val="1575"/>
                        </a:lnSpc>
                        <a:buNone/>
                      </a:pPr>
                      <a:r>
                        <a:rPr lang="en-US" sz="1200" b="0" dirty="0">
                          <a:effectLst/>
                          <a:latin typeface="+mn-lt"/>
                        </a:rPr>
                        <a:t>Low (Object Storage like S3)</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a:lnSpc>
                          <a:spcPts val="1575"/>
                        </a:lnSpc>
                        <a:buNone/>
                      </a:pPr>
                      <a:r>
                        <a:rPr lang="en-US" sz="1200" b="0">
                          <a:effectLst/>
                          <a:latin typeface="+mn-lt"/>
                        </a:rPr>
                        <a:t>Low-Medium</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3"/>
                  </a:ext>
                </a:extLst>
              </a:tr>
              <a:tr h="513947">
                <a:tc>
                  <a:txBody>
                    <a:bodyPr/>
                    <a:lstStyle/>
                    <a:p>
                      <a:pPr>
                        <a:lnSpc>
                          <a:spcPts val="1575"/>
                        </a:lnSpc>
                        <a:buNone/>
                      </a:pPr>
                      <a:r>
                        <a:rPr lang="en-US" sz="1200" b="1">
                          <a:effectLst/>
                          <a:latin typeface="+mn-lt"/>
                        </a:rPr>
                        <a:t>Primary Users</a:t>
                      </a:r>
                      <a:endParaRPr lang="en-US" sz="1200" b="0">
                        <a:effectLst/>
                        <a:latin typeface="+mn-lt"/>
                      </a:endParaRP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a:lnSpc>
                          <a:spcPts val="1575"/>
                        </a:lnSpc>
                        <a:buNone/>
                      </a:pPr>
                      <a:r>
                        <a:rPr lang="en-US" sz="1200" b="0" dirty="0">
                          <a:effectLst/>
                          <a:latin typeface="+mn-lt"/>
                        </a:rPr>
                        <a:t>Business Analysts (BI)</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a:lnSpc>
                          <a:spcPts val="1575"/>
                        </a:lnSpc>
                        <a:buNone/>
                      </a:pPr>
                      <a:r>
                        <a:rPr lang="en-US" sz="1200" b="0" dirty="0">
                          <a:effectLst/>
                          <a:latin typeface="+mn-lt"/>
                        </a:rPr>
                        <a:t>Data Scientists, ML Engineers</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0F7F5"/>
                    </a:solidFill>
                  </a:tcPr>
                </a:tc>
                <a:tc>
                  <a:txBody>
                    <a:bodyPr/>
                    <a:lstStyle/>
                    <a:p>
                      <a:pPr>
                        <a:lnSpc>
                          <a:spcPts val="1575"/>
                        </a:lnSpc>
                        <a:buNone/>
                      </a:pPr>
                      <a:r>
                        <a:rPr lang="en-US" sz="1200" b="0">
                          <a:effectLst/>
                          <a:latin typeface="+mn-lt"/>
                        </a:rPr>
                        <a:t>Both</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8E0"/>
                    </a:solidFill>
                  </a:tcPr>
                </a:tc>
                <a:extLst>
                  <a:ext uri="{0D108BD9-81ED-4DB2-BD59-A6C34878D82A}">
                    <a16:rowId xmlns:a16="http://schemas.microsoft.com/office/drawing/2014/main" val="10004"/>
                  </a:ext>
                </a:extLst>
              </a:tr>
              <a:tr h="579922">
                <a:tc>
                  <a:txBody>
                    <a:bodyPr/>
                    <a:lstStyle/>
                    <a:p>
                      <a:pPr>
                        <a:lnSpc>
                          <a:spcPts val="1575"/>
                        </a:lnSpc>
                        <a:buNone/>
                      </a:pPr>
                      <a:r>
                        <a:rPr lang="en-US" sz="1200" b="1" dirty="0">
                          <a:effectLst/>
                          <a:latin typeface="+mn-lt"/>
                        </a:rPr>
                        <a:t>Kenyan Example</a:t>
                      </a:r>
                      <a:endParaRPr lang="en-US" sz="1200" b="0" dirty="0">
                        <a:effectLst/>
                        <a:latin typeface="+mn-lt"/>
                      </a:endParaRP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nSpc>
                          <a:spcPts val="1575"/>
                        </a:lnSpc>
                        <a:buNone/>
                      </a:pPr>
                      <a:r>
                        <a:rPr lang="en-US" sz="1200" b="1">
                          <a:effectLst/>
                          <a:latin typeface="+mn-lt"/>
                        </a:rPr>
                        <a:t>KNBS</a:t>
                      </a:r>
                      <a:r>
                        <a:rPr lang="en-US" sz="1200" b="0">
                          <a:effectLst/>
                          <a:latin typeface="+mn-lt"/>
                        </a:rPr>
                        <a:t> (Official Census Reports)</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a:lnSpc>
                          <a:spcPts val="1575"/>
                        </a:lnSpc>
                        <a:buNone/>
                      </a:pPr>
                      <a:r>
                        <a:rPr lang="en-US" sz="1200" b="1" dirty="0" err="1">
                          <a:effectLst/>
                          <a:latin typeface="+mn-lt"/>
                        </a:rPr>
                        <a:t>DigiFarm</a:t>
                      </a:r>
                      <a:r>
                        <a:rPr lang="en-US" sz="1200" b="0" dirty="0">
                          <a:effectLst/>
                          <a:latin typeface="+mn-lt"/>
                        </a:rPr>
                        <a:t> (Raw Drone Images &amp; Soil Sensors)</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0FAFB"/>
                    </a:solidFill>
                  </a:tcPr>
                </a:tc>
                <a:tc>
                  <a:txBody>
                    <a:bodyPr/>
                    <a:lstStyle/>
                    <a:p>
                      <a:pPr>
                        <a:lnSpc>
                          <a:spcPts val="1575"/>
                        </a:lnSpc>
                        <a:buNone/>
                      </a:pPr>
                      <a:r>
                        <a:rPr lang="en-US" sz="1200" b="1" dirty="0">
                          <a:effectLst/>
                          <a:latin typeface="+mn-lt"/>
                        </a:rPr>
                        <a:t>Safaricom</a:t>
                      </a:r>
                      <a:r>
                        <a:rPr lang="en-US" sz="1200" b="0" dirty="0">
                          <a:effectLst/>
                          <a:latin typeface="+mn-lt"/>
                        </a:rPr>
                        <a:t> (Real-time fraud detection on logs)</a:t>
                      </a:r>
                    </a:p>
                  </a:txBody>
                  <a:tcPr marL="114300" marR="114300" marT="57150" marB="5715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DF0"/>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The Modern Lakehouse Architecture</a:t>
            </a:r>
            <a:endParaRPr lang="en-US" sz="2400" dirty="0"/>
          </a:p>
        </p:txBody>
      </p:sp>
      <p:sp>
        <p:nvSpPr>
          <p:cNvPr id="5" name="Text 3"/>
          <p:cNvSpPr/>
          <p:nvPr/>
        </p:nvSpPr>
        <p:spPr>
          <a:xfrm>
            <a:off x="365760" y="960120"/>
            <a:ext cx="8412480" cy="365760"/>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The Lakehouse bridges the gap — combining the flexibility of Data Lakes with the reliability of Data Warehouses.</a:t>
            </a:r>
            <a:endParaRPr lang="en-US" sz="1200" dirty="0"/>
          </a:p>
        </p:txBody>
      </p:sp>
      <p:sp>
        <p:nvSpPr>
          <p:cNvPr id="6" name="Shape 4"/>
          <p:cNvSpPr/>
          <p:nvPr/>
        </p:nvSpPr>
        <p:spPr>
          <a:xfrm>
            <a:off x="320040" y="1463040"/>
            <a:ext cx="1280160" cy="3474720"/>
          </a:xfrm>
          <a:prstGeom prst="rect">
            <a:avLst/>
          </a:prstGeom>
          <a:solidFill>
            <a:srgbClr val="F0C040"/>
          </a:solidFill>
          <a:ln w="12700">
            <a:solidFill>
              <a:srgbClr val="F0C040"/>
            </a:solidFill>
            <a:prstDash val="solid"/>
          </a:ln>
          <a:effectLst>
            <a:outerShdw blurRad="76200" dist="25400" dir="8100000" algn="bl" rotWithShape="0">
              <a:srgbClr val="000000">
                <a:alpha val="10000"/>
              </a:srgbClr>
            </a:outerShdw>
          </a:effectLst>
        </p:spPr>
        <p:txBody>
          <a:bodyPr/>
          <a:lstStyle/>
          <a:p>
            <a:endParaRPr lang="en-KE"/>
          </a:p>
        </p:txBody>
      </p:sp>
      <p:sp>
        <p:nvSpPr>
          <p:cNvPr id="7" name="Text 5"/>
          <p:cNvSpPr/>
          <p:nvPr/>
        </p:nvSpPr>
        <p:spPr>
          <a:xfrm>
            <a:off x="32004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Data Sources</a:t>
            </a:r>
            <a:endParaRPr lang="en-US" sz="1100" dirty="0"/>
          </a:p>
        </p:txBody>
      </p:sp>
      <p:sp>
        <p:nvSpPr>
          <p:cNvPr id="8" name="Text 6"/>
          <p:cNvSpPr/>
          <p:nvPr/>
        </p:nvSpPr>
        <p:spPr>
          <a:xfrm>
            <a:off x="36576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Databases · APIs · Streams · Files · IoT</a:t>
            </a:r>
            <a:endParaRPr lang="en-US" sz="900" dirty="0"/>
          </a:p>
        </p:txBody>
      </p:sp>
      <p:sp>
        <p:nvSpPr>
          <p:cNvPr id="9" name="Text 7"/>
          <p:cNvSpPr/>
          <p:nvPr/>
        </p:nvSpPr>
        <p:spPr>
          <a:xfrm>
            <a:off x="158191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0" name="Shape 8"/>
          <p:cNvSpPr/>
          <p:nvPr/>
        </p:nvSpPr>
        <p:spPr>
          <a:xfrm>
            <a:off x="1737360" y="1463040"/>
            <a:ext cx="1280160" cy="3474720"/>
          </a:xfrm>
          <a:prstGeom prst="rect">
            <a:avLst/>
          </a:prstGeom>
          <a:solidFill>
            <a:srgbClr val="028090"/>
          </a:solidFill>
          <a:ln w="12700">
            <a:solidFill>
              <a:srgbClr val="028090"/>
            </a:solidFill>
            <a:prstDash val="solid"/>
          </a:ln>
          <a:effectLst>
            <a:outerShdw blurRad="76200" dist="25400" dir="8100000" algn="bl" rotWithShape="0">
              <a:srgbClr val="000000">
                <a:alpha val="10000"/>
              </a:srgbClr>
            </a:outerShdw>
          </a:effectLst>
        </p:spPr>
        <p:txBody>
          <a:bodyPr/>
          <a:lstStyle/>
          <a:p>
            <a:endParaRPr lang="en-KE"/>
          </a:p>
        </p:txBody>
      </p:sp>
      <p:sp>
        <p:nvSpPr>
          <p:cNvPr id="11" name="Text 9"/>
          <p:cNvSpPr/>
          <p:nvPr/>
        </p:nvSpPr>
        <p:spPr>
          <a:xfrm>
            <a:off x="173736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Ingestion</a:t>
            </a:r>
            <a:endParaRPr lang="en-US" sz="1100" dirty="0"/>
          </a:p>
        </p:txBody>
      </p:sp>
      <p:sp>
        <p:nvSpPr>
          <p:cNvPr id="12" name="Text 10"/>
          <p:cNvSpPr/>
          <p:nvPr/>
        </p:nvSpPr>
        <p:spPr>
          <a:xfrm>
            <a:off x="178308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Kafka · Spark Streaming · ADF · Glue</a:t>
            </a:r>
            <a:endParaRPr lang="en-US" sz="900" dirty="0"/>
          </a:p>
        </p:txBody>
      </p:sp>
      <p:sp>
        <p:nvSpPr>
          <p:cNvPr id="13" name="Text 11"/>
          <p:cNvSpPr/>
          <p:nvPr/>
        </p:nvSpPr>
        <p:spPr>
          <a:xfrm>
            <a:off x="299923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4" name="Shape 12"/>
          <p:cNvSpPr/>
          <p:nvPr/>
        </p:nvSpPr>
        <p:spPr>
          <a:xfrm>
            <a:off x="3154680" y="1463040"/>
            <a:ext cx="1280160" cy="347472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15" name="Text 13"/>
          <p:cNvSpPr/>
          <p:nvPr/>
        </p:nvSpPr>
        <p:spPr>
          <a:xfrm>
            <a:off x="315468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Storage (Lake)</a:t>
            </a:r>
            <a:endParaRPr lang="en-US" sz="1100" dirty="0"/>
          </a:p>
        </p:txBody>
      </p:sp>
      <p:sp>
        <p:nvSpPr>
          <p:cNvPr id="16" name="Text 14"/>
          <p:cNvSpPr/>
          <p:nvPr/>
        </p:nvSpPr>
        <p:spPr>
          <a:xfrm>
            <a:off x="320040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S3 / ADLS / GCS  +  Delta / Iceberg / Hudi</a:t>
            </a:r>
            <a:endParaRPr lang="en-US" sz="900" dirty="0"/>
          </a:p>
        </p:txBody>
      </p:sp>
      <p:sp>
        <p:nvSpPr>
          <p:cNvPr id="17" name="Text 15"/>
          <p:cNvSpPr/>
          <p:nvPr/>
        </p:nvSpPr>
        <p:spPr>
          <a:xfrm>
            <a:off x="441655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18" name="Shape 16"/>
          <p:cNvSpPr/>
          <p:nvPr/>
        </p:nvSpPr>
        <p:spPr>
          <a:xfrm>
            <a:off x="4572000" y="1463040"/>
            <a:ext cx="1280160" cy="3474720"/>
          </a:xfrm>
          <a:prstGeom prst="rect">
            <a:avLst/>
          </a:prstGeom>
          <a:solidFill>
            <a:srgbClr val="00A896"/>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9" name="Text 17"/>
          <p:cNvSpPr/>
          <p:nvPr/>
        </p:nvSpPr>
        <p:spPr>
          <a:xfrm>
            <a:off x="457200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Processing</a:t>
            </a:r>
            <a:endParaRPr lang="en-US" sz="1100" dirty="0"/>
          </a:p>
        </p:txBody>
      </p:sp>
      <p:sp>
        <p:nvSpPr>
          <p:cNvPr id="20" name="Text 18"/>
          <p:cNvSpPr/>
          <p:nvPr/>
        </p:nvSpPr>
        <p:spPr>
          <a:xfrm>
            <a:off x="461772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Apache Spark · Databricks · Flink</a:t>
            </a:r>
            <a:endParaRPr lang="en-US" sz="900" dirty="0"/>
          </a:p>
        </p:txBody>
      </p:sp>
      <p:sp>
        <p:nvSpPr>
          <p:cNvPr id="21" name="Text 19"/>
          <p:cNvSpPr/>
          <p:nvPr/>
        </p:nvSpPr>
        <p:spPr>
          <a:xfrm>
            <a:off x="583387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22" name="Shape 20"/>
          <p:cNvSpPr/>
          <p:nvPr/>
        </p:nvSpPr>
        <p:spPr>
          <a:xfrm>
            <a:off x="5989320" y="1463040"/>
            <a:ext cx="1280160" cy="3474720"/>
          </a:xfrm>
          <a:prstGeom prst="rect">
            <a:avLst/>
          </a:prstGeom>
          <a:solidFill>
            <a:srgbClr val="02C39A"/>
          </a:solidFill>
          <a:ln w="12700">
            <a:solidFill>
              <a:srgbClr val="02C39A"/>
            </a:solidFill>
            <a:prstDash val="solid"/>
          </a:ln>
          <a:effectLst>
            <a:outerShdw blurRad="76200" dist="25400" dir="8100000" algn="bl" rotWithShape="0">
              <a:srgbClr val="000000">
                <a:alpha val="10000"/>
              </a:srgbClr>
            </a:outerShdw>
          </a:effectLst>
        </p:spPr>
        <p:txBody>
          <a:bodyPr/>
          <a:lstStyle/>
          <a:p>
            <a:endParaRPr lang="en-KE"/>
          </a:p>
        </p:txBody>
      </p:sp>
      <p:sp>
        <p:nvSpPr>
          <p:cNvPr id="23" name="Text 21"/>
          <p:cNvSpPr/>
          <p:nvPr/>
        </p:nvSpPr>
        <p:spPr>
          <a:xfrm>
            <a:off x="5989320" y="1536192"/>
            <a:ext cx="1280160" cy="1097280"/>
          </a:xfrm>
          <a:prstGeom prst="rect">
            <a:avLst/>
          </a:prstGeom>
          <a:noFill/>
          <a:ln/>
        </p:spPr>
        <p:txBody>
          <a:bodyPr wrap="square" rtlCol="0" anchor="ctr"/>
          <a:lstStyle/>
          <a:p>
            <a:pPr marL="0" indent="0" algn="ctr">
              <a:buNone/>
            </a:pPr>
            <a:r>
              <a:rPr lang="en-US" sz="1100" b="1" dirty="0">
                <a:solidFill>
                  <a:srgbClr val="1A1A2E"/>
                </a:solidFill>
                <a:latin typeface="Georgia" pitchFamily="34" charset="0"/>
                <a:ea typeface="Georgia" pitchFamily="34" charset="-122"/>
                <a:cs typeface="Georgia" pitchFamily="34" charset="-120"/>
              </a:rPr>
              <a:t>Governance</a:t>
            </a:r>
            <a:endParaRPr lang="en-US" sz="1100" dirty="0"/>
          </a:p>
        </p:txBody>
      </p:sp>
      <p:sp>
        <p:nvSpPr>
          <p:cNvPr id="24" name="Text 22"/>
          <p:cNvSpPr/>
          <p:nvPr/>
        </p:nvSpPr>
        <p:spPr>
          <a:xfrm>
            <a:off x="6035040" y="2697480"/>
            <a:ext cx="1188720" cy="2103120"/>
          </a:xfrm>
          <a:prstGeom prst="rect">
            <a:avLst/>
          </a:prstGeom>
          <a:noFill/>
          <a:ln/>
        </p:spPr>
        <p:txBody>
          <a:bodyPr wrap="square" rtlCol="0" anchor="ctr"/>
          <a:lstStyle/>
          <a:p>
            <a:pPr marL="0" indent="0" algn="ctr">
              <a:buNone/>
            </a:pPr>
            <a:r>
              <a:rPr lang="en-US" sz="900" dirty="0">
                <a:solidFill>
                  <a:srgbClr val="1A3A2A"/>
                </a:solidFill>
                <a:latin typeface="Calibri" pitchFamily="34" charset="0"/>
                <a:ea typeface="Calibri" pitchFamily="34" charset="-122"/>
                <a:cs typeface="Calibri" pitchFamily="34" charset="-120"/>
              </a:rPr>
              <a:t>Unity Catalog · Purview · Glue Data Catalog</a:t>
            </a:r>
            <a:endParaRPr lang="en-US" sz="900" dirty="0"/>
          </a:p>
        </p:txBody>
      </p:sp>
      <p:sp>
        <p:nvSpPr>
          <p:cNvPr id="25" name="Text 23"/>
          <p:cNvSpPr/>
          <p:nvPr/>
        </p:nvSpPr>
        <p:spPr>
          <a:xfrm>
            <a:off x="7251192" y="2560320"/>
            <a:ext cx="228600" cy="457200"/>
          </a:xfrm>
          <a:prstGeom prst="rect">
            <a:avLst/>
          </a:prstGeom>
          <a:noFill/>
          <a:ln/>
        </p:spPr>
        <p:txBody>
          <a:bodyPr wrap="square" rtlCol="0" anchor="ctr"/>
          <a:lstStyle/>
          <a:p>
            <a:pPr marL="0" indent="0" algn="ctr">
              <a:buNone/>
            </a:pPr>
            <a:r>
              <a:rPr lang="en-US" sz="1800" dirty="0">
                <a:solidFill>
                  <a:srgbClr val="4A5568"/>
                </a:solidFill>
              </a:rPr>
              <a:t>→</a:t>
            </a:r>
            <a:endParaRPr lang="en-US" sz="1800" dirty="0"/>
          </a:p>
        </p:txBody>
      </p:sp>
      <p:sp>
        <p:nvSpPr>
          <p:cNvPr id="26" name="Shape 24"/>
          <p:cNvSpPr/>
          <p:nvPr/>
        </p:nvSpPr>
        <p:spPr>
          <a:xfrm>
            <a:off x="7406640" y="1463040"/>
            <a:ext cx="1280160" cy="3474720"/>
          </a:xfrm>
          <a:prstGeom prst="rect">
            <a:avLst/>
          </a:prstGeom>
          <a:solidFill>
            <a:srgbClr val="40916C"/>
          </a:solidFill>
          <a:ln w="12700">
            <a:solidFill>
              <a:srgbClr val="40916C"/>
            </a:solidFill>
            <a:prstDash val="solid"/>
          </a:ln>
          <a:effectLst>
            <a:outerShdw blurRad="76200" dist="25400" dir="8100000" algn="bl" rotWithShape="0">
              <a:srgbClr val="000000">
                <a:alpha val="10000"/>
              </a:srgbClr>
            </a:outerShdw>
          </a:effectLst>
        </p:spPr>
        <p:txBody>
          <a:bodyPr/>
          <a:lstStyle/>
          <a:p>
            <a:endParaRPr lang="en-KE"/>
          </a:p>
        </p:txBody>
      </p:sp>
      <p:sp>
        <p:nvSpPr>
          <p:cNvPr id="27" name="Text 25"/>
          <p:cNvSpPr/>
          <p:nvPr/>
        </p:nvSpPr>
        <p:spPr>
          <a:xfrm>
            <a:off x="7406640" y="1536192"/>
            <a:ext cx="1280160" cy="1097280"/>
          </a:xfrm>
          <a:prstGeom prst="rect">
            <a:avLst/>
          </a:prstGeom>
          <a:noFill/>
          <a:ln/>
        </p:spPr>
        <p:txBody>
          <a:bodyPr wrap="square" rtlCol="0" anchor="ctr"/>
          <a:lstStyle/>
          <a:p>
            <a:pPr marL="0" indent="0" algn="ctr">
              <a:buNone/>
            </a:pPr>
            <a:r>
              <a:rPr lang="en-US" sz="1100" b="1" dirty="0">
                <a:solidFill>
                  <a:srgbClr val="FFFFFF"/>
                </a:solidFill>
                <a:latin typeface="Georgia" pitchFamily="34" charset="0"/>
                <a:ea typeface="Georgia" pitchFamily="34" charset="-122"/>
                <a:cs typeface="Georgia" pitchFamily="34" charset="-120"/>
              </a:rPr>
              <a:t>Consumption</a:t>
            </a:r>
            <a:endParaRPr lang="en-US" sz="1100" dirty="0"/>
          </a:p>
        </p:txBody>
      </p:sp>
      <p:sp>
        <p:nvSpPr>
          <p:cNvPr id="28" name="Text 26"/>
          <p:cNvSpPr/>
          <p:nvPr/>
        </p:nvSpPr>
        <p:spPr>
          <a:xfrm>
            <a:off x="7452360" y="2697480"/>
            <a:ext cx="1188720" cy="2103120"/>
          </a:xfrm>
          <a:prstGeom prst="rect">
            <a:avLst/>
          </a:prstGeom>
          <a:noFill/>
          <a:ln/>
        </p:spPr>
        <p:txBody>
          <a:bodyPr wrap="square" rtlCol="0" anchor="ctr"/>
          <a:lstStyle/>
          <a:p>
            <a:pPr marL="0" indent="0" algn="ctr">
              <a:buNone/>
            </a:pPr>
            <a:r>
              <a:rPr lang="en-US" sz="900" dirty="0">
                <a:solidFill>
                  <a:srgbClr val="CCFFEE"/>
                </a:solidFill>
                <a:latin typeface="Calibri" pitchFamily="34" charset="0"/>
                <a:ea typeface="Calibri" pitchFamily="34" charset="-122"/>
                <a:cs typeface="Calibri" pitchFamily="34" charset="-120"/>
              </a:rPr>
              <a:t>Power BI · Tableau · ML Models · SQL Queries</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G</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Example Use Cases for Data Lakes</a:t>
            </a:r>
            <a:endParaRPr 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Lake Use Cases Across Industries</a:t>
            </a:r>
            <a:endParaRPr lang="en-US" sz="2400" dirty="0"/>
          </a:p>
        </p:txBody>
      </p:sp>
      <p:sp>
        <p:nvSpPr>
          <p:cNvPr id="5" name="Shape 3"/>
          <p:cNvSpPr/>
          <p:nvPr/>
        </p:nvSpPr>
        <p:spPr>
          <a:xfrm>
            <a:off x="384048" y="941832"/>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2743200" cy="502920"/>
          </a:xfrm>
          <a:prstGeom prst="rect">
            <a:avLst/>
          </a:prstGeom>
          <a:solidFill>
            <a:srgbClr val="0A2342"/>
          </a:solidFill>
          <a:ln w="12700">
            <a:solidFill>
              <a:srgbClr val="0A2342"/>
            </a:solidFill>
            <a:prstDash val="solid"/>
          </a:ln>
        </p:spPr>
        <p:txBody>
          <a:bodyPr/>
          <a:lstStyle/>
          <a:p>
            <a:endParaRPr lang="en-KE" dirty="0"/>
          </a:p>
        </p:txBody>
      </p:sp>
      <p:sp>
        <p:nvSpPr>
          <p:cNvPr id="7" name="Text 5"/>
          <p:cNvSpPr/>
          <p:nvPr/>
        </p:nvSpPr>
        <p:spPr>
          <a:xfrm>
            <a:off x="411480" y="960120"/>
            <a:ext cx="2578608" cy="502920"/>
          </a:xfrm>
          <a:prstGeom prst="rect">
            <a:avLst/>
          </a:prstGeom>
          <a:noFill/>
          <a:ln/>
        </p:spPr>
        <p:txBody>
          <a:bodyPr wrap="square" lIns="0" tIns="0" rIns="0" bIns="0" rtlCol="0" anchor="ctr"/>
          <a:lstStyle/>
          <a:p>
            <a:r>
              <a:rPr lang="en-US" sz="1400" b="1" dirty="0">
                <a:solidFill>
                  <a:schemeClr val="bg1"/>
                </a:solidFill>
                <a:ea typeface="Georgia" pitchFamily="34" charset="-122"/>
                <a:cs typeface="Georgia" pitchFamily="34" charset="-120"/>
              </a:rPr>
              <a:t>🏥  </a:t>
            </a:r>
            <a:r>
              <a:rPr lang="en-US" sz="1400" b="1" dirty="0">
                <a:solidFill>
                  <a:schemeClr val="bg1"/>
                </a:solidFill>
              </a:rPr>
              <a:t>Healthcare (KEMRI &amp; MoH)</a:t>
            </a:r>
            <a:endParaRPr lang="en-US" sz="1400" dirty="0">
              <a:solidFill>
                <a:schemeClr val="bg1"/>
              </a:solidFill>
            </a:endParaRPr>
          </a:p>
        </p:txBody>
      </p:sp>
      <p:sp>
        <p:nvSpPr>
          <p:cNvPr id="8" name="Text 6"/>
          <p:cNvSpPr/>
          <p:nvPr/>
        </p:nvSpPr>
        <p:spPr>
          <a:xfrm>
            <a:off x="411480" y="1508760"/>
            <a:ext cx="2578608" cy="1353312"/>
          </a:xfrm>
          <a:prstGeom prst="rect">
            <a:avLst/>
          </a:prstGeom>
          <a:noFill/>
          <a:ln/>
        </p:spPr>
        <p:txBody>
          <a:bodyPr wrap="square" rtlCol="0" anchor="ctr"/>
          <a:lstStyle/>
          <a:p>
            <a:r>
              <a:rPr lang="en-US" sz="1200" dirty="0"/>
              <a:t>Centralizing raw county hospital records (EHR) and unstructured clinical notes.</a:t>
            </a:r>
          </a:p>
          <a:p>
            <a:r>
              <a:rPr lang="en-US" sz="1200" b="1" dirty="0"/>
              <a:t>Kenyan Use Case:</a:t>
            </a:r>
            <a:r>
              <a:rPr lang="en-US" sz="1200" dirty="0"/>
              <a:t> Predicting Malaria outbreaks by correlating rainfall data with pharmacy sales in the Lake.</a:t>
            </a:r>
          </a:p>
        </p:txBody>
      </p:sp>
      <p:sp>
        <p:nvSpPr>
          <p:cNvPr id="9" name="Shape 7"/>
          <p:cNvSpPr/>
          <p:nvPr/>
        </p:nvSpPr>
        <p:spPr>
          <a:xfrm>
            <a:off x="320040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0" name="Shape 8"/>
          <p:cNvSpPr/>
          <p:nvPr/>
        </p:nvSpPr>
        <p:spPr>
          <a:xfrm>
            <a:off x="3200400" y="960120"/>
            <a:ext cx="2743200" cy="502920"/>
          </a:xfrm>
          <a:prstGeom prst="rect">
            <a:avLst/>
          </a:prstGeom>
          <a:solidFill>
            <a:srgbClr val="0A2342"/>
          </a:solidFill>
          <a:ln w="12700">
            <a:solidFill>
              <a:srgbClr val="0A2342"/>
            </a:solidFill>
            <a:prstDash val="solid"/>
          </a:ln>
        </p:spPr>
        <p:txBody>
          <a:bodyPr/>
          <a:lstStyle/>
          <a:p>
            <a:endParaRPr lang="en-KE" dirty="0"/>
          </a:p>
        </p:txBody>
      </p:sp>
      <p:sp>
        <p:nvSpPr>
          <p:cNvPr id="11" name="Text 9"/>
          <p:cNvSpPr/>
          <p:nvPr/>
        </p:nvSpPr>
        <p:spPr>
          <a:xfrm>
            <a:off x="3291840" y="960120"/>
            <a:ext cx="2578608" cy="502920"/>
          </a:xfrm>
          <a:prstGeom prst="rect">
            <a:avLst/>
          </a:prstGeom>
          <a:noFill/>
          <a:ln/>
        </p:spPr>
        <p:txBody>
          <a:bodyPr wrap="square" lIns="0" tIns="0" rIns="0" bIns="0" rtlCol="0" anchor="ctr"/>
          <a:lstStyle/>
          <a:p>
            <a:r>
              <a:rPr lang="en-US" sz="1400" b="1" dirty="0">
                <a:solidFill>
                  <a:srgbClr val="FFFFFF"/>
                </a:solidFill>
                <a:latin typeface="Georgia" pitchFamily="34" charset="0"/>
                <a:ea typeface="Georgia" pitchFamily="34" charset="-122"/>
                <a:cs typeface="Georgia" pitchFamily="34" charset="-120"/>
              </a:rPr>
              <a:t>🏦</a:t>
            </a:r>
            <a:r>
              <a:rPr lang="en-US" sz="1400" b="1" dirty="0">
                <a:solidFill>
                  <a:schemeClr val="bg1"/>
                </a:solidFill>
                <a:ea typeface="Georgia" pitchFamily="34" charset="-122"/>
                <a:cs typeface="Georgia" pitchFamily="34" charset="-120"/>
              </a:rPr>
              <a:t> </a:t>
            </a:r>
            <a:r>
              <a:rPr lang="en-US" sz="1400" b="1" dirty="0">
                <a:solidFill>
                  <a:schemeClr val="bg1"/>
                </a:solidFill>
              </a:rPr>
              <a:t>Financial Services (Fintech)</a:t>
            </a:r>
            <a:endParaRPr lang="en-US" sz="1400" dirty="0">
              <a:solidFill>
                <a:schemeClr val="bg1"/>
              </a:solidFill>
            </a:endParaRPr>
          </a:p>
        </p:txBody>
      </p:sp>
      <p:sp>
        <p:nvSpPr>
          <p:cNvPr id="12" name="Text 10"/>
          <p:cNvSpPr/>
          <p:nvPr/>
        </p:nvSpPr>
        <p:spPr>
          <a:xfrm>
            <a:off x="3291840" y="1508760"/>
            <a:ext cx="2578608" cy="1353312"/>
          </a:xfrm>
          <a:prstGeom prst="rect">
            <a:avLst/>
          </a:prstGeom>
          <a:noFill/>
          <a:ln/>
        </p:spPr>
        <p:txBody>
          <a:bodyPr wrap="square" rtlCol="0" anchor="ctr"/>
          <a:lstStyle/>
          <a:p>
            <a:r>
              <a:rPr lang="en-US" sz="1200" dirty="0"/>
              <a:t>Ingesting high-velocity M-Pesa transaction logs and mobile app metadata.</a:t>
            </a:r>
          </a:p>
          <a:p>
            <a:r>
              <a:rPr lang="en-US" sz="1200" b="1" dirty="0"/>
              <a:t>Kenyan Use Case:</a:t>
            </a:r>
            <a:r>
              <a:rPr lang="en-US" sz="1200" dirty="0"/>
              <a:t> </a:t>
            </a:r>
            <a:r>
              <a:rPr lang="en-US" sz="1200" b="1" dirty="0"/>
              <a:t>Tala/Branch</a:t>
            </a:r>
            <a:r>
              <a:rPr lang="en-US" sz="1200" dirty="0"/>
              <a:t> using raw mobile usage data to generate credit scores for unbanked citizens.</a:t>
            </a:r>
          </a:p>
        </p:txBody>
      </p:sp>
      <p:sp>
        <p:nvSpPr>
          <p:cNvPr id="13" name="Shape 11"/>
          <p:cNvSpPr/>
          <p:nvPr/>
        </p:nvSpPr>
        <p:spPr>
          <a:xfrm>
            <a:off x="6080760" y="96012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6080760" y="960120"/>
            <a:ext cx="2743200" cy="502920"/>
          </a:xfrm>
          <a:prstGeom prst="rect">
            <a:avLst/>
          </a:prstGeom>
          <a:solidFill>
            <a:srgbClr val="0A2342"/>
          </a:solidFill>
          <a:ln w="12700">
            <a:solidFill>
              <a:srgbClr val="0A2342"/>
            </a:solidFill>
            <a:prstDash val="solid"/>
          </a:ln>
        </p:spPr>
        <p:txBody>
          <a:bodyPr/>
          <a:lstStyle/>
          <a:p>
            <a:endParaRPr lang="en-KE"/>
          </a:p>
        </p:txBody>
      </p:sp>
      <p:sp>
        <p:nvSpPr>
          <p:cNvPr id="15" name="Text 13"/>
          <p:cNvSpPr/>
          <p:nvPr/>
        </p:nvSpPr>
        <p:spPr>
          <a:xfrm>
            <a:off x="6172200" y="96012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Retail &amp; E-commerce</a:t>
            </a:r>
            <a:endParaRPr lang="en-US" sz="1400" dirty="0"/>
          </a:p>
        </p:txBody>
      </p:sp>
      <p:sp>
        <p:nvSpPr>
          <p:cNvPr id="16" name="Text 14"/>
          <p:cNvSpPr/>
          <p:nvPr/>
        </p:nvSpPr>
        <p:spPr>
          <a:xfrm>
            <a:off x="6172200" y="1508760"/>
            <a:ext cx="2578608" cy="1353312"/>
          </a:xfrm>
          <a:prstGeom prst="rect">
            <a:avLst/>
          </a:prstGeom>
          <a:noFill/>
          <a:ln/>
        </p:spPr>
        <p:txBody>
          <a:bodyPr wrap="square" rtlCol="0" anchor="ctr"/>
          <a:lstStyle/>
          <a:p>
            <a:r>
              <a:rPr lang="en-US" sz="1200" dirty="0"/>
              <a:t>Storing clickstreams, logistics logs, and unstructured customer reviews.</a:t>
            </a:r>
          </a:p>
          <a:p>
            <a:r>
              <a:rPr lang="en-US" sz="1200" b="1" dirty="0"/>
              <a:t>Kenyan Use Case:</a:t>
            </a:r>
            <a:r>
              <a:rPr lang="en-US" sz="1200" dirty="0"/>
              <a:t> </a:t>
            </a:r>
            <a:r>
              <a:rPr lang="en-US" sz="1200" b="1" dirty="0"/>
              <a:t>Jumia/Copia</a:t>
            </a:r>
            <a:r>
              <a:rPr lang="en-US" sz="1200" dirty="0"/>
              <a:t> optimizing "last-mile" delivery routes in rural areas using GPS log analysis.</a:t>
            </a:r>
          </a:p>
          <a:p>
            <a:pPr marL="0" indent="0">
              <a:buNone/>
            </a:pPr>
            <a:endParaRPr lang="en-US" sz="1050" dirty="0"/>
          </a:p>
        </p:txBody>
      </p:sp>
      <p:sp>
        <p:nvSpPr>
          <p:cNvPr id="17" name="Shape 15"/>
          <p:cNvSpPr/>
          <p:nvPr/>
        </p:nvSpPr>
        <p:spPr>
          <a:xfrm>
            <a:off x="32004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320040" y="3063240"/>
            <a:ext cx="2743200" cy="502920"/>
          </a:xfrm>
          <a:prstGeom prst="rect">
            <a:avLst/>
          </a:prstGeom>
          <a:solidFill>
            <a:srgbClr val="028090"/>
          </a:solidFill>
          <a:ln w="12700">
            <a:solidFill>
              <a:srgbClr val="028090"/>
            </a:solidFill>
            <a:prstDash val="solid"/>
          </a:ln>
        </p:spPr>
        <p:txBody>
          <a:bodyPr/>
          <a:lstStyle/>
          <a:p>
            <a:endParaRPr lang="en-KE"/>
          </a:p>
        </p:txBody>
      </p:sp>
      <p:sp>
        <p:nvSpPr>
          <p:cNvPr id="19" name="Text 17"/>
          <p:cNvSpPr/>
          <p:nvPr/>
        </p:nvSpPr>
        <p:spPr>
          <a:xfrm>
            <a:off x="41148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Telecommunications</a:t>
            </a:r>
            <a:endParaRPr lang="en-US" sz="1400" dirty="0"/>
          </a:p>
        </p:txBody>
      </p:sp>
      <p:sp>
        <p:nvSpPr>
          <p:cNvPr id="20" name="Text 18"/>
          <p:cNvSpPr/>
          <p:nvPr/>
        </p:nvSpPr>
        <p:spPr>
          <a:xfrm>
            <a:off x="411480" y="3611880"/>
            <a:ext cx="2578608" cy="1353312"/>
          </a:xfrm>
          <a:prstGeom prst="rect">
            <a:avLst/>
          </a:prstGeom>
          <a:noFill/>
          <a:ln/>
        </p:spPr>
        <p:txBody>
          <a:bodyPr wrap="square" rtlCol="0" anchor="ctr"/>
          <a:lstStyle/>
          <a:p>
            <a:r>
              <a:rPr lang="en-US" sz="1200" dirty="0"/>
              <a:t>Analyzing Call Detail Records (CDRs) and tower logs.</a:t>
            </a:r>
          </a:p>
          <a:p>
            <a:r>
              <a:rPr lang="en-US" sz="1200" b="1" dirty="0"/>
              <a:t>Kenyan Use Case:</a:t>
            </a:r>
            <a:r>
              <a:rPr lang="en-US" sz="1200" dirty="0"/>
              <a:t> </a:t>
            </a:r>
            <a:r>
              <a:rPr lang="en-US" sz="1200" b="1" dirty="0"/>
              <a:t>Safaricom</a:t>
            </a:r>
            <a:r>
              <a:rPr lang="en-US" sz="1200" dirty="0"/>
              <a:t> analyzing network traffic patterns to prevent tower congestion during peak hours.</a:t>
            </a:r>
          </a:p>
          <a:p>
            <a:pPr marL="0" indent="0">
              <a:buNone/>
            </a:pPr>
            <a:r>
              <a:rPr lang="en-US" sz="1200" dirty="0">
                <a:solidFill>
                  <a:srgbClr val="4A5568"/>
                </a:solidFill>
                <a:ea typeface="Calibri" pitchFamily="34" charset="-122"/>
                <a:cs typeface="Calibri" pitchFamily="34" charset="-120"/>
              </a:rPr>
              <a:t>.</a:t>
            </a:r>
            <a:endParaRPr lang="en-US" sz="1200" dirty="0"/>
          </a:p>
        </p:txBody>
      </p:sp>
      <p:sp>
        <p:nvSpPr>
          <p:cNvPr id="21" name="Shape 19"/>
          <p:cNvSpPr/>
          <p:nvPr/>
        </p:nvSpPr>
        <p:spPr>
          <a:xfrm>
            <a:off x="320040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0" y="3063240"/>
            <a:ext cx="2743200" cy="502920"/>
          </a:xfrm>
          <a:prstGeom prst="rect">
            <a:avLst/>
          </a:prstGeom>
          <a:solidFill>
            <a:srgbClr val="028090"/>
          </a:solidFill>
          <a:ln w="12700">
            <a:solidFill>
              <a:srgbClr val="028090"/>
            </a:solidFill>
            <a:prstDash val="solid"/>
          </a:ln>
        </p:spPr>
        <p:txBody>
          <a:bodyPr/>
          <a:lstStyle/>
          <a:p>
            <a:endParaRPr lang="en-KE" dirty="0"/>
          </a:p>
        </p:txBody>
      </p:sp>
      <p:sp>
        <p:nvSpPr>
          <p:cNvPr id="23" name="Text 21"/>
          <p:cNvSpPr/>
          <p:nvPr/>
        </p:nvSpPr>
        <p:spPr>
          <a:xfrm>
            <a:off x="329184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Agriculture (Agri- Tech)</a:t>
            </a:r>
            <a:endParaRPr lang="en-US" sz="1400" dirty="0"/>
          </a:p>
        </p:txBody>
      </p:sp>
      <p:sp>
        <p:nvSpPr>
          <p:cNvPr id="24" name="Text 22"/>
          <p:cNvSpPr/>
          <p:nvPr/>
        </p:nvSpPr>
        <p:spPr>
          <a:xfrm>
            <a:off x="3291840" y="3611880"/>
            <a:ext cx="2578608" cy="1353312"/>
          </a:xfrm>
          <a:prstGeom prst="rect">
            <a:avLst/>
          </a:prstGeom>
          <a:noFill/>
          <a:ln/>
        </p:spPr>
        <p:txBody>
          <a:bodyPr wrap="square" rtlCol="0" anchor="ctr"/>
          <a:lstStyle/>
          <a:p>
            <a:r>
              <a:rPr lang="en-US" sz="1200" dirty="0"/>
              <a:t>Satellite imagery (Raster data) and IoT sensor readings.</a:t>
            </a:r>
          </a:p>
          <a:p>
            <a:r>
              <a:rPr lang="en-US" sz="1200" b="1" dirty="0"/>
              <a:t>Kenyan Use Case:</a:t>
            </a:r>
            <a:r>
              <a:rPr lang="en-US" sz="1200" dirty="0"/>
              <a:t> </a:t>
            </a:r>
            <a:r>
              <a:rPr lang="en-US" sz="1200" b="1" dirty="0" err="1"/>
              <a:t>Twiga</a:t>
            </a:r>
            <a:r>
              <a:rPr lang="en-US" sz="1200" b="1" dirty="0"/>
              <a:t> Foods</a:t>
            </a:r>
            <a:r>
              <a:rPr lang="en-US" sz="1200" dirty="0"/>
              <a:t> predicting banana supply shortages by analyzing weather patterns and harvest logs.</a:t>
            </a:r>
          </a:p>
          <a:p>
            <a:pPr marL="0" indent="0">
              <a:buNone/>
            </a:pPr>
            <a:endParaRPr lang="en-US" sz="1050" dirty="0"/>
          </a:p>
        </p:txBody>
      </p:sp>
      <p:sp>
        <p:nvSpPr>
          <p:cNvPr id="25" name="Shape 23"/>
          <p:cNvSpPr/>
          <p:nvPr/>
        </p:nvSpPr>
        <p:spPr>
          <a:xfrm>
            <a:off x="6080760" y="3063240"/>
            <a:ext cx="2743200" cy="19659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6" name="Shape 24"/>
          <p:cNvSpPr/>
          <p:nvPr/>
        </p:nvSpPr>
        <p:spPr>
          <a:xfrm>
            <a:off x="6080760" y="3063240"/>
            <a:ext cx="2743200" cy="502920"/>
          </a:xfrm>
          <a:prstGeom prst="rect">
            <a:avLst/>
          </a:prstGeom>
          <a:solidFill>
            <a:srgbClr val="028090"/>
          </a:solidFill>
          <a:ln w="12700">
            <a:solidFill>
              <a:srgbClr val="028090"/>
            </a:solidFill>
            <a:prstDash val="solid"/>
          </a:ln>
        </p:spPr>
        <p:txBody>
          <a:bodyPr/>
          <a:lstStyle/>
          <a:p>
            <a:endParaRPr lang="en-KE" dirty="0"/>
          </a:p>
        </p:txBody>
      </p:sp>
      <p:sp>
        <p:nvSpPr>
          <p:cNvPr id="27" name="Text 25"/>
          <p:cNvSpPr/>
          <p:nvPr/>
        </p:nvSpPr>
        <p:spPr>
          <a:xfrm>
            <a:off x="6172200" y="3063240"/>
            <a:ext cx="2578608" cy="50292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Government (</a:t>
            </a:r>
            <a:r>
              <a:rPr lang="en-US" sz="1400" b="1" dirty="0" err="1">
                <a:solidFill>
                  <a:srgbClr val="FFFFFF"/>
                </a:solidFill>
                <a:latin typeface="Georgia" pitchFamily="34" charset="0"/>
                <a:ea typeface="Georgia" pitchFamily="34" charset="-122"/>
                <a:cs typeface="Georgia" pitchFamily="34" charset="-120"/>
              </a:rPr>
              <a:t>GovTech</a:t>
            </a:r>
            <a:r>
              <a:rPr lang="en-US" sz="1400" b="1" dirty="0">
                <a:solidFill>
                  <a:srgbClr val="FFFFFF"/>
                </a:solidFill>
                <a:latin typeface="Georgia" pitchFamily="34" charset="0"/>
                <a:ea typeface="Georgia" pitchFamily="34" charset="-122"/>
                <a:cs typeface="Georgia" pitchFamily="34" charset="-120"/>
              </a:rPr>
              <a:t>)</a:t>
            </a:r>
            <a:endParaRPr lang="en-US" sz="1400" dirty="0"/>
          </a:p>
        </p:txBody>
      </p:sp>
      <p:sp>
        <p:nvSpPr>
          <p:cNvPr id="28" name="Text 26"/>
          <p:cNvSpPr/>
          <p:nvPr/>
        </p:nvSpPr>
        <p:spPr>
          <a:xfrm>
            <a:off x="6172200" y="3611880"/>
            <a:ext cx="2578608" cy="1353312"/>
          </a:xfrm>
          <a:prstGeom prst="rect">
            <a:avLst/>
          </a:prstGeom>
          <a:noFill/>
          <a:ln/>
        </p:spPr>
        <p:txBody>
          <a:bodyPr wrap="square" rtlCol="0" anchor="ctr"/>
          <a:lstStyle/>
          <a:p>
            <a:r>
              <a:rPr lang="en-US" sz="1200" dirty="0"/>
              <a:t>Consolidating diverse citizen registries and service applications.</a:t>
            </a:r>
          </a:p>
          <a:p>
            <a:r>
              <a:rPr lang="en-US" sz="1200" b="1" dirty="0"/>
              <a:t>Kenyan Use Case:</a:t>
            </a:r>
            <a:r>
              <a:rPr lang="en-US" sz="1200" dirty="0"/>
              <a:t> </a:t>
            </a:r>
            <a:r>
              <a:rPr lang="en-US" sz="1200" b="1" dirty="0"/>
              <a:t>e-Citizen</a:t>
            </a:r>
            <a:r>
              <a:rPr lang="en-US" sz="1200" dirty="0"/>
              <a:t> acting as a Single Source of Truth for immigration, business, and driving records</a:t>
            </a:r>
            <a:r>
              <a:rPr lang="en-US" dirty="0"/>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Real-World Case Studies: Data Lakes in Action</a:t>
            </a:r>
            <a:endParaRPr lang="en-US" sz="2400" dirty="0"/>
          </a:p>
        </p:txBody>
      </p:sp>
      <p:sp>
        <p:nvSpPr>
          <p:cNvPr id="6" name="Shape 4"/>
          <p:cNvSpPr/>
          <p:nvPr/>
        </p:nvSpPr>
        <p:spPr>
          <a:xfrm>
            <a:off x="320040" y="960120"/>
            <a:ext cx="2743200" cy="530352"/>
          </a:xfrm>
          <a:prstGeom prst="rect">
            <a:avLst/>
          </a:prstGeom>
          <a:solidFill>
            <a:srgbClr val="0A2342"/>
          </a:solidFill>
          <a:ln w="12700">
            <a:solidFill>
              <a:srgbClr val="0A2342"/>
            </a:solidFill>
            <a:prstDash val="solid"/>
          </a:ln>
        </p:spPr>
        <p:txBody>
          <a:bodyPr/>
          <a:lstStyle/>
          <a:p>
            <a:endParaRPr lang="en-KE" dirty="0"/>
          </a:p>
        </p:txBody>
      </p:sp>
      <p:sp>
        <p:nvSpPr>
          <p:cNvPr id="7" name="Text 5"/>
          <p:cNvSpPr/>
          <p:nvPr/>
        </p:nvSpPr>
        <p:spPr>
          <a:xfrm>
            <a:off x="411480" y="960120"/>
            <a:ext cx="2578608" cy="530352"/>
          </a:xfrm>
          <a:prstGeom prst="rect">
            <a:avLst/>
          </a:prstGeom>
          <a:noFill/>
          <a:ln/>
        </p:spPr>
        <p:txBody>
          <a:bodyPr wrap="square" lIns="0" tIns="0" rIns="0" bIns="0" rtlCol="0" anchor="ctr"/>
          <a:lstStyle/>
          <a:p>
            <a:r>
              <a:rPr lang="en-US" sz="1400" b="1" dirty="0">
                <a:solidFill>
                  <a:schemeClr val="bg1"/>
                </a:solidFill>
              </a:rPr>
              <a:t> Safaricom (Big Data &amp; Analytics)</a:t>
            </a:r>
            <a:endParaRPr lang="en-US" sz="1400" dirty="0">
              <a:solidFill>
                <a:schemeClr val="bg1"/>
              </a:solidFill>
            </a:endParaRPr>
          </a:p>
        </p:txBody>
      </p:sp>
      <p:sp>
        <p:nvSpPr>
          <p:cNvPr id="8" name="Text 6"/>
          <p:cNvSpPr/>
          <p:nvPr/>
        </p:nvSpPr>
        <p:spPr>
          <a:xfrm>
            <a:off x="403240" y="1969478"/>
            <a:ext cx="2578608" cy="2213902"/>
          </a:xfrm>
          <a:prstGeom prst="rect">
            <a:avLst/>
          </a:prstGeom>
          <a:noFill/>
          <a:ln/>
        </p:spPr>
        <p:txBody>
          <a:bodyPr wrap="square" lIns="0" tIns="0" rIns="0" bIns="0" rtlCol="0" anchor="ctr"/>
          <a:lstStyle/>
          <a:p>
            <a:r>
              <a:rPr lang="en-US" sz="1000" b="1" dirty="0">
                <a:solidFill>
                  <a:srgbClr val="0A2342"/>
                </a:solidFill>
                <a:latin typeface="Calibri" pitchFamily="34" charset="0"/>
                <a:ea typeface="Calibri" pitchFamily="34" charset="-122"/>
                <a:cs typeface="Calibri" pitchFamily="34" charset="-120"/>
              </a:rPr>
              <a:t>›  </a:t>
            </a:r>
            <a:r>
              <a:rPr lang="en-US" sz="1400" b="1" dirty="0"/>
              <a:t>The Lake:</a:t>
            </a:r>
            <a:r>
              <a:rPr lang="en-US" sz="1400" dirty="0"/>
              <a:t> Ingests petabytes of Call Data Records (CDRs) and M-Pesa logs daily.</a:t>
            </a:r>
          </a:p>
          <a:p>
            <a:r>
              <a:rPr lang="en-US" sz="1400" b="1" dirty="0"/>
              <a:t>Use Case:</a:t>
            </a:r>
            <a:r>
              <a:rPr lang="en-US" sz="1400" dirty="0"/>
              <a:t> Real-time Fraud Detection. The lake allows them to spot money laundering patterns across millions of transactions in milliseconds.</a:t>
            </a:r>
          </a:p>
          <a:p>
            <a:r>
              <a:rPr lang="en-US" sz="1400" b="1" dirty="0"/>
              <a:t>Tech:</a:t>
            </a:r>
            <a:r>
              <a:rPr lang="en-US" sz="1400" dirty="0"/>
              <a:t> Uses Hadoop/Spark clusters to process high-velocity streams.</a:t>
            </a:r>
          </a:p>
          <a:p>
            <a:pPr marL="0" indent="0">
              <a:buNone/>
            </a:pPr>
            <a:endParaRPr lang="en-US" sz="1100" dirty="0"/>
          </a:p>
        </p:txBody>
      </p:sp>
      <p:sp>
        <p:nvSpPr>
          <p:cNvPr id="9" name="Text 7"/>
          <p:cNvSpPr/>
          <p:nvPr/>
        </p:nvSpPr>
        <p:spPr>
          <a:xfrm>
            <a:off x="429768" y="2350008"/>
            <a:ext cx="2542032" cy="685800"/>
          </a:xfrm>
          <a:prstGeom prst="rect">
            <a:avLst/>
          </a:prstGeom>
          <a:noFill/>
          <a:ln/>
        </p:spPr>
        <p:txBody>
          <a:bodyPr wrap="square" lIns="0" tIns="0" rIns="0" bIns="0" rtlCol="0" anchor="ctr"/>
          <a:lstStyle/>
          <a:p>
            <a:pPr marL="0" indent="0">
              <a:buNone/>
            </a:pPr>
            <a:endParaRPr lang="en-US" sz="1100" dirty="0"/>
          </a:p>
        </p:txBody>
      </p:sp>
      <p:sp>
        <p:nvSpPr>
          <p:cNvPr id="10" name="Text 8"/>
          <p:cNvSpPr/>
          <p:nvPr/>
        </p:nvSpPr>
        <p:spPr>
          <a:xfrm>
            <a:off x="429768" y="3127248"/>
            <a:ext cx="2542032" cy="685800"/>
          </a:xfrm>
          <a:prstGeom prst="rect">
            <a:avLst/>
          </a:prstGeom>
          <a:noFill/>
          <a:ln/>
        </p:spPr>
        <p:txBody>
          <a:bodyPr wrap="square" lIns="0" tIns="0" rIns="0" bIns="0" rtlCol="0" anchor="ctr"/>
          <a:lstStyle/>
          <a:p>
            <a:pPr marL="0" indent="0">
              <a:buNone/>
            </a:pPr>
            <a:endParaRPr lang="en-US" sz="1100" dirty="0"/>
          </a:p>
        </p:txBody>
      </p:sp>
      <p:sp>
        <p:nvSpPr>
          <p:cNvPr id="11" name="Text 9"/>
          <p:cNvSpPr/>
          <p:nvPr/>
        </p:nvSpPr>
        <p:spPr>
          <a:xfrm>
            <a:off x="429768" y="3904488"/>
            <a:ext cx="2542032" cy="685800"/>
          </a:xfrm>
          <a:prstGeom prst="rect">
            <a:avLst/>
          </a:prstGeom>
          <a:noFill/>
          <a:ln/>
        </p:spPr>
        <p:txBody>
          <a:bodyPr wrap="square" lIns="0" tIns="0" rIns="0" bIns="0" rtlCol="0" anchor="ctr"/>
          <a:lstStyle/>
          <a:p>
            <a:pPr marL="0" indent="0">
              <a:buNone/>
            </a:pPr>
            <a:endParaRPr lang="en-US" sz="1100" dirty="0"/>
          </a:p>
        </p:txBody>
      </p:sp>
      <p:sp>
        <p:nvSpPr>
          <p:cNvPr id="12" name="Shape 10"/>
          <p:cNvSpPr/>
          <p:nvPr/>
        </p:nvSpPr>
        <p:spPr>
          <a:xfrm>
            <a:off x="3110768" y="1969478"/>
            <a:ext cx="2743200" cy="2213902"/>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r>
              <a:rPr lang="en-US" sz="1400" b="1" dirty="0"/>
              <a:t>The Lake:</a:t>
            </a:r>
            <a:r>
              <a:rPr lang="en-US" sz="1400" dirty="0"/>
              <a:t> Combines historical sales data with unstructured market price surveys and weather data.</a:t>
            </a:r>
          </a:p>
          <a:p>
            <a:r>
              <a:rPr lang="en-US" sz="1400" b="1" dirty="0"/>
              <a:t>Use Case:</a:t>
            </a:r>
            <a:r>
              <a:rPr lang="en-US" sz="1400" dirty="0"/>
              <a:t> Demand Prediction. The lake feeds AI models that tell them exactly how many </a:t>
            </a:r>
            <a:r>
              <a:rPr lang="en-US" sz="1400" dirty="0" err="1"/>
              <a:t>tonnes</a:t>
            </a:r>
            <a:r>
              <a:rPr lang="en-US" sz="1400" dirty="0"/>
              <a:t> of produce to buy from farmers to minimize rot/waste.</a:t>
            </a:r>
          </a:p>
          <a:p>
            <a:r>
              <a:rPr lang="en-US" sz="1400" b="1" dirty="0"/>
              <a:t>Tech:</a:t>
            </a:r>
            <a:r>
              <a:rPr lang="en-US" sz="1400" dirty="0"/>
              <a:t> Cloud-native Data Lake for scalability.</a:t>
            </a:r>
          </a:p>
        </p:txBody>
      </p:sp>
      <p:sp>
        <p:nvSpPr>
          <p:cNvPr id="13" name="Shape 11"/>
          <p:cNvSpPr/>
          <p:nvPr/>
        </p:nvSpPr>
        <p:spPr>
          <a:xfrm>
            <a:off x="3208640" y="950976"/>
            <a:ext cx="2743200" cy="530352"/>
          </a:xfrm>
          <a:prstGeom prst="rect">
            <a:avLst/>
          </a:prstGeom>
          <a:solidFill>
            <a:srgbClr val="028090"/>
          </a:solidFill>
          <a:ln w="12700">
            <a:solidFill>
              <a:srgbClr val="028090"/>
            </a:solidFill>
            <a:prstDash val="solid"/>
          </a:ln>
        </p:spPr>
        <p:txBody>
          <a:bodyPr/>
          <a:lstStyle/>
          <a:p>
            <a:endParaRPr lang="en-KE" dirty="0"/>
          </a:p>
        </p:txBody>
      </p:sp>
      <p:sp>
        <p:nvSpPr>
          <p:cNvPr id="14" name="Text 12"/>
          <p:cNvSpPr/>
          <p:nvPr/>
        </p:nvSpPr>
        <p:spPr>
          <a:xfrm>
            <a:off x="3291840" y="960120"/>
            <a:ext cx="2578608" cy="530352"/>
          </a:xfrm>
          <a:prstGeom prst="rect">
            <a:avLst/>
          </a:prstGeom>
          <a:noFill/>
          <a:ln/>
        </p:spPr>
        <p:txBody>
          <a:bodyPr wrap="square" lIns="0" tIns="0" rIns="0" bIns="0" rtlCol="0" anchor="ctr"/>
          <a:lstStyle/>
          <a:p>
            <a:r>
              <a:rPr lang="en-US" sz="1400" b="1" dirty="0" err="1">
                <a:solidFill>
                  <a:schemeClr val="bg1"/>
                </a:solidFill>
              </a:rPr>
              <a:t>Twiga</a:t>
            </a:r>
            <a:r>
              <a:rPr lang="en-US" sz="1400" b="1" dirty="0">
                <a:solidFill>
                  <a:schemeClr val="bg1"/>
                </a:solidFill>
              </a:rPr>
              <a:t> Foods (Supply Chain AI)</a:t>
            </a:r>
            <a:endParaRPr lang="en-US" sz="1400" dirty="0">
              <a:solidFill>
                <a:schemeClr val="bg1"/>
              </a:solidFill>
            </a:endParaRPr>
          </a:p>
        </p:txBody>
      </p:sp>
      <p:sp>
        <p:nvSpPr>
          <p:cNvPr id="15" name="Text 13"/>
          <p:cNvSpPr/>
          <p:nvPr/>
        </p:nvSpPr>
        <p:spPr>
          <a:xfrm>
            <a:off x="3310128" y="1572768"/>
            <a:ext cx="2542032" cy="685800"/>
          </a:xfrm>
          <a:prstGeom prst="rect">
            <a:avLst/>
          </a:prstGeom>
          <a:noFill/>
          <a:ln/>
        </p:spPr>
        <p:txBody>
          <a:bodyPr wrap="square" lIns="0" tIns="0" rIns="0" bIns="0" rtlCol="0" anchor="ctr"/>
          <a:lstStyle/>
          <a:p>
            <a:pPr marL="0" indent="0">
              <a:buNone/>
            </a:pPr>
            <a:endParaRPr lang="en-US" sz="1100" dirty="0"/>
          </a:p>
        </p:txBody>
      </p:sp>
      <p:sp>
        <p:nvSpPr>
          <p:cNvPr id="16" name="Text 14"/>
          <p:cNvSpPr/>
          <p:nvPr/>
        </p:nvSpPr>
        <p:spPr>
          <a:xfrm>
            <a:off x="3310128" y="2350008"/>
            <a:ext cx="2542032" cy="685800"/>
          </a:xfrm>
          <a:prstGeom prst="rect">
            <a:avLst/>
          </a:prstGeom>
          <a:noFill/>
          <a:ln/>
        </p:spPr>
        <p:txBody>
          <a:bodyPr wrap="square" lIns="0" tIns="0" rIns="0" bIns="0" rtlCol="0" anchor="ctr"/>
          <a:lstStyle/>
          <a:p>
            <a:pPr marL="0" indent="0">
              <a:buNone/>
            </a:pPr>
            <a:endParaRPr lang="en-US" sz="1100" dirty="0"/>
          </a:p>
        </p:txBody>
      </p:sp>
      <p:sp>
        <p:nvSpPr>
          <p:cNvPr id="17" name="Text 15"/>
          <p:cNvSpPr/>
          <p:nvPr/>
        </p:nvSpPr>
        <p:spPr>
          <a:xfrm>
            <a:off x="3310128" y="3127248"/>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a:t>
            </a:r>
            <a:endParaRPr lang="en-US" sz="1100" dirty="0"/>
          </a:p>
        </p:txBody>
      </p:sp>
      <p:sp>
        <p:nvSpPr>
          <p:cNvPr id="18" name="Text 16"/>
          <p:cNvSpPr/>
          <p:nvPr/>
        </p:nvSpPr>
        <p:spPr>
          <a:xfrm>
            <a:off x="3310128" y="3904488"/>
            <a:ext cx="2542032" cy="685800"/>
          </a:xfrm>
          <a:prstGeom prst="rect">
            <a:avLst/>
          </a:prstGeom>
          <a:noFill/>
          <a:ln/>
        </p:spPr>
        <p:txBody>
          <a:bodyPr wrap="square" lIns="0" tIns="0" rIns="0" bIns="0" rtlCol="0" anchor="ctr"/>
          <a:lstStyle/>
          <a:p>
            <a:pPr marL="0" indent="0">
              <a:buNone/>
            </a:pPr>
            <a:endParaRPr lang="en-US" sz="1100" dirty="0"/>
          </a:p>
        </p:txBody>
      </p:sp>
      <p:sp>
        <p:nvSpPr>
          <p:cNvPr id="19" name="Shape 17"/>
          <p:cNvSpPr/>
          <p:nvPr/>
        </p:nvSpPr>
        <p:spPr>
          <a:xfrm>
            <a:off x="6080760" y="1969478"/>
            <a:ext cx="2743200" cy="2213902"/>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r>
              <a:rPr lang="en-US" sz="1400" b="1" dirty="0"/>
              <a:t>The Lake:</a:t>
            </a:r>
            <a:r>
              <a:rPr lang="en-US" sz="1400" dirty="0"/>
              <a:t> A central repository for diverse epidemiological data sources.</a:t>
            </a:r>
          </a:p>
          <a:p>
            <a:r>
              <a:rPr lang="en-US" sz="1400" b="1" dirty="0"/>
              <a:t>Use Case:</a:t>
            </a:r>
            <a:r>
              <a:rPr lang="en-US" sz="1400" dirty="0"/>
              <a:t> Disease Surveillance. Combining structured DHIS2 reports with unstructured field reports to track Cholera vectors.</a:t>
            </a:r>
          </a:p>
          <a:p>
            <a:r>
              <a:rPr lang="en-US" sz="1400" b="1" dirty="0"/>
              <a:t>Tech:</a:t>
            </a:r>
            <a:r>
              <a:rPr lang="en-US" sz="1400" dirty="0"/>
              <a:t> Hybrid Lake architecture (Cloud for processing, On-Prem for sensitive patient data).</a:t>
            </a:r>
          </a:p>
          <a:p>
            <a:endParaRPr lang="en-KE" dirty="0"/>
          </a:p>
        </p:txBody>
      </p:sp>
      <p:sp>
        <p:nvSpPr>
          <p:cNvPr id="20" name="Shape 18"/>
          <p:cNvSpPr/>
          <p:nvPr/>
        </p:nvSpPr>
        <p:spPr>
          <a:xfrm>
            <a:off x="6080760" y="960120"/>
            <a:ext cx="2743200" cy="530352"/>
          </a:xfrm>
          <a:prstGeom prst="rect">
            <a:avLst/>
          </a:prstGeom>
          <a:solidFill>
            <a:srgbClr val="00A896"/>
          </a:solidFill>
          <a:ln w="12700">
            <a:solidFill>
              <a:srgbClr val="00A896"/>
            </a:solidFill>
            <a:prstDash val="solid"/>
          </a:ln>
        </p:spPr>
        <p:txBody>
          <a:bodyPr/>
          <a:lstStyle/>
          <a:p>
            <a:endParaRPr lang="en-KE"/>
          </a:p>
        </p:txBody>
      </p:sp>
      <p:sp>
        <p:nvSpPr>
          <p:cNvPr id="21" name="Text 19"/>
          <p:cNvSpPr/>
          <p:nvPr/>
        </p:nvSpPr>
        <p:spPr>
          <a:xfrm>
            <a:off x="6172200" y="960120"/>
            <a:ext cx="2578608" cy="530352"/>
          </a:xfrm>
          <a:prstGeom prst="rect">
            <a:avLst/>
          </a:prstGeom>
          <a:noFill/>
          <a:ln/>
        </p:spPr>
        <p:txBody>
          <a:bodyPr wrap="square" lIns="0" tIns="0" rIns="0" bIns="0" rtlCol="0" anchor="ctr"/>
          <a:lstStyle/>
          <a:p>
            <a:r>
              <a:rPr lang="en-US" sz="1600" b="1" dirty="0">
                <a:solidFill>
                  <a:schemeClr val="bg1"/>
                </a:solidFill>
              </a:rPr>
              <a:t>Ministry of Health / KEMRI</a:t>
            </a:r>
            <a:endParaRPr lang="en-US" sz="1600" dirty="0">
              <a:solidFill>
                <a:schemeClr val="bg1"/>
              </a:solidFill>
            </a:endParaRPr>
          </a:p>
        </p:txBody>
      </p:sp>
      <p:sp>
        <p:nvSpPr>
          <p:cNvPr id="22" name="Text 20"/>
          <p:cNvSpPr/>
          <p:nvPr/>
        </p:nvSpPr>
        <p:spPr>
          <a:xfrm>
            <a:off x="6190488" y="1572768"/>
            <a:ext cx="2542032" cy="685800"/>
          </a:xfrm>
          <a:prstGeom prst="rect">
            <a:avLst/>
          </a:prstGeom>
          <a:noFill/>
          <a:ln/>
        </p:spPr>
        <p:txBody>
          <a:bodyPr wrap="square" lIns="0" tIns="0" rIns="0" bIns="0" rtlCol="0" anchor="ctr"/>
          <a:lstStyle/>
          <a:p>
            <a:endParaRPr lang="en-US" sz="1400" dirty="0"/>
          </a:p>
        </p:txBody>
      </p:sp>
      <p:sp>
        <p:nvSpPr>
          <p:cNvPr id="23" name="Text 21"/>
          <p:cNvSpPr/>
          <p:nvPr/>
        </p:nvSpPr>
        <p:spPr>
          <a:xfrm>
            <a:off x="6190488" y="2350008"/>
            <a:ext cx="2542032" cy="685800"/>
          </a:xfrm>
          <a:prstGeom prst="rect">
            <a:avLst/>
          </a:prstGeom>
          <a:noFill/>
          <a:ln/>
        </p:spPr>
        <p:txBody>
          <a:bodyPr wrap="square" lIns="0" tIns="0" rIns="0" bIns="0" rtlCol="0" anchor="ctr"/>
          <a:lstStyle/>
          <a:p>
            <a:pPr marL="0" indent="0">
              <a:buNone/>
            </a:pPr>
            <a:endParaRPr lang="en-US" sz="1100" dirty="0"/>
          </a:p>
        </p:txBody>
      </p:sp>
      <p:sp>
        <p:nvSpPr>
          <p:cNvPr id="24" name="Text 22"/>
          <p:cNvSpPr/>
          <p:nvPr/>
        </p:nvSpPr>
        <p:spPr>
          <a:xfrm>
            <a:off x="6190488" y="3127248"/>
            <a:ext cx="2542032" cy="685800"/>
          </a:xfrm>
          <a:prstGeom prst="rect">
            <a:avLst/>
          </a:prstGeom>
          <a:noFill/>
          <a:ln/>
        </p:spPr>
        <p:txBody>
          <a:bodyPr wrap="square" lIns="0" tIns="0" rIns="0" bIns="0" rtlCol="0" anchor="ctr"/>
          <a:lstStyle/>
          <a:p>
            <a:pPr marL="0" indent="0">
              <a:buNone/>
            </a:pPr>
            <a:endParaRPr lang="en-US" sz="1100" dirty="0"/>
          </a:p>
        </p:txBody>
      </p:sp>
      <p:sp>
        <p:nvSpPr>
          <p:cNvPr id="25" name="Text 23"/>
          <p:cNvSpPr/>
          <p:nvPr/>
        </p:nvSpPr>
        <p:spPr>
          <a:xfrm>
            <a:off x="6190488" y="3904488"/>
            <a:ext cx="2542032" cy="68580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4630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Module H</a:t>
            </a:r>
            <a:endParaRPr lang="en-US" sz="4200" dirty="0"/>
          </a:p>
        </p:txBody>
      </p:sp>
      <p:sp>
        <p:nvSpPr>
          <p:cNvPr id="7" name="Text 5"/>
          <p:cNvSpPr/>
          <p:nvPr/>
        </p:nvSpPr>
        <p:spPr>
          <a:xfrm>
            <a:off x="548640" y="2926080"/>
            <a:ext cx="8046720" cy="731520"/>
          </a:xfrm>
          <a:prstGeom prst="rect">
            <a:avLst/>
          </a:prstGeom>
          <a:noFill/>
          <a:ln/>
        </p:spPr>
        <p:txBody>
          <a:bodyPr wrap="square" rtlCol="0" anchor="ctr"/>
          <a:lstStyle/>
          <a:p>
            <a:pPr marL="0" indent="0" algn="ctr">
              <a:buNone/>
            </a:pPr>
            <a:r>
              <a:rPr lang="en-US" sz="2000" dirty="0">
                <a:solidFill>
                  <a:srgbClr val="F0C040"/>
                </a:solidFill>
                <a:latin typeface="Calibri" pitchFamily="34" charset="0"/>
                <a:ea typeface="Calibri" pitchFamily="34" charset="-122"/>
                <a:cs typeface="Calibri" pitchFamily="34" charset="-120"/>
              </a:rPr>
              <a:t>Public Health Data Lake Design Project</a:t>
            </a:r>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Project Brief: National Public Health Data Lake</a:t>
            </a:r>
            <a:endParaRPr lang="en-US" sz="2400" dirty="0"/>
          </a:p>
        </p:txBody>
      </p:sp>
      <p:sp>
        <p:nvSpPr>
          <p:cNvPr id="5" name="Shape 3"/>
          <p:cNvSpPr/>
          <p:nvPr/>
        </p:nvSpPr>
        <p:spPr>
          <a:xfrm>
            <a:off x="320040" y="960120"/>
            <a:ext cx="8503920" cy="1051560"/>
          </a:xfrm>
          <a:prstGeom prst="rect">
            <a:avLst/>
          </a:prstGeom>
          <a:solidFill>
            <a:srgbClr val="0A2342"/>
          </a:solidFill>
          <a:ln w="12700">
            <a:solidFill>
              <a:srgbClr val="0A2342"/>
            </a:solidFill>
            <a:prstDash val="solid"/>
          </a:ln>
          <a:effectLst>
            <a:outerShdw blurRad="76200" dist="25400" dir="8100000" algn="bl" rotWithShape="0">
              <a:srgbClr val="000000">
                <a:alpha val="10000"/>
              </a:srgbClr>
            </a:outerShdw>
          </a:effectLst>
        </p:spPr>
        <p:txBody>
          <a:bodyPr/>
          <a:lstStyle/>
          <a:p>
            <a:endParaRPr lang="en-KE"/>
          </a:p>
        </p:txBody>
      </p:sp>
      <p:sp>
        <p:nvSpPr>
          <p:cNvPr id="6" name="Text 4"/>
          <p:cNvSpPr/>
          <p:nvPr/>
        </p:nvSpPr>
        <p:spPr>
          <a:xfrm>
            <a:off x="457200" y="1005840"/>
            <a:ext cx="1371600" cy="411480"/>
          </a:xfrm>
          <a:prstGeom prst="rect">
            <a:avLst/>
          </a:prstGeom>
          <a:noFill/>
          <a:ln/>
        </p:spPr>
        <p:txBody>
          <a:bodyPr wrap="square" rtlCol="0" anchor="ctr"/>
          <a:lstStyle/>
          <a:p>
            <a:pPr marL="0" indent="0">
              <a:buNone/>
            </a:pPr>
            <a:r>
              <a:rPr lang="en-US" sz="1400" b="1" dirty="0">
                <a:solidFill>
                  <a:srgbClr val="F0C040"/>
                </a:solidFill>
                <a:latin typeface="Georgia" pitchFamily="34" charset="0"/>
                <a:ea typeface="Georgia" pitchFamily="34" charset="-122"/>
                <a:cs typeface="Georgia" pitchFamily="34" charset="-120"/>
              </a:rPr>
              <a:t>Scenario</a:t>
            </a:r>
            <a:endParaRPr lang="en-US" sz="1400" dirty="0"/>
          </a:p>
        </p:txBody>
      </p:sp>
      <p:sp>
        <p:nvSpPr>
          <p:cNvPr id="7" name="Text 5"/>
          <p:cNvSpPr/>
          <p:nvPr/>
        </p:nvSpPr>
        <p:spPr>
          <a:xfrm>
            <a:off x="457200" y="1417320"/>
            <a:ext cx="8229600" cy="530352"/>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A national Ministry of Health wants to build a centralized Data Lake to unify disease surveillance, patient records, laboratory results, vaccination data, and community health worker reports from 47 counties — supporting real-time outbreak response and long-term policy planning.</a:t>
            </a:r>
            <a:endParaRPr lang="en-US" sz="1150" dirty="0"/>
          </a:p>
        </p:txBody>
      </p:sp>
      <p:sp>
        <p:nvSpPr>
          <p:cNvPr id="8" name="Shape 6"/>
          <p:cNvSpPr/>
          <p:nvPr/>
        </p:nvSpPr>
        <p:spPr>
          <a:xfrm>
            <a:off x="320040" y="2148840"/>
            <a:ext cx="8503920" cy="658368"/>
          </a:xfrm>
          <a:prstGeom prst="rect">
            <a:avLst/>
          </a:prstGeom>
          <a:solidFill>
            <a:srgbClr val="FFFFFF"/>
          </a:solidFill>
          <a:ln w="12700">
            <a:solidFill>
              <a:srgbClr val="E8ECEF"/>
            </a:solidFill>
            <a:prstDash val="solid"/>
          </a:ln>
        </p:spPr>
        <p:txBody>
          <a:bodyPr/>
          <a:lstStyle/>
          <a:p>
            <a:endParaRPr lang="en-KE"/>
          </a:p>
        </p:txBody>
      </p:sp>
      <p:sp>
        <p:nvSpPr>
          <p:cNvPr id="9" name="Shape 7"/>
          <p:cNvSpPr/>
          <p:nvPr/>
        </p:nvSpPr>
        <p:spPr>
          <a:xfrm>
            <a:off x="411480" y="2249424"/>
            <a:ext cx="457200" cy="457200"/>
          </a:xfrm>
          <a:prstGeom prst="ellipse">
            <a:avLst/>
          </a:prstGeom>
          <a:solidFill>
            <a:srgbClr val="028090"/>
          </a:solidFill>
          <a:ln w="12700">
            <a:solidFill>
              <a:srgbClr val="028090"/>
            </a:solidFill>
            <a:prstDash val="solid"/>
          </a:ln>
        </p:spPr>
        <p:txBody>
          <a:bodyPr/>
          <a:lstStyle/>
          <a:p>
            <a:endParaRPr lang="en-KE"/>
          </a:p>
        </p:txBody>
      </p:sp>
      <p:sp>
        <p:nvSpPr>
          <p:cNvPr id="10" name="Text 8"/>
          <p:cNvSpPr/>
          <p:nvPr/>
        </p:nvSpPr>
        <p:spPr>
          <a:xfrm>
            <a:off x="411480" y="224942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11" name="Text 9"/>
          <p:cNvSpPr/>
          <p:nvPr/>
        </p:nvSpPr>
        <p:spPr>
          <a:xfrm>
            <a:off x="960120" y="222199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Ingest heterogeneous data: </a:t>
            </a:r>
            <a:endParaRPr lang="en-US" sz="1300" dirty="0"/>
          </a:p>
        </p:txBody>
      </p:sp>
      <p:sp>
        <p:nvSpPr>
          <p:cNvPr id="12" name="Text 10"/>
          <p:cNvSpPr/>
          <p:nvPr/>
        </p:nvSpPr>
        <p:spPr>
          <a:xfrm>
            <a:off x="3383280" y="222199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EHR (HL7/FHIR), CSV reports, mobile app data, lab JSON, satellite imagery</a:t>
            </a:r>
            <a:endParaRPr lang="en-US" sz="1150" dirty="0"/>
          </a:p>
        </p:txBody>
      </p:sp>
      <p:sp>
        <p:nvSpPr>
          <p:cNvPr id="13" name="Shape 11"/>
          <p:cNvSpPr/>
          <p:nvPr/>
        </p:nvSpPr>
        <p:spPr>
          <a:xfrm>
            <a:off x="320040" y="2880360"/>
            <a:ext cx="8503920" cy="658368"/>
          </a:xfrm>
          <a:prstGeom prst="rect">
            <a:avLst/>
          </a:prstGeom>
          <a:solidFill>
            <a:srgbClr val="E8ECEF"/>
          </a:solidFill>
          <a:ln w="12700">
            <a:solidFill>
              <a:srgbClr val="E8ECEF"/>
            </a:solidFill>
            <a:prstDash val="solid"/>
          </a:ln>
        </p:spPr>
        <p:txBody>
          <a:bodyPr/>
          <a:lstStyle/>
          <a:p>
            <a:endParaRPr lang="en-KE"/>
          </a:p>
        </p:txBody>
      </p:sp>
      <p:sp>
        <p:nvSpPr>
          <p:cNvPr id="14" name="Shape 12"/>
          <p:cNvSpPr/>
          <p:nvPr/>
        </p:nvSpPr>
        <p:spPr>
          <a:xfrm>
            <a:off x="411480" y="2980944"/>
            <a:ext cx="457200" cy="457200"/>
          </a:xfrm>
          <a:prstGeom prst="ellipse">
            <a:avLst/>
          </a:prstGeom>
          <a:solidFill>
            <a:srgbClr val="028090"/>
          </a:solidFill>
          <a:ln w="12700">
            <a:solidFill>
              <a:srgbClr val="028090"/>
            </a:solidFill>
            <a:prstDash val="solid"/>
          </a:ln>
        </p:spPr>
        <p:txBody>
          <a:bodyPr/>
          <a:lstStyle/>
          <a:p>
            <a:endParaRPr lang="en-KE"/>
          </a:p>
        </p:txBody>
      </p:sp>
      <p:sp>
        <p:nvSpPr>
          <p:cNvPr id="15" name="Text 13"/>
          <p:cNvSpPr/>
          <p:nvPr/>
        </p:nvSpPr>
        <p:spPr>
          <a:xfrm>
            <a:off x="411480" y="298094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6" name="Text 14"/>
          <p:cNvSpPr/>
          <p:nvPr/>
        </p:nvSpPr>
        <p:spPr>
          <a:xfrm>
            <a:off x="960120" y="295351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Enable real-time surveillance: </a:t>
            </a:r>
            <a:endParaRPr lang="en-US" sz="1300" dirty="0"/>
          </a:p>
        </p:txBody>
      </p:sp>
      <p:sp>
        <p:nvSpPr>
          <p:cNvPr id="17" name="Text 15"/>
          <p:cNvSpPr/>
          <p:nvPr/>
        </p:nvSpPr>
        <p:spPr>
          <a:xfrm>
            <a:off x="3383280" y="295351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Detect outbreak signals within hours, not weeks</a:t>
            </a:r>
            <a:endParaRPr lang="en-US" sz="1150" dirty="0"/>
          </a:p>
        </p:txBody>
      </p:sp>
      <p:sp>
        <p:nvSpPr>
          <p:cNvPr id="18" name="Shape 16"/>
          <p:cNvSpPr/>
          <p:nvPr/>
        </p:nvSpPr>
        <p:spPr>
          <a:xfrm>
            <a:off x="320040" y="3611880"/>
            <a:ext cx="8503920" cy="658368"/>
          </a:xfrm>
          <a:prstGeom prst="rect">
            <a:avLst/>
          </a:prstGeom>
          <a:solidFill>
            <a:srgbClr val="FFFFFF"/>
          </a:solidFill>
          <a:ln w="12700">
            <a:solidFill>
              <a:srgbClr val="E8ECEF"/>
            </a:solidFill>
            <a:prstDash val="solid"/>
          </a:ln>
        </p:spPr>
        <p:txBody>
          <a:bodyPr/>
          <a:lstStyle/>
          <a:p>
            <a:endParaRPr lang="en-KE"/>
          </a:p>
        </p:txBody>
      </p:sp>
      <p:sp>
        <p:nvSpPr>
          <p:cNvPr id="19" name="Shape 17"/>
          <p:cNvSpPr/>
          <p:nvPr/>
        </p:nvSpPr>
        <p:spPr>
          <a:xfrm>
            <a:off x="411480" y="3712464"/>
            <a:ext cx="457200" cy="457200"/>
          </a:xfrm>
          <a:prstGeom prst="ellipse">
            <a:avLst/>
          </a:prstGeom>
          <a:solidFill>
            <a:srgbClr val="028090"/>
          </a:solidFill>
          <a:ln w="12700">
            <a:solidFill>
              <a:srgbClr val="028090"/>
            </a:solidFill>
            <a:prstDash val="solid"/>
          </a:ln>
        </p:spPr>
        <p:txBody>
          <a:bodyPr/>
          <a:lstStyle/>
          <a:p>
            <a:endParaRPr lang="en-KE"/>
          </a:p>
        </p:txBody>
      </p:sp>
      <p:sp>
        <p:nvSpPr>
          <p:cNvPr id="20" name="Text 18"/>
          <p:cNvSpPr/>
          <p:nvPr/>
        </p:nvSpPr>
        <p:spPr>
          <a:xfrm>
            <a:off x="411480" y="371246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21" name="Text 19"/>
          <p:cNvSpPr/>
          <p:nvPr/>
        </p:nvSpPr>
        <p:spPr>
          <a:xfrm>
            <a:off x="960120" y="368503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Support AI/ML models: </a:t>
            </a:r>
            <a:endParaRPr lang="en-US" sz="1300" dirty="0"/>
          </a:p>
        </p:txBody>
      </p:sp>
      <p:sp>
        <p:nvSpPr>
          <p:cNvPr id="22" name="Text 20"/>
          <p:cNvSpPr/>
          <p:nvPr/>
        </p:nvSpPr>
        <p:spPr>
          <a:xfrm>
            <a:off x="3383280" y="368503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Disease prediction, resource allocation, risk stratification</a:t>
            </a:r>
            <a:endParaRPr lang="en-US" sz="1150" dirty="0"/>
          </a:p>
        </p:txBody>
      </p:sp>
      <p:sp>
        <p:nvSpPr>
          <p:cNvPr id="23" name="Shape 21"/>
          <p:cNvSpPr/>
          <p:nvPr/>
        </p:nvSpPr>
        <p:spPr>
          <a:xfrm>
            <a:off x="320040" y="4343400"/>
            <a:ext cx="8503920" cy="658368"/>
          </a:xfrm>
          <a:prstGeom prst="rect">
            <a:avLst/>
          </a:prstGeom>
          <a:solidFill>
            <a:srgbClr val="E8ECEF"/>
          </a:solidFill>
          <a:ln w="12700">
            <a:solidFill>
              <a:srgbClr val="E8ECEF"/>
            </a:solidFill>
            <a:prstDash val="solid"/>
          </a:ln>
        </p:spPr>
        <p:txBody>
          <a:bodyPr/>
          <a:lstStyle/>
          <a:p>
            <a:endParaRPr lang="en-KE"/>
          </a:p>
        </p:txBody>
      </p:sp>
      <p:sp>
        <p:nvSpPr>
          <p:cNvPr id="24" name="Shape 22"/>
          <p:cNvSpPr/>
          <p:nvPr/>
        </p:nvSpPr>
        <p:spPr>
          <a:xfrm>
            <a:off x="411480" y="4443984"/>
            <a:ext cx="457200" cy="457200"/>
          </a:xfrm>
          <a:prstGeom prst="ellipse">
            <a:avLst/>
          </a:prstGeom>
          <a:solidFill>
            <a:srgbClr val="028090"/>
          </a:solidFill>
          <a:ln w="12700">
            <a:solidFill>
              <a:srgbClr val="028090"/>
            </a:solidFill>
            <a:prstDash val="solid"/>
          </a:ln>
        </p:spPr>
        <p:txBody>
          <a:bodyPr/>
          <a:lstStyle/>
          <a:p>
            <a:endParaRPr lang="en-KE"/>
          </a:p>
        </p:txBody>
      </p:sp>
      <p:sp>
        <p:nvSpPr>
          <p:cNvPr id="25" name="Text 23"/>
          <p:cNvSpPr/>
          <p:nvPr/>
        </p:nvSpPr>
        <p:spPr>
          <a:xfrm>
            <a:off x="411480" y="4443984"/>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6" name="Text 24"/>
          <p:cNvSpPr/>
          <p:nvPr/>
        </p:nvSpPr>
        <p:spPr>
          <a:xfrm>
            <a:off x="960120" y="4416552"/>
            <a:ext cx="2377440" cy="502920"/>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Ensure compliance: </a:t>
            </a:r>
            <a:endParaRPr lang="en-US" sz="1300" dirty="0"/>
          </a:p>
        </p:txBody>
      </p:sp>
      <p:sp>
        <p:nvSpPr>
          <p:cNvPr id="27" name="Text 25"/>
          <p:cNvSpPr/>
          <p:nvPr/>
        </p:nvSpPr>
        <p:spPr>
          <a:xfrm>
            <a:off x="3383280" y="4416552"/>
            <a:ext cx="5303520" cy="502920"/>
          </a:xfrm>
          <a:prstGeom prst="rect">
            <a:avLst/>
          </a:prstGeom>
          <a:noFill/>
          <a:ln/>
        </p:spPr>
        <p:txBody>
          <a:bodyPr wrap="square" lIns="0" tIns="0" rIns="0" bIns="0" rtlCol="0" anchor="ctr"/>
          <a:lstStyle/>
          <a:p>
            <a:pPr marL="0" indent="0">
              <a:buNone/>
            </a:pPr>
            <a:r>
              <a:rPr lang="en-US" sz="1150" dirty="0">
                <a:solidFill>
                  <a:srgbClr val="4A5568"/>
                </a:solidFill>
                <a:latin typeface="Calibri" pitchFamily="34" charset="0"/>
                <a:ea typeface="Calibri" pitchFamily="34" charset="-122"/>
                <a:cs typeface="Calibri" pitchFamily="34" charset="-120"/>
              </a:rPr>
              <a:t>Data sovereignty, patient privacy (HIPAA-equivalent), audit trails</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solidFill>
            <a:srgbClr val="C00000"/>
          </a:solid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Public Health Data Sources &amp; Characteristics</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20040" y="960120"/>
          <a:ext cx="8503920" cy="4069080"/>
        </p:xfrm>
        <a:graphic>
          <a:graphicData uri="http://schemas.openxmlformats.org/drawingml/2006/table">
            <a:tbl>
              <a:tblPr/>
              <a:tblGrid>
                <a:gridCol w="1645920">
                  <a:extLst>
                    <a:ext uri="{9D8B030D-6E8A-4147-A177-3AD203B41FA5}">
                      <a16:colId xmlns:a16="http://schemas.microsoft.com/office/drawing/2014/main" val="20000"/>
                    </a:ext>
                  </a:extLst>
                </a:gridCol>
                <a:gridCol w="118872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gridCol w="3383280">
                  <a:extLst>
                    <a:ext uri="{9D8B030D-6E8A-4147-A177-3AD203B41FA5}">
                      <a16:colId xmlns:a16="http://schemas.microsoft.com/office/drawing/2014/main" val="20004"/>
                    </a:ext>
                  </a:extLst>
                </a:gridCol>
              </a:tblGrid>
              <a:tr h="452120">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Data Source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Format</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Volume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Ingestion Speed</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tc>
                  <a:txBody>
                    <a:bodyPr/>
                    <a:lstStyle/>
                    <a:p>
                      <a:pPr marL="0" indent="0" algn="l">
                        <a:buNone/>
                      </a:pPr>
                      <a:r>
                        <a:rPr lang="en-US" sz="1150" b="1" dirty="0">
                          <a:solidFill>
                            <a:srgbClr val="FFFFFF"/>
                          </a:solidFill>
                          <a:latin typeface="Georgia" pitchFamily="34" charset="0"/>
                          <a:ea typeface="Georgia" pitchFamily="34" charset="-122"/>
                          <a:cs typeface="Georgia" pitchFamily="34" charset="-120"/>
                        </a:rPr>
                        <a:t>Key Challenge</a:t>
                      </a:r>
                      <a:endParaRPr lang="en-US" sz="1150" dirty="0">
                        <a:latin typeface="Georgia" charset="0"/>
                        <a:ea typeface="Georgia" charset="0"/>
                        <a:cs typeface="Georgia"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0A2342"/>
                    </a:solidFill>
                  </a:tcPr>
                </a:tc>
                <a:extLst>
                  <a:ext uri="{0D108BD9-81ED-4DB2-BD59-A6C34878D82A}">
                    <a16:rowId xmlns:a16="http://schemas.microsoft.com/office/drawing/2014/main" val="10000"/>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EHR / HMIS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HL7, FHIR, XML</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High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 daily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Inconsistent coding standards across hospitals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Lab Results (LIMS)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JSON, HL7</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Near real-time</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Multiple LIMS platforms, varying schemas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2"/>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Vaccination Registry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CSV, JSON</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 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Duplicate patient identities across counties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Community Health (CHW)</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Mobile JSON</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Low-Med</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Daily sync</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Offline-first, data quality varies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4"/>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Disease Surveillance (IDSR)</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Excel, CSV</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Low</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Still paper-based in some facilities</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Pharmacy / KEMSA</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CSV, ERP export</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Medium</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Batch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Supply chain data not linked to clinical</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6"/>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Remote Sensing</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GeoTIFF, Raster</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Very High</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Weekly</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Large file sizes, specialist tools needed</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52120">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mHealth / Patient App</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JSON, REST API</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Growing</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1A1A2E"/>
                          </a:solidFill>
                          <a:latin typeface="Calibri" pitchFamily="34" charset="0"/>
                          <a:ea typeface="Calibri" pitchFamily="34" charset="-122"/>
                          <a:cs typeface="Calibri" pitchFamily="34" charset="-120"/>
                        </a:rPr>
                        <a:t>Real-time</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tc>
                  <a:txBody>
                    <a:bodyPr/>
                    <a:lstStyle/>
                    <a:p>
                      <a:pPr marL="0" indent="0" algn="l">
                        <a:buNone/>
                      </a:pPr>
                      <a:r>
                        <a:rPr lang="en-US" sz="1050" dirty="0">
                          <a:solidFill>
                            <a:srgbClr val="B03A2E"/>
                          </a:solidFill>
                          <a:latin typeface="Calibri" pitchFamily="34" charset="0"/>
                          <a:ea typeface="Calibri" pitchFamily="34" charset="-122"/>
                          <a:cs typeface="Calibri" pitchFamily="34" charset="-120"/>
                        </a:rPr>
                        <a:t>Consent management, data ownership</a:t>
                      </a:r>
                      <a:endParaRPr lang="en-US" sz="1050" dirty="0">
                        <a:latin typeface="Calibri" charset="0"/>
                        <a:ea typeface="Calibri" charset="0"/>
                        <a:cs typeface="Calibri" charset="0"/>
                      </a:endParaRPr>
                    </a:p>
                  </a:txBody>
                  <a:tcPr marL="76200" marR="76200" marT="50800" marB="50800" anchor="ctr">
                    <a:lnL w="12700" cap="flat" cmpd="sng" algn="ctr">
                      <a:solidFill>
                        <a:srgbClr val="DDDDDD"/>
                      </a:solidFill>
                      <a:prstDash val="solid"/>
                      <a:round/>
                      <a:headEnd type="none" w="med" len="med"/>
                      <a:tailEnd type="none" w="med" len="med"/>
                    </a:lnL>
                    <a:lnR w="12700" cap="flat" cmpd="sng" algn="ctr">
                      <a:solidFill>
                        <a:srgbClr val="DDDDDD"/>
                      </a:solidFill>
                      <a:prstDash val="solid"/>
                      <a:round/>
                      <a:headEnd type="none" w="med" len="med"/>
                      <a:tailEnd type="none" w="med" len="med"/>
                    </a:lnR>
                    <a:lnT w="12700" cap="flat" cmpd="sng" algn="ctr">
                      <a:solidFill>
                        <a:srgbClr val="DDDDDD"/>
                      </a:solidFill>
                      <a:prstDash val="solid"/>
                      <a:round/>
                      <a:headEnd type="none" w="med" len="med"/>
                      <a:tailEnd type="none" w="med" len="med"/>
                    </a:lnT>
                    <a:lnB w="12700" cap="flat" cmpd="sng" algn="ctr">
                      <a:solidFill>
                        <a:srgbClr val="DDDDDD"/>
                      </a:solidFill>
                      <a:prstDash val="solid"/>
                      <a:round/>
                      <a:headEnd type="none" w="med" len="med"/>
                      <a:tailEnd type="none" w="med" len="med"/>
                    </a:lnB>
                    <a:solidFill>
                      <a:srgbClr val="E8ECEF"/>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Proposed Public Health Data Lake Architecture</a:t>
            </a:r>
            <a:endParaRPr lang="en-US" sz="2400" dirty="0"/>
          </a:p>
        </p:txBody>
      </p:sp>
      <p:sp>
        <p:nvSpPr>
          <p:cNvPr id="5" name="Shape 3"/>
          <p:cNvSpPr/>
          <p:nvPr/>
        </p:nvSpPr>
        <p:spPr>
          <a:xfrm>
            <a:off x="320040" y="960120"/>
            <a:ext cx="8503920" cy="640080"/>
          </a:xfrm>
          <a:prstGeom prst="rect">
            <a:avLst/>
          </a:prstGeom>
          <a:solidFill>
            <a:srgbClr val="F0C040"/>
          </a:solidFill>
          <a:ln w="12700">
            <a:solidFill>
              <a:srgbClr val="F0C040"/>
            </a:solidFill>
            <a:prstDash val="solid"/>
          </a:ln>
        </p:spPr>
        <p:txBody>
          <a:bodyPr/>
          <a:lstStyle/>
          <a:p>
            <a:endParaRPr lang="en-KE"/>
          </a:p>
        </p:txBody>
      </p:sp>
      <p:sp>
        <p:nvSpPr>
          <p:cNvPr id="6" name="Text 4"/>
          <p:cNvSpPr/>
          <p:nvPr/>
        </p:nvSpPr>
        <p:spPr>
          <a:xfrm>
            <a:off x="411480" y="960120"/>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DATA SOURCES</a:t>
            </a:r>
            <a:endParaRPr lang="en-US" sz="1100" dirty="0"/>
          </a:p>
        </p:txBody>
      </p:sp>
      <p:sp>
        <p:nvSpPr>
          <p:cNvPr id="7" name="Text 5"/>
          <p:cNvSpPr/>
          <p:nvPr/>
        </p:nvSpPr>
        <p:spPr>
          <a:xfrm>
            <a:off x="2743200" y="960120"/>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EHR · Lab · Vaccination · CHW · Surveillance · Pharmacy · Remote Sensing · mHealth</a:t>
            </a:r>
            <a:endParaRPr lang="en-US" sz="1050" dirty="0"/>
          </a:p>
        </p:txBody>
      </p:sp>
      <p:sp>
        <p:nvSpPr>
          <p:cNvPr id="8" name="Shape 6"/>
          <p:cNvSpPr/>
          <p:nvPr/>
        </p:nvSpPr>
        <p:spPr>
          <a:xfrm>
            <a:off x="320040" y="1664208"/>
            <a:ext cx="8503920" cy="640080"/>
          </a:xfrm>
          <a:prstGeom prst="rect">
            <a:avLst/>
          </a:prstGeom>
          <a:solidFill>
            <a:srgbClr val="0A2342"/>
          </a:solidFill>
          <a:ln w="12700">
            <a:solidFill>
              <a:srgbClr val="0A2342"/>
            </a:solidFill>
            <a:prstDash val="solid"/>
          </a:ln>
        </p:spPr>
        <p:txBody>
          <a:bodyPr/>
          <a:lstStyle/>
          <a:p>
            <a:endParaRPr lang="en-KE"/>
          </a:p>
        </p:txBody>
      </p:sp>
      <p:sp>
        <p:nvSpPr>
          <p:cNvPr id="9" name="Text 7"/>
          <p:cNvSpPr/>
          <p:nvPr/>
        </p:nvSpPr>
        <p:spPr>
          <a:xfrm>
            <a:off x="411480" y="1664208"/>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INGESTION LAYER</a:t>
            </a:r>
            <a:endParaRPr lang="en-US" sz="1100" dirty="0"/>
          </a:p>
        </p:txBody>
      </p:sp>
      <p:sp>
        <p:nvSpPr>
          <p:cNvPr id="10" name="Text 8"/>
          <p:cNvSpPr/>
          <p:nvPr/>
        </p:nvSpPr>
        <p:spPr>
          <a:xfrm>
            <a:off x="2743200" y="1664208"/>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Apache Kafka (streams)  ·  Azure Data Factory (batch ETL)  ·  FHIR API Gateway  ·  Mobile Sync (CouchDB)</a:t>
            </a:r>
            <a:endParaRPr lang="en-US" sz="1050" dirty="0"/>
          </a:p>
        </p:txBody>
      </p:sp>
      <p:sp>
        <p:nvSpPr>
          <p:cNvPr id="11" name="Shape 9"/>
          <p:cNvSpPr/>
          <p:nvPr/>
        </p:nvSpPr>
        <p:spPr>
          <a:xfrm>
            <a:off x="320040" y="2368296"/>
            <a:ext cx="8503920" cy="640080"/>
          </a:xfrm>
          <a:prstGeom prst="rect">
            <a:avLst/>
          </a:prstGeom>
          <a:solidFill>
            <a:srgbClr val="028090"/>
          </a:solidFill>
          <a:ln w="12700">
            <a:solidFill>
              <a:srgbClr val="028090"/>
            </a:solidFill>
            <a:prstDash val="solid"/>
          </a:ln>
        </p:spPr>
        <p:txBody>
          <a:bodyPr/>
          <a:lstStyle/>
          <a:p>
            <a:endParaRPr lang="en-KE"/>
          </a:p>
        </p:txBody>
      </p:sp>
      <p:sp>
        <p:nvSpPr>
          <p:cNvPr id="12" name="Text 10"/>
          <p:cNvSpPr/>
          <p:nvPr/>
        </p:nvSpPr>
        <p:spPr>
          <a:xfrm>
            <a:off x="411480" y="2368296"/>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RAW LAKE (Bronze)</a:t>
            </a:r>
            <a:endParaRPr lang="en-US" sz="1100" dirty="0"/>
          </a:p>
        </p:txBody>
      </p:sp>
      <p:sp>
        <p:nvSpPr>
          <p:cNvPr id="13" name="Text 11"/>
          <p:cNvSpPr/>
          <p:nvPr/>
        </p:nvSpPr>
        <p:spPr>
          <a:xfrm>
            <a:off x="2743200" y="2368296"/>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Azure Data Lake Storage Gen2  ·  All data in original format  ·  Immutable, fully audited  ·  Partitioned by county + date</a:t>
            </a:r>
            <a:endParaRPr lang="en-US" sz="1050" dirty="0"/>
          </a:p>
        </p:txBody>
      </p:sp>
      <p:sp>
        <p:nvSpPr>
          <p:cNvPr id="14" name="Shape 12"/>
          <p:cNvSpPr/>
          <p:nvPr/>
        </p:nvSpPr>
        <p:spPr>
          <a:xfrm>
            <a:off x="320040" y="3072384"/>
            <a:ext cx="8503920" cy="640080"/>
          </a:xfrm>
          <a:prstGeom prst="rect">
            <a:avLst/>
          </a:prstGeom>
          <a:solidFill>
            <a:srgbClr val="00A896"/>
          </a:solidFill>
          <a:ln w="12700">
            <a:solidFill>
              <a:srgbClr val="00A896"/>
            </a:solidFill>
            <a:prstDash val="solid"/>
          </a:ln>
        </p:spPr>
        <p:txBody>
          <a:bodyPr/>
          <a:lstStyle/>
          <a:p>
            <a:endParaRPr lang="en-KE"/>
          </a:p>
        </p:txBody>
      </p:sp>
      <p:sp>
        <p:nvSpPr>
          <p:cNvPr id="15" name="Text 13"/>
          <p:cNvSpPr/>
          <p:nvPr/>
        </p:nvSpPr>
        <p:spPr>
          <a:xfrm>
            <a:off x="411480" y="3072384"/>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PROCESSING (Silver)</a:t>
            </a:r>
            <a:endParaRPr lang="en-US" sz="1100" dirty="0"/>
          </a:p>
        </p:txBody>
      </p:sp>
      <p:sp>
        <p:nvSpPr>
          <p:cNvPr id="16" name="Text 14"/>
          <p:cNvSpPr/>
          <p:nvPr/>
        </p:nvSpPr>
        <p:spPr>
          <a:xfrm>
            <a:off x="2743200" y="3072384"/>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Apache Spark on Databricks  ·  Data validation, deduplication, standardization  ·  FHIR normalization  ·  PII tokenization</a:t>
            </a:r>
            <a:endParaRPr lang="en-US" sz="1050" dirty="0"/>
          </a:p>
        </p:txBody>
      </p:sp>
      <p:sp>
        <p:nvSpPr>
          <p:cNvPr id="17" name="Shape 15"/>
          <p:cNvSpPr/>
          <p:nvPr/>
        </p:nvSpPr>
        <p:spPr>
          <a:xfrm>
            <a:off x="320040" y="3776472"/>
            <a:ext cx="8503920" cy="640080"/>
          </a:xfrm>
          <a:prstGeom prst="rect">
            <a:avLst/>
          </a:prstGeom>
          <a:solidFill>
            <a:srgbClr val="02C39A"/>
          </a:solidFill>
          <a:ln w="12700">
            <a:solidFill>
              <a:srgbClr val="02C39A"/>
            </a:solidFill>
            <a:prstDash val="solid"/>
          </a:ln>
        </p:spPr>
        <p:txBody>
          <a:bodyPr/>
          <a:lstStyle/>
          <a:p>
            <a:endParaRPr lang="en-KE"/>
          </a:p>
        </p:txBody>
      </p:sp>
      <p:sp>
        <p:nvSpPr>
          <p:cNvPr id="18" name="Text 16"/>
          <p:cNvSpPr/>
          <p:nvPr/>
        </p:nvSpPr>
        <p:spPr>
          <a:xfrm>
            <a:off x="411480" y="3776472"/>
            <a:ext cx="2286000" cy="640080"/>
          </a:xfrm>
          <a:prstGeom prst="rect">
            <a:avLst/>
          </a:prstGeom>
          <a:noFill/>
          <a:ln/>
        </p:spPr>
        <p:txBody>
          <a:bodyPr wrap="square" lIns="0" tIns="0" rIns="0" bIns="0" rtlCol="0" anchor="ctr"/>
          <a:lstStyle/>
          <a:p>
            <a:pPr marL="0" indent="0">
              <a:buNone/>
            </a:pPr>
            <a:r>
              <a:rPr lang="en-US" sz="1100" b="1" dirty="0">
                <a:solidFill>
                  <a:srgbClr val="1A1A2E"/>
                </a:solidFill>
                <a:latin typeface="Georgia" pitchFamily="34" charset="0"/>
                <a:ea typeface="Georgia" pitchFamily="34" charset="-122"/>
                <a:cs typeface="Georgia" pitchFamily="34" charset="-120"/>
              </a:rPr>
              <a:t>CURATED (Gold)</a:t>
            </a:r>
            <a:endParaRPr lang="en-US" sz="1100" dirty="0"/>
          </a:p>
        </p:txBody>
      </p:sp>
      <p:sp>
        <p:nvSpPr>
          <p:cNvPr id="19" name="Text 17"/>
          <p:cNvSpPr/>
          <p:nvPr/>
        </p:nvSpPr>
        <p:spPr>
          <a:xfrm>
            <a:off x="2743200" y="3776472"/>
            <a:ext cx="5943600" cy="640080"/>
          </a:xfrm>
          <a:prstGeom prst="rect">
            <a:avLst/>
          </a:prstGeom>
          <a:noFill/>
          <a:ln/>
        </p:spPr>
        <p:txBody>
          <a:bodyPr wrap="square" rtlCol="0" anchor="ctr"/>
          <a:lstStyle/>
          <a:p>
            <a:pPr marL="0" indent="0">
              <a:buNone/>
            </a:pPr>
            <a:r>
              <a:rPr lang="en-US" sz="1050" dirty="0">
                <a:solidFill>
                  <a:srgbClr val="1A2F2F"/>
                </a:solidFill>
                <a:latin typeface="Calibri" pitchFamily="34" charset="0"/>
                <a:ea typeface="Calibri" pitchFamily="34" charset="-122"/>
                <a:cs typeface="Calibri" pitchFamily="34" charset="-120"/>
              </a:rPr>
              <a:t>Disease indicators  ·  Aggregated county health metrics  ·  ML feature stores  ·  Report-ready datasets</a:t>
            </a:r>
            <a:endParaRPr lang="en-US" sz="1050" dirty="0"/>
          </a:p>
        </p:txBody>
      </p:sp>
      <p:sp>
        <p:nvSpPr>
          <p:cNvPr id="20" name="Shape 18"/>
          <p:cNvSpPr/>
          <p:nvPr/>
        </p:nvSpPr>
        <p:spPr>
          <a:xfrm>
            <a:off x="320040" y="4480560"/>
            <a:ext cx="8503920" cy="640080"/>
          </a:xfrm>
          <a:prstGeom prst="rect">
            <a:avLst/>
          </a:prstGeom>
          <a:solidFill>
            <a:srgbClr val="2D6A4F"/>
          </a:solidFill>
          <a:ln w="12700">
            <a:solidFill>
              <a:srgbClr val="2D6A4F"/>
            </a:solidFill>
            <a:prstDash val="solid"/>
          </a:ln>
        </p:spPr>
        <p:txBody>
          <a:bodyPr/>
          <a:lstStyle/>
          <a:p>
            <a:endParaRPr lang="en-KE"/>
          </a:p>
        </p:txBody>
      </p:sp>
      <p:sp>
        <p:nvSpPr>
          <p:cNvPr id="21" name="Text 19"/>
          <p:cNvSpPr/>
          <p:nvPr/>
        </p:nvSpPr>
        <p:spPr>
          <a:xfrm>
            <a:off x="411480" y="4480560"/>
            <a:ext cx="2286000" cy="640080"/>
          </a:xfrm>
          <a:prstGeom prst="rect">
            <a:avLst/>
          </a:prstGeom>
          <a:noFill/>
          <a:ln/>
        </p:spPr>
        <p:txBody>
          <a:bodyPr wrap="square" lIns="0" tIns="0" rIns="0" bIns="0" rtlCol="0" anchor="ctr"/>
          <a:lstStyle/>
          <a:p>
            <a:pPr marL="0" indent="0">
              <a:buNone/>
            </a:pPr>
            <a:r>
              <a:rPr lang="en-US" sz="1100" b="1" dirty="0">
                <a:solidFill>
                  <a:srgbClr val="FFFFFF"/>
                </a:solidFill>
                <a:latin typeface="Georgia" pitchFamily="34" charset="0"/>
                <a:ea typeface="Georgia" pitchFamily="34" charset="-122"/>
                <a:cs typeface="Georgia" pitchFamily="34" charset="-120"/>
              </a:rPr>
              <a:t>CONSUMPTION</a:t>
            </a:r>
            <a:endParaRPr lang="en-US" sz="1100" dirty="0"/>
          </a:p>
        </p:txBody>
      </p:sp>
      <p:sp>
        <p:nvSpPr>
          <p:cNvPr id="22" name="Text 20"/>
          <p:cNvSpPr/>
          <p:nvPr/>
        </p:nvSpPr>
        <p:spPr>
          <a:xfrm>
            <a:off x="2743200" y="4480560"/>
            <a:ext cx="5943600" cy="640080"/>
          </a:xfrm>
          <a:prstGeom prst="rect">
            <a:avLst/>
          </a:prstGeom>
          <a:noFill/>
          <a:ln/>
        </p:spPr>
        <p:txBody>
          <a:bodyPr wrap="square" rtlCol="0" anchor="ctr"/>
          <a:lstStyle/>
          <a:p>
            <a:pPr marL="0" indent="0">
              <a:buNone/>
            </a:pPr>
            <a:r>
              <a:rPr lang="en-US" sz="1050" dirty="0">
                <a:solidFill>
                  <a:srgbClr val="DDEEFF"/>
                </a:solidFill>
                <a:latin typeface="Calibri" pitchFamily="34" charset="0"/>
                <a:ea typeface="Calibri" pitchFamily="34" charset="-122"/>
                <a:cs typeface="Calibri" pitchFamily="34" charset="-120"/>
              </a:rPr>
              <a:t>DHIS2 dashboards  ·  Power BI for MoH  ·  ML outbreak models  ·  County officer self-service SQL</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Role of NoSQL Databases in the Health Data Lake</a:t>
            </a:r>
            <a:endParaRPr lang="en-US" sz="2400" dirty="0"/>
          </a:p>
        </p:txBody>
      </p:sp>
      <p:sp>
        <p:nvSpPr>
          <p:cNvPr id="5" name="Text 3"/>
          <p:cNvSpPr/>
          <p:nvPr/>
        </p:nvSpPr>
        <p:spPr>
          <a:xfrm>
            <a:off x="365760" y="960120"/>
            <a:ext cx="8412480" cy="347472"/>
          </a:xfrm>
          <a:prstGeom prst="rect">
            <a:avLst/>
          </a:prstGeom>
          <a:noFill/>
          <a:ln/>
        </p:spPr>
        <p:txBody>
          <a:bodyPr wrap="square" rtlCol="0" anchor="ctr"/>
          <a:lstStyle/>
          <a:p>
            <a:pPr marL="0" indent="0">
              <a:buNone/>
            </a:pPr>
            <a:r>
              <a:rPr lang="en-US" sz="1200" i="1" dirty="0">
                <a:solidFill>
                  <a:srgbClr val="4A5568"/>
                </a:solidFill>
                <a:latin typeface="Calibri" pitchFamily="34" charset="0"/>
                <a:ea typeface="Calibri" pitchFamily="34" charset="-122"/>
                <a:cs typeface="Calibri" pitchFamily="34" charset="-120"/>
              </a:rPr>
              <a:t>Different data types within the health lake are best served by different NoSQL models:</a:t>
            </a:r>
            <a:endParaRPr lang="en-US" sz="1200" dirty="0"/>
          </a:p>
        </p:txBody>
      </p:sp>
      <p:sp>
        <p:nvSpPr>
          <p:cNvPr id="6" name="Shape 4"/>
          <p:cNvSpPr/>
          <p:nvPr/>
        </p:nvSpPr>
        <p:spPr>
          <a:xfrm>
            <a:off x="320040" y="1389888"/>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7" name="Shape 5"/>
          <p:cNvSpPr/>
          <p:nvPr/>
        </p:nvSpPr>
        <p:spPr>
          <a:xfrm>
            <a:off x="320040" y="1389888"/>
            <a:ext cx="91440" cy="868680"/>
          </a:xfrm>
          <a:prstGeom prst="rect">
            <a:avLst/>
          </a:prstGeom>
          <a:solidFill>
            <a:srgbClr val="0A2342"/>
          </a:solidFill>
          <a:ln w="12700">
            <a:solidFill>
              <a:srgbClr val="0A2342"/>
            </a:solidFill>
            <a:prstDash val="solid"/>
          </a:ln>
        </p:spPr>
        <p:txBody>
          <a:bodyPr/>
          <a:lstStyle/>
          <a:p>
            <a:endParaRPr lang="en-KE"/>
          </a:p>
        </p:txBody>
      </p:sp>
      <p:sp>
        <p:nvSpPr>
          <p:cNvPr id="8" name="Text 6"/>
          <p:cNvSpPr/>
          <p:nvPr/>
        </p:nvSpPr>
        <p:spPr>
          <a:xfrm>
            <a:off x="502920" y="1444752"/>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MongoDB (Document Store)</a:t>
            </a:r>
            <a:endParaRPr lang="en-US" sz="1300" dirty="0"/>
          </a:p>
        </p:txBody>
      </p:sp>
      <p:sp>
        <p:nvSpPr>
          <p:cNvPr id="9" name="Text 7"/>
          <p:cNvSpPr/>
          <p:nvPr/>
        </p:nvSpPr>
        <p:spPr>
          <a:xfrm>
            <a:off x="502920" y="1847088"/>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Patient records &amp; EHR</a:t>
            </a:r>
            <a:endParaRPr lang="en-US" sz="1100" dirty="0"/>
          </a:p>
        </p:txBody>
      </p:sp>
      <p:sp>
        <p:nvSpPr>
          <p:cNvPr id="10" name="Text 8"/>
          <p:cNvSpPr/>
          <p:nvPr/>
        </p:nvSpPr>
        <p:spPr>
          <a:xfrm>
            <a:off x="3566160" y="1481328"/>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Flexible schema handles varying clinical fields. Nested documents map naturally to FHIR resources.</a:t>
            </a:r>
            <a:endParaRPr lang="en-US" sz="1100" dirty="0"/>
          </a:p>
        </p:txBody>
      </p:sp>
      <p:sp>
        <p:nvSpPr>
          <p:cNvPr id="11" name="Shape 9"/>
          <p:cNvSpPr/>
          <p:nvPr/>
        </p:nvSpPr>
        <p:spPr>
          <a:xfrm>
            <a:off x="320040" y="2331720"/>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2" name="Shape 10"/>
          <p:cNvSpPr/>
          <p:nvPr/>
        </p:nvSpPr>
        <p:spPr>
          <a:xfrm>
            <a:off x="320040" y="2331720"/>
            <a:ext cx="91440" cy="868680"/>
          </a:xfrm>
          <a:prstGeom prst="rect">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502920" y="2386584"/>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Apache Cassandra (Column-Family)</a:t>
            </a:r>
            <a:endParaRPr lang="en-US" sz="1300" dirty="0"/>
          </a:p>
        </p:txBody>
      </p:sp>
      <p:sp>
        <p:nvSpPr>
          <p:cNvPr id="14" name="Text 12"/>
          <p:cNvSpPr/>
          <p:nvPr/>
        </p:nvSpPr>
        <p:spPr>
          <a:xfrm>
            <a:off x="502920" y="2788920"/>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Time-series vital signs &amp; sensor data</a:t>
            </a:r>
            <a:endParaRPr lang="en-US" sz="1100" dirty="0"/>
          </a:p>
        </p:txBody>
      </p:sp>
      <p:sp>
        <p:nvSpPr>
          <p:cNvPr id="15" name="Text 13"/>
          <p:cNvSpPr/>
          <p:nvPr/>
        </p:nvSpPr>
        <p:spPr>
          <a:xfrm>
            <a:off x="3566160" y="2423160"/>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Millions of readings per hour from hospital monitoring systems. Linear horizontal scaling.</a:t>
            </a:r>
            <a:endParaRPr lang="en-US" sz="1100" dirty="0"/>
          </a:p>
        </p:txBody>
      </p:sp>
      <p:sp>
        <p:nvSpPr>
          <p:cNvPr id="16" name="Shape 14"/>
          <p:cNvSpPr/>
          <p:nvPr/>
        </p:nvSpPr>
        <p:spPr>
          <a:xfrm>
            <a:off x="320040" y="3273552"/>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7" name="Shape 15"/>
          <p:cNvSpPr/>
          <p:nvPr/>
        </p:nvSpPr>
        <p:spPr>
          <a:xfrm>
            <a:off x="320040" y="3273552"/>
            <a:ext cx="91440" cy="868680"/>
          </a:xfrm>
          <a:prstGeom prst="rect">
            <a:avLst/>
          </a:prstGeom>
          <a:solidFill>
            <a:srgbClr val="00A896"/>
          </a:solidFill>
          <a:ln w="12700">
            <a:solidFill>
              <a:srgbClr val="00A896"/>
            </a:solidFill>
            <a:prstDash val="solid"/>
          </a:ln>
        </p:spPr>
        <p:txBody>
          <a:bodyPr/>
          <a:lstStyle/>
          <a:p>
            <a:endParaRPr lang="en-KE"/>
          </a:p>
        </p:txBody>
      </p:sp>
      <p:sp>
        <p:nvSpPr>
          <p:cNvPr id="18" name="Text 16"/>
          <p:cNvSpPr/>
          <p:nvPr/>
        </p:nvSpPr>
        <p:spPr>
          <a:xfrm>
            <a:off x="502920" y="3328416"/>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Redis (Key-Value)</a:t>
            </a:r>
            <a:endParaRPr lang="en-US" sz="1300" dirty="0"/>
          </a:p>
        </p:txBody>
      </p:sp>
      <p:sp>
        <p:nvSpPr>
          <p:cNvPr id="19" name="Text 17"/>
          <p:cNvSpPr/>
          <p:nvPr/>
        </p:nvSpPr>
        <p:spPr>
          <a:xfrm>
            <a:off x="502920" y="3730752"/>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Real-time caching &amp; pub/sub alerts</a:t>
            </a:r>
            <a:endParaRPr lang="en-US" sz="1100" dirty="0"/>
          </a:p>
        </p:txBody>
      </p:sp>
      <p:sp>
        <p:nvSpPr>
          <p:cNvPr id="20" name="Text 18"/>
          <p:cNvSpPr/>
          <p:nvPr/>
        </p:nvSpPr>
        <p:spPr>
          <a:xfrm>
            <a:off x="3566160" y="3364992"/>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Sub-millisecond outbreak alert publishing. Cache hot disease indicator metrics for dashboards.</a:t>
            </a:r>
            <a:endParaRPr lang="en-US" sz="1100" dirty="0"/>
          </a:p>
        </p:txBody>
      </p:sp>
      <p:sp>
        <p:nvSpPr>
          <p:cNvPr id="21" name="Shape 19"/>
          <p:cNvSpPr/>
          <p:nvPr/>
        </p:nvSpPr>
        <p:spPr>
          <a:xfrm>
            <a:off x="320040" y="4215384"/>
            <a:ext cx="8503920" cy="868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320040" y="4215384"/>
            <a:ext cx="91440" cy="868680"/>
          </a:xfrm>
          <a:prstGeom prst="rect">
            <a:avLst/>
          </a:prstGeom>
          <a:solidFill>
            <a:srgbClr val="02C39A"/>
          </a:solidFill>
          <a:ln w="12700">
            <a:solidFill>
              <a:srgbClr val="02C39A"/>
            </a:solidFill>
            <a:prstDash val="solid"/>
          </a:ln>
        </p:spPr>
        <p:txBody>
          <a:bodyPr/>
          <a:lstStyle/>
          <a:p>
            <a:endParaRPr lang="en-KE"/>
          </a:p>
        </p:txBody>
      </p:sp>
      <p:sp>
        <p:nvSpPr>
          <p:cNvPr id="23" name="Text 21"/>
          <p:cNvSpPr/>
          <p:nvPr/>
        </p:nvSpPr>
        <p:spPr>
          <a:xfrm>
            <a:off x="502920" y="4270248"/>
            <a:ext cx="2926080" cy="347472"/>
          </a:xfrm>
          <a:prstGeom prst="rect">
            <a:avLst/>
          </a:prstGeom>
          <a:noFill/>
          <a:ln/>
        </p:spPr>
        <p:txBody>
          <a:bodyPr wrap="square" lIns="0" tIns="0" rIns="0" bIns="0" rtlCol="0" anchor="ctr"/>
          <a:lstStyle/>
          <a:p>
            <a:pPr marL="0" indent="0">
              <a:buNone/>
            </a:pPr>
            <a:r>
              <a:rPr lang="en-US" sz="1300" b="1" dirty="0">
                <a:solidFill>
                  <a:srgbClr val="0A2342"/>
                </a:solidFill>
                <a:latin typeface="Georgia" pitchFamily="34" charset="0"/>
                <a:ea typeface="Georgia" pitchFamily="34" charset="-122"/>
                <a:cs typeface="Georgia" pitchFamily="34" charset="-120"/>
              </a:rPr>
              <a:t>Neo4j (Graph DB)</a:t>
            </a:r>
            <a:endParaRPr lang="en-US" sz="1300" dirty="0"/>
          </a:p>
        </p:txBody>
      </p:sp>
      <p:sp>
        <p:nvSpPr>
          <p:cNvPr id="24" name="Text 22"/>
          <p:cNvSpPr/>
          <p:nvPr/>
        </p:nvSpPr>
        <p:spPr>
          <a:xfrm>
            <a:off x="502920" y="4672584"/>
            <a:ext cx="2926080" cy="320040"/>
          </a:xfrm>
          <a:prstGeom prst="rect">
            <a:avLst/>
          </a:prstGeom>
          <a:noFill/>
          <a:ln/>
        </p:spPr>
        <p:txBody>
          <a:bodyPr wrap="square" lIns="0" tIns="0" rIns="0" bIns="0" rtlCol="0" anchor="ctr"/>
          <a:lstStyle/>
          <a:p>
            <a:pPr marL="0" indent="0">
              <a:buNone/>
            </a:pPr>
            <a:r>
              <a:rPr lang="en-US" sz="1100" i="1" dirty="0">
                <a:solidFill>
                  <a:srgbClr val="028090"/>
                </a:solidFill>
                <a:latin typeface="Calibri" pitchFamily="34" charset="0"/>
                <a:ea typeface="Calibri" pitchFamily="34" charset="-122"/>
                <a:cs typeface="Calibri" pitchFamily="34" charset="-120"/>
              </a:rPr>
              <a:t>→ Contact tracing &amp; disease networks</a:t>
            </a:r>
            <a:endParaRPr lang="en-US" sz="1100" dirty="0"/>
          </a:p>
        </p:txBody>
      </p:sp>
      <p:sp>
        <p:nvSpPr>
          <p:cNvPr id="25" name="Text 23"/>
          <p:cNvSpPr/>
          <p:nvPr/>
        </p:nvSpPr>
        <p:spPr>
          <a:xfrm>
            <a:off x="3566160" y="4306824"/>
            <a:ext cx="5166360" cy="685800"/>
          </a:xfrm>
          <a:prstGeom prst="rect">
            <a:avLst/>
          </a:prstGeom>
          <a:noFill/>
          <a:ln/>
        </p:spPr>
        <p:txBody>
          <a:bodyPr wrap="square" rtlCol="0" anchor="ctr"/>
          <a:lstStyle/>
          <a:p>
            <a:pPr marL="0" indent="0">
              <a:buNone/>
            </a:pPr>
            <a:r>
              <a:rPr lang="en-US" sz="1100" dirty="0">
                <a:solidFill>
                  <a:srgbClr val="4A5568"/>
                </a:solidFill>
                <a:latin typeface="Calibri" pitchFamily="34" charset="0"/>
                <a:ea typeface="Calibri" pitchFamily="34" charset="-122"/>
                <a:cs typeface="Calibri" pitchFamily="34" charset="-120"/>
              </a:rPr>
              <a:t>Track transmission chains, identify super-spreaders, and map healthcare worker exposure networks.</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Data Governance, Privacy &amp; Compliance for Health Data</a:t>
            </a:r>
            <a:endParaRPr lang="en-US" sz="2400" dirty="0"/>
          </a:p>
        </p:txBody>
      </p:sp>
      <p:sp>
        <p:nvSpPr>
          <p:cNvPr id="5" name="Shape 3"/>
          <p:cNvSpPr/>
          <p:nvPr/>
        </p:nvSpPr>
        <p:spPr>
          <a:xfrm>
            <a:off x="320040" y="96012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Data Classification</a:t>
            </a:r>
            <a:endParaRPr lang="en-US" sz="1400" dirty="0"/>
          </a:p>
        </p:txBody>
      </p:sp>
      <p:sp>
        <p:nvSpPr>
          <p:cNvPr id="8" name="Text 6"/>
          <p:cNvSpPr/>
          <p:nvPr/>
        </p:nvSpPr>
        <p:spPr>
          <a:xfrm>
            <a:off x="411480" y="148132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Highly sensitive: patient identifiers, HIV status, MH</a:t>
            </a:r>
            <a:endParaRPr lang="en-US" sz="1050" dirty="0"/>
          </a:p>
        </p:txBody>
      </p:sp>
      <p:sp>
        <p:nvSpPr>
          <p:cNvPr id="9" name="Text 7"/>
          <p:cNvSpPr/>
          <p:nvPr/>
        </p:nvSpPr>
        <p:spPr>
          <a:xfrm>
            <a:off x="411480" y="183794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Sensitive: diagnosis codes, lab results</a:t>
            </a:r>
            <a:endParaRPr lang="en-US" sz="1050" dirty="0"/>
          </a:p>
        </p:txBody>
      </p:sp>
      <p:sp>
        <p:nvSpPr>
          <p:cNvPr id="10" name="Text 8"/>
          <p:cNvSpPr/>
          <p:nvPr/>
        </p:nvSpPr>
        <p:spPr>
          <a:xfrm>
            <a:off x="411480" y="219456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Internal: aggregate county statistics</a:t>
            </a:r>
            <a:endParaRPr lang="en-US" sz="1050" dirty="0"/>
          </a:p>
        </p:txBody>
      </p:sp>
      <p:sp>
        <p:nvSpPr>
          <p:cNvPr id="11" name="Text 9"/>
          <p:cNvSpPr/>
          <p:nvPr/>
        </p:nvSpPr>
        <p:spPr>
          <a:xfrm>
            <a:off x="411480" y="255117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Public: anonymized disease trends</a:t>
            </a:r>
            <a:endParaRPr lang="en-US" sz="1050" dirty="0"/>
          </a:p>
        </p:txBody>
      </p:sp>
      <p:sp>
        <p:nvSpPr>
          <p:cNvPr id="12" name="Shape 10"/>
          <p:cNvSpPr/>
          <p:nvPr/>
        </p:nvSpPr>
        <p:spPr>
          <a:xfrm>
            <a:off x="4754880" y="96012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13" name="Shape 11"/>
          <p:cNvSpPr/>
          <p:nvPr/>
        </p:nvSpPr>
        <p:spPr>
          <a:xfrm>
            <a:off x="4754880" y="960120"/>
            <a:ext cx="4206240" cy="475488"/>
          </a:xfrm>
          <a:prstGeom prst="rect">
            <a:avLst/>
          </a:prstGeom>
          <a:solidFill>
            <a:srgbClr val="028090"/>
          </a:solidFill>
          <a:ln w="12700">
            <a:solidFill>
              <a:srgbClr val="028090"/>
            </a:solidFill>
            <a:prstDash val="solid"/>
          </a:ln>
        </p:spPr>
        <p:txBody>
          <a:bodyPr/>
          <a:lstStyle/>
          <a:p>
            <a:endParaRPr lang="en-KE"/>
          </a:p>
        </p:txBody>
      </p:sp>
      <p:sp>
        <p:nvSpPr>
          <p:cNvPr id="14" name="Text 12"/>
          <p:cNvSpPr/>
          <p:nvPr/>
        </p:nvSpPr>
        <p:spPr>
          <a:xfrm>
            <a:off x="484632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Privacy Controls</a:t>
            </a:r>
            <a:endParaRPr lang="en-US" sz="1400" dirty="0"/>
          </a:p>
        </p:txBody>
      </p:sp>
      <p:sp>
        <p:nvSpPr>
          <p:cNvPr id="15" name="Text 13"/>
          <p:cNvSpPr/>
          <p:nvPr/>
        </p:nvSpPr>
        <p:spPr>
          <a:xfrm>
            <a:off x="4846320" y="148132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PII tokenization at ingestion (patient IDs hashed)</a:t>
            </a:r>
            <a:endParaRPr lang="en-US" sz="1050" dirty="0"/>
          </a:p>
        </p:txBody>
      </p:sp>
      <p:sp>
        <p:nvSpPr>
          <p:cNvPr id="16" name="Text 14"/>
          <p:cNvSpPr/>
          <p:nvPr/>
        </p:nvSpPr>
        <p:spPr>
          <a:xfrm>
            <a:off x="4846320" y="183794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Role-based access control (RBAC) by county/facility</a:t>
            </a:r>
            <a:endParaRPr lang="en-US" sz="1050" dirty="0"/>
          </a:p>
        </p:txBody>
      </p:sp>
      <p:sp>
        <p:nvSpPr>
          <p:cNvPr id="17" name="Text 15"/>
          <p:cNvSpPr/>
          <p:nvPr/>
        </p:nvSpPr>
        <p:spPr>
          <a:xfrm>
            <a:off x="4846320" y="219456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Column-level encryption for sensitive fields</a:t>
            </a:r>
            <a:endParaRPr lang="en-US" sz="1050" dirty="0"/>
          </a:p>
        </p:txBody>
      </p:sp>
      <p:sp>
        <p:nvSpPr>
          <p:cNvPr id="18" name="Text 16"/>
          <p:cNvSpPr/>
          <p:nvPr/>
        </p:nvSpPr>
        <p:spPr>
          <a:xfrm>
            <a:off x="4846320" y="255117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Consent management and data subject rights</a:t>
            </a:r>
            <a:endParaRPr lang="en-US" sz="1050" dirty="0"/>
          </a:p>
        </p:txBody>
      </p:sp>
      <p:sp>
        <p:nvSpPr>
          <p:cNvPr id="19" name="Shape 17"/>
          <p:cNvSpPr/>
          <p:nvPr/>
        </p:nvSpPr>
        <p:spPr>
          <a:xfrm>
            <a:off x="320040" y="310896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0" name="Shape 18"/>
          <p:cNvSpPr/>
          <p:nvPr/>
        </p:nvSpPr>
        <p:spPr>
          <a:xfrm>
            <a:off x="320040" y="3108960"/>
            <a:ext cx="4206240" cy="475488"/>
          </a:xfrm>
          <a:prstGeom prst="rect">
            <a:avLst/>
          </a:prstGeom>
          <a:solidFill>
            <a:srgbClr val="0A2342"/>
          </a:solidFill>
          <a:ln w="12700">
            <a:solidFill>
              <a:srgbClr val="0A2342"/>
            </a:solidFill>
            <a:prstDash val="solid"/>
          </a:ln>
        </p:spPr>
        <p:txBody>
          <a:bodyPr/>
          <a:lstStyle/>
          <a:p>
            <a:endParaRPr lang="en-KE"/>
          </a:p>
        </p:txBody>
      </p:sp>
      <p:sp>
        <p:nvSpPr>
          <p:cNvPr id="21" name="Text 19"/>
          <p:cNvSpPr/>
          <p:nvPr/>
        </p:nvSpPr>
        <p:spPr>
          <a:xfrm>
            <a:off x="41148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Compliance Framework</a:t>
            </a:r>
            <a:endParaRPr lang="en-US" sz="1400" dirty="0"/>
          </a:p>
        </p:txBody>
      </p:sp>
      <p:sp>
        <p:nvSpPr>
          <p:cNvPr id="22" name="Text 20"/>
          <p:cNvSpPr/>
          <p:nvPr/>
        </p:nvSpPr>
        <p:spPr>
          <a:xfrm>
            <a:off x="411480" y="363016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Kenya Data Protection Act 2019 compliance</a:t>
            </a:r>
            <a:endParaRPr lang="en-US" sz="1050" dirty="0"/>
          </a:p>
        </p:txBody>
      </p:sp>
      <p:sp>
        <p:nvSpPr>
          <p:cNvPr id="23" name="Text 21"/>
          <p:cNvSpPr/>
          <p:nvPr/>
        </p:nvSpPr>
        <p:spPr>
          <a:xfrm>
            <a:off x="411480" y="398678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HIPAA-equivalent standards for donor funding</a:t>
            </a:r>
            <a:endParaRPr lang="en-US" sz="1050" dirty="0"/>
          </a:p>
        </p:txBody>
      </p:sp>
      <p:sp>
        <p:nvSpPr>
          <p:cNvPr id="24" name="Text 22"/>
          <p:cNvSpPr/>
          <p:nvPr/>
        </p:nvSpPr>
        <p:spPr>
          <a:xfrm>
            <a:off x="411480" y="434340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GDPR considerations for international research</a:t>
            </a:r>
            <a:endParaRPr lang="en-US" sz="1050" dirty="0"/>
          </a:p>
        </p:txBody>
      </p:sp>
      <p:sp>
        <p:nvSpPr>
          <p:cNvPr id="25" name="Text 23"/>
          <p:cNvSpPr/>
          <p:nvPr/>
        </p:nvSpPr>
        <p:spPr>
          <a:xfrm>
            <a:off x="411480" y="470001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Audit logs for every data access event</a:t>
            </a:r>
            <a:endParaRPr lang="en-US" sz="1050" dirty="0"/>
          </a:p>
        </p:txBody>
      </p:sp>
      <p:sp>
        <p:nvSpPr>
          <p:cNvPr id="26" name="Shape 24"/>
          <p:cNvSpPr/>
          <p:nvPr/>
        </p:nvSpPr>
        <p:spPr>
          <a:xfrm>
            <a:off x="4754880" y="3108960"/>
            <a:ext cx="4206240" cy="2011680"/>
          </a:xfrm>
          <a:prstGeom prst="rect">
            <a:avLst/>
          </a:prstGeom>
          <a:solidFill>
            <a:srgbClr val="FFFFFF"/>
          </a:solidFill>
          <a:ln w="12700">
            <a:solidFill>
              <a:srgbClr val="00A896"/>
            </a:solidFill>
            <a:prstDash val="solid"/>
          </a:ln>
          <a:effectLst>
            <a:outerShdw blurRad="76200" dist="25400" dir="8100000" algn="bl" rotWithShape="0">
              <a:srgbClr val="000000">
                <a:alpha val="10000"/>
              </a:srgbClr>
            </a:outerShdw>
          </a:effectLst>
        </p:spPr>
        <p:txBody>
          <a:bodyPr/>
          <a:lstStyle/>
          <a:p>
            <a:endParaRPr lang="en-KE"/>
          </a:p>
        </p:txBody>
      </p:sp>
      <p:sp>
        <p:nvSpPr>
          <p:cNvPr id="27" name="Shape 25"/>
          <p:cNvSpPr/>
          <p:nvPr/>
        </p:nvSpPr>
        <p:spPr>
          <a:xfrm>
            <a:off x="4754880" y="3108960"/>
            <a:ext cx="4206240" cy="475488"/>
          </a:xfrm>
          <a:prstGeom prst="rect">
            <a:avLst/>
          </a:prstGeom>
          <a:solidFill>
            <a:srgbClr val="028090"/>
          </a:solidFill>
          <a:ln w="12700">
            <a:solidFill>
              <a:srgbClr val="028090"/>
            </a:solidFill>
            <a:prstDash val="solid"/>
          </a:ln>
        </p:spPr>
        <p:txBody>
          <a:bodyPr/>
          <a:lstStyle/>
          <a:p>
            <a:endParaRPr lang="en-KE"/>
          </a:p>
        </p:txBody>
      </p:sp>
      <p:sp>
        <p:nvSpPr>
          <p:cNvPr id="28" name="Text 26"/>
          <p:cNvSpPr/>
          <p:nvPr/>
        </p:nvSpPr>
        <p:spPr>
          <a:xfrm>
            <a:off x="484632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Data Quality</a:t>
            </a:r>
            <a:endParaRPr lang="en-US" sz="1400" dirty="0"/>
          </a:p>
        </p:txBody>
      </p:sp>
      <p:sp>
        <p:nvSpPr>
          <p:cNvPr id="29" name="Text 27"/>
          <p:cNvSpPr/>
          <p:nvPr/>
        </p:nvSpPr>
        <p:spPr>
          <a:xfrm>
            <a:off x="4846320" y="3630168"/>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Great Expectations for automated validation</a:t>
            </a:r>
            <a:endParaRPr lang="en-US" sz="1050" dirty="0"/>
          </a:p>
        </p:txBody>
      </p:sp>
      <p:sp>
        <p:nvSpPr>
          <p:cNvPr id="30" name="Text 28"/>
          <p:cNvSpPr/>
          <p:nvPr/>
        </p:nvSpPr>
        <p:spPr>
          <a:xfrm>
            <a:off x="4846320" y="3986784"/>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Duplicate patient record detection (MPI)</a:t>
            </a:r>
            <a:endParaRPr lang="en-US" sz="1050" dirty="0"/>
          </a:p>
        </p:txBody>
      </p:sp>
      <p:sp>
        <p:nvSpPr>
          <p:cNvPr id="31" name="Text 29"/>
          <p:cNvSpPr/>
          <p:nvPr/>
        </p:nvSpPr>
        <p:spPr>
          <a:xfrm>
            <a:off x="4846320" y="4343400"/>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Completeness monitoring by facility &amp; county</a:t>
            </a:r>
            <a:endParaRPr lang="en-US" sz="1050" dirty="0"/>
          </a:p>
        </p:txBody>
      </p:sp>
      <p:sp>
        <p:nvSpPr>
          <p:cNvPr id="32" name="Text 30"/>
          <p:cNvSpPr/>
          <p:nvPr/>
        </p:nvSpPr>
        <p:spPr>
          <a:xfrm>
            <a:off x="4846320" y="4700016"/>
            <a:ext cx="4041648" cy="329184"/>
          </a:xfrm>
          <a:prstGeom prst="rect">
            <a:avLst/>
          </a:prstGeom>
          <a:noFill/>
          <a:ln/>
        </p:spPr>
        <p:txBody>
          <a:bodyPr wrap="square" lIns="0" tIns="0" rIns="0" bIns="0" rtlCol="0" anchor="ctr"/>
          <a:lstStyle/>
          <a:p>
            <a:pPr marL="0" indent="0">
              <a:buNone/>
            </a:pPr>
            <a:r>
              <a:rPr lang="en-US" sz="1050" b="1" dirty="0">
                <a:solidFill>
                  <a:srgbClr val="02C39A"/>
                </a:solidFill>
                <a:latin typeface="Calibri" pitchFamily="34" charset="0"/>
                <a:ea typeface="Calibri" pitchFamily="34" charset="-122"/>
                <a:cs typeface="Calibri" pitchFamily="34" charset="-120"/>
              </a:rPr>
              <a:t>·  </a:t>
            </a:r>
            <a:r>
              <a:rPr lang="en-US" sz="1050" dirty="0">
                <a:solidFill>
                  <a:srgbClr val="1A1A2E"/>
                </a:solidFill>
                <a:latin typeface="Calibri" pitchFamily="34" charset="0"/>
                <a:ea typeface="Calibri" pitchFamily="34" charset="-122"/>
                <a:cs typeface="Calibri" pitchFamily="34" charset="-120"/>
              </a:rPr>
              <a:t>Data lineage tracking via Apache Atlas</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C00000"/>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Implementation Roadmap: 18-Month Plan</a:t>
            </a:r>
            <a:endParaRPr lang="en-US" sz="2400" dirty="0"/>
          </a:p>
        </p:txBody>
      </p:sp>
      <p:sp>
        <p:nvSpPr>
          <p:cNvPr id="5" name="Shape 3"/>
          <p:cNvSpPr/>
          <p:nvPr/>
        </p:nvSpPr>
        <p:spPr>
          <a:xfrm>
            <a:off x="32004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2743200" cy="658368"/>
          </a:xfrm>
          <a:prstGeom prst="rect">
            <a:avLst/>
          </a:prstGeom>
          <a:solidFill>
            <a:srgbClr val="F0C040"/>
          </a:solidFill>
          <a:ln w="12700">
            <a:solidFill>
              <a:srgbClr val="F0C040"/>
            </a:solidFill>
            <a:prstDash val="solid"/>
          </a:ln>
        </p:spPr>
        <p:txBody>
          <a:bodyPr/>
          <a:lstStyle/>
          <a:p>
            <a:endParaRPr lang="en-KE"/>
          </a:p>
        </p:txBody>
      </p:sp>
      <p:sp>
        <p:nvSpPr>
          <p:cNvPr id="7" name="Text 5"/>
          <p:cNvSpPr/>
          <p:nvPr/>
        </p:nvSpPr>
        <p:spPr>
          <a:xfrm>
            <a:off x="411480" y="960120"/>
            <a:ext cx="2578608" cy="384048"/>
          </a:xfrm>
          <a:prstGeom prst="rect">
            <a:avLst/>
          </a:prstGeom>
          <a:noFill/>
          <a:ln/>
        </p:spPr>
        <p:txBody>
          <a:bodyPr wrap="square" lIns="0" tIns="0" rIns="0" bIns="0" rtlCol="0" anchor="ctr"/>
          <a:lstStyle/>
          <a:p>
            <a:pPr marL="0" indent="0">
              <a:buNone/>
            </a:pPr>
            <a:r>
              <a:rPr lang="en-US" sz="1400" b="1" dirty="0">
                <a:solidFill>
                  <a:srgbClr val="1A1A2E"/>
                </a:solidFill>
                <a:latin typeface="Georgia" pitchFamily="34" charset="0"/>
                <a:ea typeface="Georgia" pitchFamily="34" charset="-122"/>
                <a:cs typeface="Georgia" pitchFamily="34" charset="-120"/>
              </a:rPr>
              <a:t>Phase 1: Foundation</a:t>
            </a:r>
            <a:endParaRPr lang="en-US" sz="1400" dirty="0"/>
          </a:p>
        </p:txBody>
      </p:sp>
      <p:sp>
        <p:nvSpPr>
          <p:cNvPr id="8" name="Text 6"/>
          <p:cNvSpPr/>
          <p:nvPr/>
        </p:nvSpPr>
        <p:spPr>
          <a:xfrm>
            <a:off x="411480" y="1325880"/>
            <a:ext cx="2578608" cy="256032"/>
          </a:xfrm>
          <a:prstGeom prst="rect">
            <a:avLst/>
          </a:prstGeom>
          <a:noFill/>
          <a:ln/>
        </p:spPr>
        <p:txBody>
          <a:bodyPr wrap="square" lIns="0" tIns="0" rIns="0" bIns="0" rtlCol="0" anchor="ctr"/>
          <a:lstStyle/>
          <a:p>
            <a:pPr marL="0" indent="0">
              <a:buNone/>
            </a:pPr>
            <a:r>
              <a:rPr lang="en-US" sz="1100" i="1" dirty="0">
                <a:solidFill>
                  <a:srgbClr val="555555"/>
                </a:solidFill>
                <a:latin typeface="Calibri" pitchFamily="34" charset="0"/>
                <a:ea typeface="Calibri" pitchFamily="34" charset="-122"/>
                <a:cs typeface="Calibri" pitchFamily="34" charset="-120"/>
              </a:rPr>
              <a:t>Months 1–3</a:t>
            </a:r>
            <a:endParaRPr lang="en-US" sz="1100" dirty="0"/>
          </a:p>
        </p:txBody>
      </p:sp>
      <p:sp>
        <p:nvSpPr>
          <p:cNvPr id="9" name="Text 7"/>
          <p:cNvSpPr/>
          <p:nvPr/>
        </p:nvSpPr>
        <p:spPr>
          <a:xfrm>
            <a:off x="429768" y="170078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Cloud infrastructure setup (ADLS, ADF)</a:t>
            </a:r>
            <a:endParaRPr lang="en-US" sz="1100" dirty="0"/>
          </a:p>
        </p:txBody>
      </p:sp>
      <p:sp>
        <p:nvSpPr>
          <p:cNvPr id="10" name="Text 8"/>
          <p:cNvSpPr/>
          <p:nvPr/>
        </p:nvSpPr>
        <p:spPr>
          <a:xfrm>
            <a:off x="429768" y="247802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Data governance framework &amp; policies</a:t>
            </a:r>
            <a:endParaRPr lang="en-US" sz="1100" dirty="0"/>
          </a:p>
        </p:txBody>
      </p:sp>
      <p:sp>
        <p:nvSpPr>
          <p:cNvPr id="11" name="Text 9"/>
          <p:cNvSpPr/>
          <p:nvPr/>
        </p:nvSpPr>
        <p:spPr>
          <a:xfrm>
            <a:off x="429768" y="325526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Pilot with 2 counties (Nairobi, Mombasa)</a:t>
            </a:r>
            <a:endParaRPr lang="en-US" sz="1100" dirty="0"/>
          </a:p>
        </p:txBody>
      </p:sp>
      <p:sp>
        <p:nvSpPr>
          <p:cNvPr id="12" name="Text 10"/>
          <p:cNvSpPr/>
          <p:nvPr/>
        </p:nvSpPr>
        <p:spPr>
          <a:xfrm>
            <a:off x="429768" y="4032504"/>
            <a:ext cx="2542032" cy="685800"/>
          </a:xfrm>
          <a:prstGeom prst="rect">
            <a:avLst/>
          </a:prstGeom>
          <a:noFill/>
          <a:ln/>
        </p:spPr>
        <p:txBody>
          <a:bodyPr wrap="square" lIns="0" tIns="0" rIns="0" bIns="0" rtlCol="0" anchor="ctr"/>
          <a:lstStyle/>
          <a:p>
            <a:pPr marL="0" indent="0">
              <a:buNone/>
            </a:pPr>
            <a:r>
              <a:rPr lang="en-US" sz="1100" b="1" dirty="0">
                <a:solidFill>
                  <a:srgbClr val="F0C04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EHR and lab data ingestion connectors</a:t>
            </a:r>
            <a:endParaRPr lang="en-US" sz="1100" dirty="0"/>
          </a:p>
        </p:txBody>
      </p:sp>
      <p:sp>
        <p:nvSpPr>
          <p:cNvPr id="13" name="Shape 11"/>
          <p:cNvSpPr/>
          <p:nvPr/>
        </p:nvSpPr>
        <p:spPr>
          <a:xfrm>
            <a:off x="320040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4" name="Shape 12"/>
          <p:cNvSpPr/>
          <p:nvPr/>
        </p:nvSpPr>
        <p:spPr>
          <a:xfrm>
            <a:off x="3200400" y="960120"/>
            <a:ext cx="2743200" cy="658368"/>
          </a:xfrm>
          <a:prstGeom prst="rect">
            <a:avLst/>
          </a:prstGeom>
          <a:solidFill>
            <a:srgbClr val="028090"/>
          </a:solidFill>
          <a:ln w="12700">
            <a:solidFill>
              <a:srgbClr val="028090"/>
            </a:solidFill>
            <a:prstDash val="solid"/>
          </a:ln>
        </p:spPr>
        <p:txBody>
          <a:bodyPr/>
          <a:lstStyle/>
          <a:p>
            <a:endParaRPr lang="en-KE"/>
          </a:p>
        </p:txBody>
      </p:sp>
      <p:sp>
        <p:nvSpPr>
          <p:cNvPr id="15" name="Text 13"/>
          <p:cNvSpPr/>
          <p:nvPr/>
        </p:nvSpPr>
        <p:spPr>
          <a:xfrm>
            <a:off x="3291840" y="960120"/>
            <a:ext cx="2578608" cy="38404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2: Scale &amp; Enrich</a:t>
            </a:r>
            <a:endParaRPr lang="en-US" sz="1400" dirty="0"/>
          </a:p>
        </p:txBody>
      </p:sp>
      <p:sp>
        <p:nvSpPr>
          <p:cNvPr id="16" name="Text 14"/>
          <p:cNvSpPr/>
          <p:nvPr/>
        </p:nvSpPr>
        <p:spPr>
          <a:xfrm>
            <a:off x="3291840" y="1325880"/>
            <a:ext cx="2578608" cy="256032"/>
          </a:xfrm>
          <a:prstGeom prst="rect">
            <a:avLst/>
          </a:prstGeom>
          <a:noFill/>
          <a:ln/>
        </p:spPr>
        <p:txBody>
          <a:bodyPr wrap="square" lIns="0" tIns="0" rIns="0" bIns="0" rtlCol="0" anchor="ctr"/>
          <a:lstStyle/>
          <a:p>
            <a:pPr marL="0" indent="0">
              <a:buNone/>
            </a:pPr>
            <a:r>
              <a:rPr lang="en-US" sz="1100" i="1" dirty="0">
                <a:solidFill>
                  <a:srgbClr val="CCFFEE"/>
                </a:solidFill>
                <a:latin typeface="Calibri" pitchFamily="34" charset="0"/>
                <a:ea typeface="Calibri" pitchFamily="34" charset="-122"/>
                <a:cs typeface="Calibri" pitchFamily="34" charset="-120"/>
              </a:rPr>
              <a:t>Months 4–9</a:t>
            </a:r>
            <a:endParaRPr lang="en-US" sz="1100" dirty="0"/>
          </a:p>
        </p:txBody>
      </p:sp>
      <p:sp>
        <p:nvSpPr>
          <p:cNvPr id="17" name="Text 15"/>
          <p:cNvSpPr/>
          <p:nvPr/>
        </p:nvSpPr>
        <p:spPr>
          <a:xfrm>
            <a:off x="3310128" y="170078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Roll out to all 47 counties</a:t>
            </a:r>
            <a:endParaRPr lang="en-US" sz="1100" dirty="0"/>
          </a:p>
        </p:txBody>
      </p:sp>
      <p:sp>
        <p:nvSpPr>
          <p:cNvPr id="18" name="Text 16"/>
          <p:cNvSpPr/>
          <p:nvPr/>
        </p:nvSpPr>
        <p:spPr>
          <a:xfrm>
            <a:off x="3310128" y="247802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Add CHW mobile data &amp; vaccination registry</a:t>
            </a:r>
            <a:endParaRPr lang="en-US" sz="1100" dirty="0"/>
          </a:p>
        </p:txBody>
      </p:sp>
      <p:sp>
        <p:nvSpPr>
          <p:cNvPr id="19" name="Text 17"/>
          <p:cNvSpPr/>
          <p:nvPr/>
        </p:nvSpPr>
        <p:spPr>
          <a:xfrm>
            <a:off x="3310128" y="325526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Bronze → Silver processing pipelines</a:t>
            </a:r>
            <a:endParaRPr lang="en-US" sz="1100" dirty="0"/>
          </a:p>
        </p:txBody>
      </p:sp>
      <p:sp>
        <p:nvSpPr>
          <p:cNvPr id="20" name="Text 18"/>
          <p:cNvSpPr/>
          <p:nvPr/>
        </p:nvSpPr>
        <p:spPr>
          <a:xfrm>
            <a:off x="3310128" y="4032504"/>
            <a:ext cx="2542032" cy="685800"/>
          </a:xfrm>
          <a:prstGeom prst="rect">
            <a:avLst/>
          </a:prstGeom>
          <a:noFill/>
          <a:ln/>
        </p:spPr>
        <p:txBody>
          <a:bodyPr wrap="square" lIns="0" tIns="0" rIns="0" bIns="0" rtlCol="0" anchor="ctr"/>
          <a:lstStyle/>
          <a:p>
            <a:pPr marL="0" indent="0">
              <a:buNone/>
            </a:pPr>
            <a:r>
              <a:rPr lang="en-US" sz="1100" b="1" dirty="0">
                <a:solidFill>
                  <a:srgbClr val="028090"/>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DHIS2 integration &amp; dashboards live</a:t>
            </a:r>
            <a:endParaRPr lang="en-US" sz="1100" dirty="0"/>
          </a:p>
        </p:txBody>
      </p:sp>
      <p:sp>
        <p:nvSpPr>
          <p:cNvPr id="21" name="Shape 19"/>
          <p:cNvSpPr/>
          <p:nvPr/>
        </p:nvSpPr>
        <p:spPr>
          <a:xfrm>
            <a:off x="6080760" y="960120"/>
            <a:ext cx="2743200" cy="402336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2" name="Shape 20"/>
          <p:cNvSpPr/>
          <p:nvPr/>
        </p:nvSpPr>
        <p:spPr>
          <a:xfrm>
            <a:off x="6080760" y="960120"/>
            <a:ext cx="2743200" cy="658368"/>
          </a:xfrm>
          <a:prstGeom prst="rect">
            <a:avLst/>
          </a:prstGeom>
          <a:solidFill>
            <a:srgbClr val="0A2342"/>
          </a:solidFill>
          <a:ln w="12700">
            <a:solidFill>
              <a:srgbClr val="0A2342"/>
            </a:solidFill>
            <a:prstDash val="solid"/>
          </a:ln>
        </p:spPr>
        <p:txBody>
          <a:bodyPr/>
          <a:lstStyle/>
          <a:p>
            <a:endParaRPr lang="en-KE"/>
          </a:p>
        </p:txBody>
      </p:sp>
      <p:sp>
        <p:nvSpPr>
          <p:cNvPr id="23" name="Text 21"/>
          <p:cNvSpPr/>
          <p:nvPr/>
        </p:nvSpPr>
        <p:spPr>
          <a:xfrm>
            <a:off x="6172200" y="960120"/>
            <a:ext cx="2578608" cy="38404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Phase 3: Intelligence</a:t>
            </a:r>
            <a:endParaRPr lang="en-US" sz="1400" dirty="0"/>
          </a:p>
        </p:txBody>
      </p:sp>
      <p:sp>
        <p:nvSpPr>
          <p:cNvPr id="24" name="Text 22"/>
          <p:cNvSpPr/>
          <p:nvPr/>
        </p:nvSpPr>
        <p:spPr>
          <a:xfrm>
            <a:off x="6172200" y="1325880"/>
            <a:ext cx="2578608" cy="256032"/>
          </a:xfrm>
          <a:prstGeom prst="rect">
            <a:avLst/>
          </a:prstGeom>
          <a:noFill/>
          <a:ln/>
        </p:spPr>
        <p:txBody>
          <a:bodyPr wrap="square" lIns="0" tIns="0" rIns="0" bIns="0" rtlCol="0" anchor="ctr"/>
          <a:lstStyle/>
          <a:p>
            <a:pPr marL="0" indent="0">
              <a:buNone/>
            </a:pPr>
            <a:r>
              <a:rPr lang="en-US" sz="1100" i="1" dirty="0">
                <a:solidFill>
                  <a:srgbClr val="CCFFEE"/>
                </a:solidFill>
                <a:latin typeface="Calibri" pitchFamily="34" charset="0"/>
                <a:ea typeface="Calibri" pitchFamily="34" charset="-122"/>
                <a:cs typeface="Calibri" pitchFamily="34" charset="-120"/>
              </a:rPr>
              <a:t>Months 10–18</a:t>
            </a:r>
            <a:endParaRPr lang="en-US" sz="1100" dirty="0"/>
          </a:p>
        </p:txBody>
      </p:sp>
      <p:sp>
        <p:nvSpPr>
          <p:cNvPr id="25" name="Text 23"/>
          <p:cNvSpPr/>
          <p:nvPr/>
        </p:nvSpPr>
        <p:spPr>
          <a:xfrm>
            <a:off x="6190488" y="170078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Gold layer ML feature store</a:t>
            </a:r>
            <a:endParaRPr lang="en-US" sz="1100" dirty="0"/>
          </a:p>
        </p:txBody>
      </p:sp>
      <p:sp>
        <p:nvSpPr>
          <p:cNvPr id="26" name="Text 24"/>
          <p:cNvSpPr/>
          <p:nvPr/>
        </p:nvSpPr>
        <p:spPr>
          <a:xfrm>
            <a:off x="6190488" y="247802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Outbreak detection ML model deployment</a:t>
            </a:r>
            <a:endParaRPr lang="en-US" sz="1100" dirty="0"/>
          </a:p>
        </p:txBody>
      </p:sp>
      <p:sp>
        <p:nvSpPr>
          <p:cNvPr id="27" name="Text 25"/>
          <p:cNvSpPr/>
          <p:nvPr/>
        </p:nvSpPr>
        <p:spPr>
          <a:xfrm>
            <a:off x="6190488" y="325526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Self-service analytics for county teams</a:t>
            </a:r>
            <a:endParaRPr lang="en-US" sz="1100" dirty="0"/>
          </a:p>
        </p:txBody>
      </p:sp>
      <p:sp>
        <p:nvSpPr>
          <p:cNvPr id="28" name="Text 26"/>
          <p:cNvSpPr/>
          <p:nvPr/>
        </p:nvSpPr>
        <p:spPr>
          <a:xfrm>
            <a:off x="6190488" y="4032504"/>
            <a:ext cx="2542032" cy="685800"/>
          </a:xfrm>
          <a:prstGeom prst="rect">
            <a:avLst/>
          </a:prstGeom>
          <a:noFill/>
          <a:ln/>
        </p:spPr>
        <p:txBody>
          <a:bodyPr wrap="square" lIns="0" tIns="0" rIns="0" bIns="0" rtlCol="0" anchor="ctr"/>
          <a:lstStyle/>
          <a:p>
            <a:pPr marL="0" indent="0">
              <a:buNone/>
            </a:pPr>
            <a:r>
              <a:rPr lang="en-US" sz="1100" b="1" dirty="0">
                <a:solidFill>
                  <a:srgbClr val="0A2342"/>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Remote sensing &amp; environmental data layer</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4F7F6"/>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A2342"/>
          </a:solidFill>
          <a:ln w="12700">
            <a:solidFill>
              <a:srgbClr val="0A2342"/>
            </a:solidFill>
            <a:prstDash val="solid"/>
          </a:ln>
        </p:spPr>
        <p:txBody>
          <a:bodyPr/>
          <a:lstStyle/>
          <a:p>
            <a:endParaRPr lang="en-KE"/>
          </a:p>
        </p:txBody>
      </p:sp>
      <p:sp>
        <p:nvSpPr>
          <p:cNvPr id="3" name="Shape 1"/>
          <p:cNvSpPr/>
          <p:nvPr/>
        </p:nvSpPr>
        <p:spPr>
          <a:xfrm>
            <a:off x="0" y="0"/>
            <a:ext cx="109728" cy="868680"/>
          </a:xfrm>
          <a:prstGeom prst="rect">
            <a:avLst/>
          </a:prstGeom>
          <a:solidFill>
            <a:srgbClr val="02C39A"/>
          </a:solidFill>
          <a:ln w="12700">
            <a:solidFill>
              <a:srgbClr val="02C39A"/>
            </a:solidFill>
            <a:prstDash val="solid"/>
          </a:ln>
        </p:spPr>
        <p:txBody>
          <a:bodyPr/>
          <a:lstStyle/>
          <a:p>
            <a:endParaRPr lang="en-KE"/>
          </a:p>
        </p:txBody>
      </p:sp>
      <p:sp>
        <p:nvSpPr>
          <p:cNvPr id="4" name="Text 2"/>
          <p:cNvSpPr/>
          <p:nvPr/>
        </p:nvSpPr>
        <p:spPr>
          <a:xfrm>
            <a:off x="228600" y="73152"/>
            <a:ext cx="8686800" cy="731520"/>
          </a:xfrm>
          <a:prstGeom prst="rect">
            <a:avLst/>
          </a:prstGeom>
          <a:noFill/>
          <a:ln/>
        </p:spPr>
        <p:txBody>
          <a:bodyPr wrap="square" lIns="0" tIns="0" rIns="0" bIns="0" rtlCol="0" anchor="ctr"/>
          <a:lstStyle/>
          <a:p>
            <a:pPr marL="0" indent="0">
              <a:buNone/>
            </a:pPr>
            <a:r>
              <a:rPr lang="en-US" sz="2400" b="1" dirty="0">
                <a:solidFill>
                  <a:srgbClr val="FFFFFF"/>
                </a:solidFill>
                <a:latin typeface="Georgia" pitchFamily="34" charset="0"/>
                <a:ea typeface="Georgia" pitchFamily="34" charset="-122"/>
                <a:cs typeface="Georgia" pitchFamily="34" charset="-120"/>
              </a:rPr>
              <a:t>Expected Outcomes &amp; Impact</a:t>
            </a:r>
            <a:endParaRPr lang="en-US" sz="2400" dirty="0"/>
          </a:p>
        </p:txBody>
      </p:sp>
      <p:sp>
        <p:nvSpPr>
          <p:cNvPr id="5" name="Shape 3"/>
          <p:cNvSpPr/>
          <p:nvPr/>
        </p:nvSpPr>
        <p:spPr>
          <a:xfrm>
            <a:off x="320040" y="96012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6" name="Shape 4"/>
          <p:cNvSpPr/>
          <p:nvPr/>
        </p:nvSpPr>
        <p:spPr>
          <a:xfrm>
            <a:off x="320040" y="960120"/>
            <a:ext cx="4206240" cy="475488"/>
          </a:xfrm>
          <a:prstGeom prst="rect">
            <a:avLst/>
          </a:prstGeom>
          <a:solidFill>
            <a:srgbClr val="0A2342"/>
          </a:solidFill>
          <a:ln w="12700">
            <a:solidFill>
              <a:srgbClr val="0A2342"/>
            </a:solidFill>
            <a:prstDash val="solid"/>
          </a:ln>
        </p:spPr>
        <p:txBody>
          <a:bodyPr/>
          <a:lstStyle/>
          <a:p>
            <a:endParaRPr lang="en-KE"/>
          </a:p>
        </p:txBody>
      </p:sp>
      <p:sp>
        <p:nvSpPr>
          <p:cNvPr id="7" name="Text 5"/>
          <p:cNvSpPr/>
          <p:nvPr/>
        </p:nvSpPr>
        <p:spPr>
          <a:xfrm>
            <a:off x="41148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Operational Outcomes</a:t>
            </a:r>
            <a:endParaRPr lang="en-US" sz="1400" dirty="0"/>
          </a:p>
        </p:txBody>
      </p:sp>
      <p:sp>
        <p:nvSpPr>
          <p:cNvPr id="8" name="Text 6"/>
          <p:cNvSpPr/>
          <p:nvPr/>
        </p:nvSpPr>
        <p:spPr>
          <a:xfrm>
            <a:off x="411480" y="149047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Outbreak detection time: weeks → hours</a:t>
            </a:r>
            <a:endParaRPr lang="en-US" sz="1100" dirty="0"/>
          </a:p>
        </p:txBody>
      </p:sp>
      <p:sp>
        <p:nvSpPr>
          <p:cNvPr id="9" name="Text 7"/>
          <p:cNvSpPr/>
          <p:nvPr/>
        </p:nvSpPr>
        <p:spPr>
          <a:xfrm>
            <a:off x="411480" y="196596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Unified patient view across 47 counties</a:t>
            </a:r>
            <a:endParaRPr lang="en-US" sz="1100" dirty="0"/>
          </a:p>
        </p:txBody>
      </p:sp>
      <p:sp>
        <p:nvSpPr>
          <p:cNvPr id="10" name="Text 8"/>
          <p:cNvSpPr/>
          <p:nvPr/>
        </p:nvSpPr>
        <p:spPr>
          <a:xfrm>
            <a:off x="411480" y="244144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Automated weekly disease reports (was manual)</a:t>
            </a:r>
            <a:endParaRPr lang="en-US" sz="1100" dirty="0"/>
          </a:p>
        </p:txBody>
      </p:sp>
      <p:sp>
        <p:nvSpPr>
          <p:cNvPr id="11" name="Shape 9"/>
          <p:cNvSpPr/>
          <p:nvPr/>
        </p:nvSpPr>
        <p:spPr>
          <a:xfrm>
            <a:off x="4754880" y="96012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2" name="Shape 10"/>
          <p:cNvSpPr/>
          <p:nvPr/>
        </p:nvSpPr>
        <p:spPr>
          <a:xfrm>
            <a:off x="4754880" y="960120"/>
            <a:ext cx="4206240" cy="475488"/>
          </a:xfrm>
          <a:prstGeom prst="rect">
            <a:avLst/>
          </a:prstGeom>
          <a:solidFill>
            <a:srgbClr val="028090"/>
          </a:solidFill>
          <a:ln w="12700">
            <a:solidFill>
              <a:srgbClr val="028090"/>
            </a:solidFill>
            <a:prstDash val="solid"/>
          </a:ln>
        </p:spPr>
        <p:txBody>
          <a:bodyPr/>
          <a:lstStyle/>
          <a:p>
            <a:endParaRPr lang="en-KE"/>
          </a:p>
        </p:txBody>
      </p:sp>
      <p:sp>
        <p:nvSpPr>
          <p:cNvPr id="13" name="Text 11"/>
          <p:cNvSpPr/>
          <p:nvPr/>
        </p:nvSpPr>
        <p:spPr>
          <a:xfrm>
            <a:off x="4846320" y="96012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Clinical Outcomes</a:t>
            </a:r>
            <a:endParaRPr lang="en-US" sz="1400" dirty="0"/>
          </a:p>
        </p:txBody>
      </p:sp>
      <p:sp>
        <p:nvSpPr>
          <p:cNvPr id="14" name="Text 12"/>
          <p:cNvSpPr/>
          <p:nvPr/>
        </p:nvSpPr>
        <p:spPr>
          <a:xfrm>
            <a:off x="4846320" y="149047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Better tracking of chronic disease patients</a:t>
            </a:r>
            <a:endParaRPr lang="en-US" sz="1100" dirty="0"/>
          </a:p>
        </p:txBody>
      </p:sp>
      <p:sp>
        <p:nvSpPr>
          <p:cNvPr id="15" name="Text 13"/>
          <p:cNvSpPr/>
          <p:nvPr/>
        </p:nvSpPr>
        <p:spPr>
          <a:xfrm>
            <a:off x="4846320" y="196596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Improved vaccine coverage monitoring</a:t>
            </a:r>
            <a:endParaRPr lang="en-US" sz="1100" dirty="0"/>
          </a:p>
        </p:txBody>
      </p:sp>
      <p:sp>
        <p:nvSpPr>
          <p:cNvPr id="16" name="Text 14"/>
          <p:cNvSpPr/>
          <p:nvPr/>
        </p:nvSpPr>
        <p:spPr>
          <a:xfrm>
            <a:off x="4846320" y="244144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Real-time ICU/bed capacity visibility</a:t>
            </a:r>
            <a:endParaRPr lang="en-US" sz="1100" dirty="0"/>
          </a:p>
        </p:txBody>
      </p:sp>
      <p:sp>
        <p:nvSpPr>
          <p:cNvPr id="17" name="Shape 15"/>
          <p:cNvSpPr/>
          <p:nvPr/>
        </p:nvSpPr>
        <p:spPr>
          <a:xfrm>
            <a:off x="320040" y="310896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18" name="Shape 16"/>
          <p:cNvSpPr/>
          <p:nvPr/>
        </p:nvSpPr>
        <p:spPr>
          <a:xfrm>
            <a:off x="320040" y="3108960"/>
            <a:ext cx="4206240" cy="475488"/>
          </a:xfrm>
          <a:prstGeom prst="rect">
            <a:avLst/>
          </a:prstGeom>
          <a:solidFill>
            <a:srgbClr val="0A2342"/>
          </a:solidFill>
          <a:ln w="12700">
            <a:solidFill>
              <a:srgbClr val="0A2342"/>
            </a:solidFill>
            <a:prstDash val="solid"/>
          </a:ln>
        </p:spPr>
        <p:txBody>
          <a:bodyPr/>
          <a:lstStyle/>
          <a:p>
            <a:endParaRPr lang="en-KE"/>
          </a:p>
        </p:txBody>
      </p:sp>
      <p:sp>
        <p:nvSpPr>
          <p:cNvPr id="19" name="Text 17"/>
          <p:cNvSpPr/>
          <p:nvPr/>
        </p:nvSpPr>
        <p:spPr>
          <a:xfrm>
            <a:off x="41148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Policy Outcomes</a:t>
            </a:r>
            <a:endParaRPr lang="en-US" sz="1400" dirty="0"/>
          </a:p>
        </p:txBody>
      </p:sp>
      <p:sp>
        <p:nvSpPr>
          <p:cNvPr id="20" name="Text 18"/>
          <p:cNvSpPr/>
          <p:nvPr/>
        </p:nvSpPr>
        <p:spPr>
          <a:xfrm>
            <a:off x="411480" y="363931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Evidence-based budget allocation</a:t>
            </a:r>
            <a:endParaRPr lang="en-US" sz="1100" dirty="0"/>
          </a:p>
        </p:txBody>
      </p:sp>
      <p:sp>
        <p:nvSpPr>
          <p:cNvPr id="21" name="Text 19"/>
          <p:cNvSpPr/>
          <p:nvPr/>
        </p:nvSpPr>
        <p:spPr>
          <a:xfrm>
            <a:off x="411480" y="411480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County-level health equity analysis</a:t>
            </a:r>
            <a:endParaRPr lang="en-US" sz="1100" dirty="0"/>
          </a:p>
        </p:txBody>
      </p:sp>
      <p:sp>
        <p:nvSpPr>
          <p:cNvPr id="22" name="Text 20"/>
          <p:cNvSpPr/>
          <p:nvPr/>
        </p:nvSpPr>
        <p:spPr>
          <a:xfrm>
            <a:off x="411480" y="459028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30-year disease trend longitudinal studies</a:t>
            </a:r>
            <a:endParaRPr lang="en-US" sz="1100" dirty="0"/>
          </a:p>
        </p:txBody>
      </p:sp>
      <p:sp>
        <p:nvSpPr>
          <p:cNvPr id="23" name="Shape 21"/>
          <p:cNvSpPr/>
          <p:nvPr/>
        </p:nvSpPr>
        <p:spPr>
          <a:xfrm>
            <a:off x="4754880" y="3108960"/>
            <a:ext cx="4206240" cy="2011680"/>
          </a:xfrm>
          <a:prstGeom prst="rect">
            <a:avLst/>
          </a:prstGeom>
          <a:solidFill>
            <a:srgbClr val="FFFFFF"/>
          </a:solidFill>
          <a:ln w="12700">
            <a:solidFill>
              <a:srgbClr val="E8ECEF"/>
            </a:solidFill>
            <a:prstDash val="solid"/>
          </a:ln>
          <a:effectLst>
            <a:outerShdw blurRad="76200" dist="25400" dir="8100000" algn="bl" rotWithShape="0">
              <a:srgbClr val="000000">
                <a:alpha val="10000"/>
              </a:srgbClr>
            </a:outerShdw>
          </a:effectLst>
        </p:spPr>
        <p:txBody>
          <a:bodyPr/>
          <a:lstStyle/>
          <a:p>
            <a:endParaRPr lang="en-KE"/>
          </a:p>
        </p:txBody>
      </p:sp>
      <p:sp>
        <p:nvSpPr>
          <p:cNvPr id="24" name="Shape 22"/>
          <p:cNvSpPr/>
          <p:nvPr/>
        </p:nvSpPr>
        <p:spPr>
          <a:xfrm>
            <a:off x="4754880" y="3108960"/>
            <a:ext cx="4206240" cy="475488"/>
          </a:xfrm>
          <a:prstGeom prst="rect">
            <a:avLst/>
          </a:prstGeom>
          <a:solidFill>
            <a:srgbClr val="028090"/>
          </a:solidFill>
          <a:ln w="12700">
            <a:solidFill>
              <a:srgbClr val="028090"/>
            </a:solidFill>
            <a:prstDash val="solid"/>
          </a:ln>
        </p:spPr>
        <p:txBody>
          <a:bodyPr/>
          <a:lstStyle/>
          <a:p>
            <a:endParaRPr lang="en-KE"/>
          </a:p>
        </p:txBody>
      </p:sp>
      <p:sp>
        <p:nvSpPr>
          <p:cNvPr id="25" name="Text 23"/>
          <p:cNvSpPr/>
          <p:nvPr/>
        </p:nvSpPr>
        <p:spPr>
          <a:xfrm>
            <a:off x="4846320" y="3108960"/>
            <a:ext cx="4041648" cy="475488"/>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  Research Outcomes</a:t>
            </a:r>
            <a:endParaRPr lang="en-US" sz="1400" dirty="0"/>
          </a:p>
        </p:txBody>
      </p:sp>
      <p:sp>
        <p:nvSpPr>
          <p:cNvPr id="26" name="Text 24"/>
          <p:cNvSpPr/>
          <p:nvPr/>
        </p:nvSpPr>
        <p:spPr>
          <a:xfrm>
            <a:off x="4846320" y="3639312"/>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Anonymized datasets for academic research</a:t>
            </a:r>
            <a:endParaRPr lang="en-US" sz="1100" dirty="0"/>
          </a:p>
        </p:txBody>
      </p:sp>
      <p:sp>
        <p:nvSpPr>
          <p:cNvPr id="27" name="Text 25"/>
          <p:cNvSpPr/>
          <p:nvPr/>
        </p:nvSpPr>
        <p:spPr>
          <a:xfrm>
            <a:off x="4846320" y="4114800"/>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AI models for disease prediction</a:t>
            </a:r>
            <a:endParaRPr lang="en-US" sz="1100" dirty="0"/>
          </a:p>
        </p:txBody>
      </p:sp>
      <p:sp>
        <p:nvSpPr>
          <p:cNvPr id="28" name="Text 26"/>
          <p:cNvSpPr/>
          <p:nvPr/>
        </p:nvSpPr>
        <p:spPr>
          <a:xfrm>
            <a:off x="4846320" y="4590288"/>
            <a:ext cx="4041648" cy="438912"/>
          </a:xfrm>
          <a:prstGeom prst="rect">
            <a:avLst/>
          </a:prstGeom>
          <a:noFill/>
          <a:ln/>
        </p:spPr>
        <p:txBody>
          <a:bodyPr wrap="square" lIns="0" tIns="0" rIns="0" bIns="0" rtlCol="0" anchor="ctr"/>
          <a:lstStyle/>
          <a:p>
            <a:pPr marL="0" indent="0">
              <a:buNone/>
            </a:pPr>
            <a:r>
              <a:rPr lang="en-US" sz="1100" b="1" dirty="0">
                <a:solidFill>
                  <a:srgbClr val="02C39A"/>
                </a:solidFill>
                <a:latin typeface="Calibri" pitchFamily="34" charset="0"/>
                <a:ea typeface="Calibri" pitchFamily="34" charset="-122"/>
                <a:cs typeface="Calibri" pitchFamily="34" charset="-120"/>
              </a:rPr>
              <a:t>✓  </a:t>
            </a:r>
            <a:r>
              <a:rPr lang="en-US" sz="1100" dirty="0">
                <a:solidFill>
                  <a:srgbClr val="1A1A2E"/>
                </a:solidFill>
                <a:latin typeface="Calibri" pitchFamily="34" charset="0"/>
                <a:ea typeface="Calibri" pitchFamily="34" charset="-122"/>
                <a:cs typeface="Calibri" pitchFamily="34" charset="-120"/>
              </a:rPr>
              <a:t>Cross-border disease corridor mapping</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7132320" y="-731520"/>
            <a:ext cx="3200400" cy="3200400"/>
          </a:xfrm>
          <a:prstGeom prst="ellipse">
            <a:avLst/>
          </a:prstGeom>
          <a:solidFill>
            <a:srgbClr val="028090">
              <a:alpha val="25000"/>
            </a:srgbClr>
          </a:solidFill>
          <a:ln w="12700">
            <a:solidFill>
              <a:srgbClr val="028090">
                <a:alpha val="25000"/>
              </a:srgbClr>
            </a:solidFill>
            <a:prstDash val="solid"/>
          </a:ln>
        </p:spPr>
        <p:txBody>
          <a:bodyPr/>
          <a:lstStyle/>
          <a:p>
            <a:endParaRPr lang="en-KE"/>
          </a:p>
        </p:txBody>
      </p:sp>
      <p:sp>
        <p:nvSpPr>
          <p:cNvPr id="5" name="Shape 3"/>
          <p:cNvSpPr/>
          <p:nvPr/>
        </p:nvSpPr>
        <p:spPr>
          <a:xfrm>
            <a:off x="-914400" y="3474720"/>
            <a:ext cx="2743200" cy="2743200"/>
          </a:xfrm>
          <a:prstGeom prst="ellipse">
            <a:avLst/>
          </a:prstGeom>
          <a:solidFill>
            <a:srgbClr val="00A896">
              <a:alpha val="20000"/>
            </a:srgbClr>
          </a:solidFill>
          <a:ln w="12700">
            <a:solidFill>
              <a:srgbClr val="00A896">
                <a:alpha val="20000"/>
              </a:srgbClr>
            </a:solidFill>
            <a:prstDash val="solid"/>
          </a:ln>
        </p:spPr>
        <p:txBody>
          <a:bodyPr/>
          <a:lstStyle/>
          <a:p>
            <a:endParaRPr lang="en-KE"/>
          </a:p>
        </p:txBody>
      </p:sp>
      <p:sp>
        <p:nvSpPr>
          <p:cNvPr id="6" name="Text 4"/>
          <p:cNvSpPr/>
          <p:nvPr/>
        </p:nvSpPr>
        <p:spPr>
          <a:xfrm>
            <a:off x="548640" y="1920240"/>
            <a:ext cx="8046720" cy="1371600"/>
          </a:xfrm>
          <a:prstGeom prst="rect">
            <a:avLst/>
          </a:prstGeom>
          <a:noFill/>
          <a:ln/>
        </p:spPr>
        <p:txBody>
          <a:bodyPr wrap="square" rtlCol="0" anchor="ctr"/>
          <a:lstStyle/>
          <a:p>
            <a:pPr marL="0" indent="0" algn="ctr">
              <a:buNone/>
            </a:pPr>
            <a:r>
              <a:rPr lang="en-US" sz="4200" b="1" dirty="0">
                <a:solidFill>
                  <a:srgbClr val="FFFFFF"/>
                </a:solidFill>
                <a:latin typeface="Georgia" pitchFamily="34" charset="0"/>
                <a:ea typeface="Georgia" pitchFamily="34" charset="-122"/>
                <a:cs typeface="Georgia" pitchFamily="34" charset="-120"/>
              </a:rPr>
              <a:t>Key Takeaways</a:t>
            </a:r>
            <a:endParaRPr lang="en-US" sz="4200" dirty="0"/>
          </a:p>
        </p:txBody>
      </p:sp>
      <p:sp>
        <p:nvSpPr>
          <p:cNvPr id="7" name="Shape 5"/>
          <p:cNvSpPr/>
          <p:nvPr/>
        </p:nvSpPr>
        <p:spPr>
          <a:xfrm>
            <a:off x="457200" y="1005840"/>
            <a:ext cx="8229600" cy="713232"/>
          </a:xfrm>
          <a:prstGeom prst="rect">
            <a:avLst/>
          </a:prstGeom>
          <a:solidFill>
            <a:srgbClr val="C00000">
              <a:alpha val="70000"/>
            </a:srgbClr>
          </a:solidFill>
          <a:ln w="6350">
            <a:solidFill>
              <a:srgbClr val="00A896"/>
            </a:solidFill>
            <a:prstDash val="solid"/>
          </a:ln>
        </p:spPr>
        <p:txBody>
          <a:bodyPr/>
          <a:lstStyle/>
          <a:p>
            <a:endParaRPr lang="en-KE"/>
          </a:p>
        </p:txBody>
      </p:sp>
      <p:sp>
        <p:nvSpPr>
          <p:cNvPr id="8" name="Shape 6"/>
          <p:cNvSpPr/>
          <p:nvPr/>
        </p:nvSpPr>
        <p:spPr>
          <a:xfrm>
            <a:off x="548640" y="1133856"/>
            <a:ext cx="457200" cy="457200"/>
          </a:xfrm>
          <a:prstGeom prst="ellipse">
            <a:avLst/>
          </a:prstGeom>
          <a:solidFill>
            <a:srgbClr val="F0C040"/>
          </a:solidFill>
          <a:ln w="12700">
            <a:solidFill>
              <a:srgbClr val="F0C040"/>
            </a:solidFill>
            <a:prstDash val="solid"/>
          </a:ln>
        </p:spPr>
        <p:txBody>
          <a:bodyPr/>
          <a:lstStyle/>
          <a:p>
            <a:endParaRPr lang="en-KE"/>
          </a:p>
        </p:txBody>
      </p:sp>
      <p:sp>
        <p:nvSpPr>
          <p:cNvPr id="9" name="Text 7"/>
          <p:cNvSpPr/>
          <p:nvPr/>
        </p:nvSpPr>
        <p:spPr>
          <a:xfrm>
            <a:off x="548640" y="1133856"/>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1</a:t>
            </a:r>
            <a:endParaRPr lang="en-US" sz="1400" dirty="0"/>
          </a:p>
        </p:txBody>
      </p:sp>
      <p:sp>
        <p:nvSpPr>
          <p:cNvPr id="10" name="Text 8"/>
          <p:cNvSpPr/>
          <p:nvPr/>
        </p:nvSpPr>
        <p:spPr>
          <a:xfrm>
            <a:off x="1143000" y="1170432"/>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NoSQL Origin: </a:t>
            </a:r>
            <a:endParaRPr lang="en-US" sz="1300" dirty="0"/>
          </a:p>
        </p:txBody>
      </p:sp>
      <p:sp>
        <p:nvSpPr>
          <p:cNvPr id="11" name="Text 9"/>
          <p:cNvSpPr/>
          <p:nvPr/>
        </p:nvSpPr>
        <p:spPr>
          <a:xfrm>
            <a:off x="3017520" y="1170432"/>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Born from internet-scale challenges; not a replacement for SQL but a complement.</a:t>
            </a:r>
            <a:endParaRPr lang="en-US" sz="1200" dirty="0"/>
          </a:p>
        </p:txBody>
      </p:sp>
      <p:sp>
        <p:nvSpPr>
          <p:cNvPr id="12" name="Shape 10"/>
          <p:cNvSpPr/>
          <p:nvPr/>
        </p:nvSpPr>
        <p:spPr>
          <a:xfrm>
            <a:off x="457200" y="1810512"/>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13" name="Shape 11"/>
          <p:cNvSpPr/>
          <p:nvPr/>
        </p:nvSpPr>
        <p:spPr>
          <a:xfrm>
            <a:off x="548640" y="1938528"/>
            <a:ext cx="457200" cy="457200"/>
          </a:xfrm>
          <a:prstGeom prst="ellipse">
            <a:avLst/>
          </a:prstGeom>
          <a:solidFill>
            <a:srgbClr val="F0C040"/>
          </a:solidFill>
          <a:ln w="12700">
            <a:solidFill>
              <a:srgbClr val="F0C040"/>
            </a:solidFill>
            <a:prstDash val="solid"/>
          </a:ln>
        </p:spPr>
        <p:txBody>
          <a:bodyPr/>
          <a:lstStyle/>
          <a:p>
            <a:endParaRPr lang="en-KE"/>
          </a:p>
        </p:txBody>
      </p:sp>
      <p:sp>
        <p:nvSpPr>
          <p:cNvPr id="14" name="Text 12"/>
          <p:cNvSpPr/>
          <p:nvPr/>
        </p:nvSpPr>
        <p:spPr>
          <a:xfrm>
            <a:off x="548640" y="1938528"/>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2</a:t>
            </a:r>
            <a:endParaRPr lang="en-US" sz="1400" dirty="0"/>
          </a:p>
        </p:txBody>
      </p:sp>
      <p:sp>
        <p:nvSpPr>
          <p:cNvPr id="15" name="Text 13"/>
          <p:cNvSpPr/>
          <p:nvPr/>
        </p:nvSpPr>
        <p:spPr>
          <a:xfrm>
            <a:off x="1143000" y="1975104"/>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Model Matters: </a:t>
            </a:r>
            <a:endParaRPr lang="en-US" sz="1300" dirty="0"/>
          </a:p>
        </p:txBody>
      </p:sp>
      <p:sp>
        <p:nvSpPr>
          <p:cNvPr id="16" name="Text 14"/>
          <p:cNvSpPr/>
          <p:nvPr/>
        </p:nvSpPr>
        <p:spPr>
          <a:xfrm>
            <a:off x="3017520" y="1975104"/>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Choose your NoSQL type (Document/K-V/Column/Graph) based on your data access pattern.</a:t>
            </a:r>
            <a:endParaRPr lang="en-US" sz="1200" dirty="0"/>
          </a:p>
        </p:txBody>
      </p:sp>
      <p:sp>
        <p:nvSpPr>
          <p:cNvPr id="17" name="Shape 15"/>
          <p:cNvSpPr/>
          <p:nvPr/>
        </p:nvSpPr>
        <p:spPr>
          <a:xfrm>
            <a:off x="457200" y="2615184"/>
            <a:ext cx="8229600" cy="713232"/>
          </a:xfrm>
          <a:prstGeom prst="rect">
            <a:avLst/>
          </a:prstGeom>
          <a:solidFill>
            <a:srgbClr val="C00000">
              <a:alpha val="70000"/>
            </a:srgbClr>
          </a:solidFill>
          <a:ln w="6350">
            <a:solidFill>
              <a:srgbClr val="00A896"/>
            </a:solidFill>
            <a:prstDash val="solid"/>
          </a:ln>
        </p:spPr>
        <p:txBody>
          <a:bodyPr/>
          <a:lstStyle/>
          <a:p>
            <a:endParaRPr lang="en-KE"/>
          </a:p>
        </p:txBody>
      </p:sp>
      <p:sp>
        <p:nvSpPr>
          <p:cNvPr id="18" name="Shape 16"/>
          <p:cNvSpPr/>
          <p:nvPr/>
        </p:nvSpPr>
        <p:spPr>
          <a:xfrm>
            <a:off x="548640" y="2743200"/>
            <a:ext cx="457200" cy="457200"/>
          </a:xfrm>
          <a:prstGeom prst="ellipse">
            <a:avLst/>
          </a:prstGeom>
          <a:solidFill>
            <a:srgbClr val="F0C040"/>
          </a:solidFill>
          <a:ln w="12700">
            <a:solidFill>
              <a:srgbClr val="F0C040"/>
            </a:solidFill>
            <a:prstDash val="solid"/>
          </a:ln>
        </p:spPr>
        <p:txBody>
          <a:bodyPr/>
          <a:lstStyle/>
          <a:p>
            <a:endParaRPr lang="en-KE"/>
          </a:p>
        </p:txBody>
      </p:sp>
      <p:sp>
        <p:nvSpPr>
          <p:cNvPr id="19" name="Text 17"/>
          <p:cNvSpPr/>
          <p:nvPr/>
        </p:nvSpPr>
        <p:spPr>
          <a:xfrm>
            <a:off x="548640" y="2743200"/>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3</a:t>
            </a:r>
            <a:endParaRPr lang="en-US" sz="1400" dirty="0"/>
          </a:p>
        </p:txBody>
      </p:sp>
      <p:sp>
        <p:nvSpPr>
          <p:cNvPr id="20" name="Text 18"/>
          <p:cNvSpPr/>
          <p:nvPr/>
        </p:nvSpPr>
        <p:spPr>
          <a:xfrm>
            <a:off x="1143000" y="2779776"/>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Data Lakes: </a:t>
            </a:r>
            <a:endParaRPr lang="en-US" sz="1300" dirty="0"/>
          </a:p>
        </p:txBody>
      </p:sp>
      <p:sp>
        <p:nvSpPr>
          <p:cNvPr id="21" name="Text 19"/>
          <p:cNvSpPr/>
          <p:nvPr/>
        </p:nvSpPr>
        <p:spPr>
          <a:xfrm>
            <a:off x="3017520" y="2779776"/>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 schema-on-read, raw-first repository that serves all users — analysts, scientists, ML engineers.</a:t>
            </a:r>
            <a:endParaRPr lang="en-US" sz="1200" dirty="0"/>
          </a:p>
        </p:txBody>
      </p:sp>
      <p:sp>
        <p:nvSpPr>
          <p:cNvPr id="22" name="Shape 20"/>
          <p:cNvSpPr/>
          <p:nvPr/>
        </p:nvSpPr>
        <p:spPr>
          <a:xfrm>
            <a:off x="457200" y="3419856"/>
            <a:ext cx="8229600" cy="713232"/>
          </a:xfrm>
          <a:prstGeom prst="rect">
            <a:avLst/>
          </a:prstGeom>
          <a:solidFill>
            <a:srgbClr val="028090">
              <a:alpha val="70000"/>
            </a:srgbClr>
          </a:solidFill>
          <a:ln w="6350">
            <a:solidFill>
              <a:srgbClr val="00A896"/>
            </a:solidFill>
            <a:prstDash val="solid"/>
          </a:ln>
        </p:spPr>
        <p:txBody>
          <a:bodyPr/>
          <a:lstStyle/>
          <a:p>
            <a:endParaRPr lang="en-KE"/>
          </a:p>
        </p:txBody>
      </p:sp>
      <p:sp>
        <p:nvSpPr>
          <p:cNvPr id="23" name="Shape 21"/>
          <p:cNvSpPr/>
          <p:nvPr/>
        </p:nvSpPr>
        <p:spPr>
          <a:xfrm>
            <a:off x="548640" y="3547872"/>
            <a:ext cx="457200" cy="457200"/>
          </a:xfrm>
          <a:prstGeom prst="ellipse">
            <a:avLst/>
          </a:prstGeom>
          <a:solidFill>
            <a:srgbClr val="F0C040"/>
          </a:solidFill>
          <a:ln w="12700">
            <a:solidFill>
              <a:srgbClr val="F0C040"/>
            </a:solidFill>
            <a:prstDash val="solid"/>
          </a:ln>
        </p:spPr>
        <p:txBody>
          <a:bodyPr/>
          <a:lstStyle/>
          <a:p>
            <a:endParaRPr lang="en-KE"/>
          </a:p>
        </p:txBody>
      </p:sp>
      <p:sp>
        <p:nvSpPr>
          <p:cNvPr id="24" name="Text 22"/>
          <p:cNvSpPr/>
          <p:nvPr/>
        </p:nvSpPr>
        <p:spPr>
          <a:xfrm>
            <a:off x="548640" y="3547872"/>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4</a:t>
            </a:r>
            <a:endParaRPr lang="en-US" sz="1400" dirty="0"/>
          </a:p>
        </p:txBody>
      </p:sp>
      <p:sp>
        <p:nvSpPr>
          <p:cNvPr id="25" name="Text 23"/>
          <p:cNvSpPr/>
          <p:nvPr/>
        </p:nvSpPr>
        <p:spPr>
          <a:xfrm>
            <a:off x="1143000" y="3584448"/>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Lakehouse: </a:t>
            </a:r>
            <a:endParaRPr lang="en-US" sz="1300" dirty="0"/>
          </a:p>
        </p:txBody>
      </p:sp>
      <p:sp>
        <p:nvSpPr>
          <p:cNvPr id="26" name="Text 24"/>
          <p:cNvSpPr/>
          <p:nvPr/>
        </p:nvSpPr>
        <p:spPr>
          <a:xfrm>
            <a:off x="3017520" y="3584448"/>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modern standard — lake flexibility + warehouse reliability via Delta Lake / Iceberg.</a:t>
            </a:r>
            <a:endParaRPr lang="en-US" sz="1200" dirty="0"/>
          </a:p>
        </p:txBody>
      </p:sp>
      <p:sp>
        <p:nvSpPr>
          <p:cNvPr id="27" name="Shape 25"/>
          <p:cNvSpPr/>
          <p:nvPr/>
        </p:nvSpPr>
        <p:spPr>
          <a:xfrm>
            <a:off x="457200" y="4224528"/>
            <a:ext cx="8229600" cy="713232"/>
          </a:xfrm>
          <a:prstGeom prst="rect">
            <a:avLst/>
          </a:prstGeom>
          <a:solidFill>
            <a:srgbClr val="C00000">
              <a:alpha val="70000"/>
            </a:srgbClr>
          </a:solidFill>
          <a:ln w="6350">
            <a:solidFill>
              <a:srgbClr val="00A896"/>
            </a:solidFill>
            <a:prstDash val="solid"/>
          </a:ln>
        </p:spPr>
        <p:txBody>
          <a:bodyPr/>
          <a:lstStyle/>
          <a:p>
            <a:endParaRPr lang="en-KE"/>
          </a:p>
        </p:txBody>
      </p:sp>
      <p:sp>
        <p:nvSpPr>
          <p:cNvPr id="28" name="Shape 26"/>
          <p:cNvSpPr/>
          <p:nvPr/>
        </p:nvSpPr>
        <p:spPr>
          <a:xfrm>
            <a:off x="548640" y="4352544"/>
            <a:ext cx="457200" cy="457200"/>
          </a:xfrm>
          <a:prstGeom prst="ellipse">
            <a:avLst/>
          </a:prstGeom>
          <a:solidFill>
            <a:srgbClr val="F0C040"/>
          </a:solidFill>
          <a:ln w="12700">
            <a:solidFill>
              <a:srgbClr val="F0C040"/>
            </a:solidFill>
            <a:prstDash val="solid"/>
          </a:ln>
        </p:spPr>
        <p:txBody>
          <a:bodyPr/>
          <a:lstStyle/>
          <a:p>
            <a:endParaRPr lang="en-KE"/>
          </a:p>
        </p:txBody>
      </p:sp>
      <p:sp>
        <p:nvSpPr>
          <p:cNvPr id="29" name="Text 27"/>
          <p:cNvSpPr/>
          <p:nvPr/>
        </p:nvSpPr>
        <p:spPr>
          <a:xfrm>
            <a:off x="548640" y="4352544"/>
            <a:ext cx="457200" cy="457200"/>
          </a:xfrm>
          <a:prstGeom prst="rect">
            <a:avLst/>
          </a:prstGeom>
          <a:noFill/>
          <a:ln/>
        </p:spPr>
        <p:txBody>
          <a:bodyPr wrap="square" lIns="0" tIns="0" rIns="0" bIns="0" rtlCol="0" anchor="ctr"/>
          <a:lstStyle/>
          <a:p>
            <a:pPr marL="0" indent="0" algn="ctr">
              <a:buNone/>
            </a:pPr>
            <a:r>
              <a:rPr lang="en-US" sz="1400" b="1" dirty="0">
                <a:solidFill>
                  <a:srgbClr val="0A2342"/>
                </a:solidFill>
                <a:latin typeface="Georgia" pitchFamily="34" charset="0"/>
                <a:ea typeface="Georgia" pitchFamily="34" charset="-122"/>
                <a:cs typeface="Georgia" pitchFamily="34" charset="-120"/>
              </a:rPr>
              <a:t>5</a:t>
            </a:r>
            <a:endParaRPr lang="en-US" sz="1400" dirty="0"/>
          </a:p>
        </p:txBody>
      </p:sp>
      <p:sp>
        <p:nvSpPr>
          <p:cNvPr id="30" name="Text 28"/>
          <p:cNvSpPr/>
          <p:nvPr/>
        </p:nvSpPr>
        <p:spPr>
          <a:xfrm>
            <a:off x="1143000" y="4389120"/>
            <a:ext cx="1828800" cy="384048"/>
          </a:xfrm>
          <a:prstGeom prst="rect">
            <a:avLst/>
          </a:prstGeom>
          <a:noFill/>
          <a:ln/>
        </p:spPr>
        <p:txBody>
          <a:bodyPr wrap="square" lIns="0" tIns="0" rIns="0" bIns="0" rtlCol="0" anchor="ctr"/>
          <a:lstStyle/>
          <a:p>
            <a:pPr marL="0" indent="0">
              <a:buNone/>
            </a:pPr>
            <a:r>
              <a:rPr lang="en-US" sz="1300" b="1" dirty="0">
                <a:solidFill>
                  <a:srgbClr val="F0C040"/>
                </a:solidFill>
                <a:latin typeface="Georgia" pitchFamily="34" charset="0"/>
                <a:ea typeface="Georgia" pitchFamily="34" charset="-122"/>
                <a:cs typeface="Georgia" pitchFamily="34" charset="-120"/>
              </a:rPr>
              <a:t>Health Context: </a:t>
            </a:r>
            <a:endParaRPr lang="en-US" sz="1300" dirty="0"/>
          </a:p>
        </p:txBody>
      </p:sp>
      <p:sp>
        <p:nvSpPr>
          <p:cNvPr id="31" name="Text 29"/>
          <p:cNvSpPr/>
          <p:nvPr/>
        </p:nvSpPr>
        <p:spPr>
          <a:xfrm>
            <a:off x="3017520" y="4389120"/>
            <a:ext cx="5577840" cy="38404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Public health data is diverse, sensitive, and life-critical — requiring both NoSQL and lake strategies.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0A2342"/>
        </a:solidFill>
        <a:effectLst/>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F0C040"/>
          </a:solidFill>
          <a:ln w="12700">
            <a:solidFill>
              <a:srgbClr val="F0C040"/>
            </a:solidFill>
            <a:prstDash val="solid"/>
          </a:ln>
        </p:spPr>
        <p:txBody>
          <a:bodyPr/>
          <a:lstStyle/>
          <a:p>
            <a:endParaRPr lang="en-KE"/>
          </a:p>
        </p:txBody>
      </p:sp>
      <p:sp>
        <p:nvSpPr>
          <p:cNvPr id="3" name="Shape 1"/>
          <p:cNvSpPr/>
          <p:nvPr/>
        </p:nvSpPr>
        <p:spPr>
          <a:xfrm>
            <a:off x="0" y="5079492"/>
            <a:ext cx="9144000" cy="64008"/>
          </a:xfrm>
          <a:prstGeom prst="rect">
            <a:avLst/>
          </a:prstGeom>
          <a:solidFill>
            <a:srgbClr val="028090"/>
          </a:solidFill>
          <a:ln w="12700">
            <a:solidFill>
              <a:srgbClr val="028090"/>
            </a:solidFill>
            <a:prstDash val="solid"/>
          </a:ln>
        </p:spPr>
        <p:txBody>
          <a:bodyPr/>
          <a:lstStyle/>
          <a:p>
            <a:endParaRPr lang="en-KE"/>
          </a:p>
        </p:txBody>
      </p:sp>
      <p:sp>
        <p:nvSpPr>
          <p:cNvPr id="4" name="Shape 2"/>
          <p:cNvSpPr/>
          <p:nvPr/>
        </p:nvSpPr>
        <p:spPr>
          <a:xfrm>
            <a:off x="6400800" y="-1097280"/>
            <a:ext cx="4572000" cy="4572000"/>
          </a:xfrm>
          <a:prstGeom prst="ellipse">
            <a:avLst/>
          </a:prstGeom>
          <a:solidFill>
            <a:srgbClr val="028090">
              <a:alpha val="20000"/>
            </a:srgbClr>
          </a:solidFill>
          <a:ln w="12700">
            <a:solidFill>
              <a:srgbClr val="028090">
                <a:alpha val="20000"/>
              </a:srgbClr>
            </a:solidFill>
            <a:prstDash val="solid"/>
          </a:ln>
        </p:spPr>
        <p:txBody>
          <a:bodyPr/>
          <a:lstStyle/>
          <a:p>
            <a:endParaRPr lang="en-KE"/>
          </a:p>
        </p:txBody>
      </p:sp>
      <p:sp>
        <p:nvSpPr>
          <p:cNvPr id="5" name="Shape 3"/>
          <p:cNvSpPr/>
          <p:nvPr/>
        </p:nvSpPr>
        <p:spPr>
          <a:xfrm>
            <a:off x="-1828800" y="2926080"/>
            <a:ext cx="4114800" cy="4114800"/>
          </a:xfrm>
          <a:prstGeom prst="ellipse">
            <a:avLst/>
          </a:prstGeom>
          <a:solidFill>
            <a:srgbClr val="00A896">
              <a:alpha val="17000"/>
            </a:srgbClr>
          </a:solidFill>
          <a:ln w="12700">
            <a:solidFill>
              <a:srgbClr val="00A896">
                <a:alpha val="17000"/>
              </a:srgbClr>
            </a:solidFill>
            <a:prstDash val="solid"/>
          </a:ln>
        </p:spPr>
        <p:txBody>
          <a:bodyPr/>
          <a:lstStyle/>
          <a:p>
            <a:endParaRPr lang="en-KE"/>
          </a:p>
        </p:txBody>
      </p:sp>
      <p:sp>
        <p:nvSpPr>
          <p:cNvPr id="6" name="Text 4"/>
          <p:cNvSpPr/>
          <p:nvPr/>
        </p:nvSpPr>
        <p:spPr>
          <a:xfrm>
            <a:off x="457200" y="1188720"/>
            <a:ext cx="8229600" cy="1280160"/>
          </a:xfrm>
          <a:prstGeom prst="rect">
            <a:avLst/>
          </a:prstGeom>
          <a:noFill/>
          <a:ln/>
        </p:spPr>
        <p:txBody>
          <a:bodyPr wrap="square" rtlCol="0" anchor="ctr"/>
          <a:lstStyle/>
          <a:p>
            <a:pPr marL="0" indent="0" algn="ctr">
              <a:buNone/>
            </a:pPr>
            <a:r>
              <a:rPr lang="en-US" sz="5800" b="1" dirty="0">
                <a:solidFill>
                  <a:srgbClr val="FFFFFF"/>
                </a:solidFill>
                <a:latin typeface="Georgia" pitchFamily="34" charset="0"/>
                <a:ea typeface="Georgia" pitchFamily="34" charset="-122"/>
                <a:cs typeface="Georgia" pitchFamily="34" charset="-120"/>
              </a:rPr>
              <a:t>Thank You</a:t>
            </a:r>
            <a:endParaRPr lang="en-US" sz="5800" dirty="0"/>
          </a:p>
        </p:txBody>
      </p:sp>
      <p:sp>
        <p:nvSpPr>
          <p:cNvPr id="7" name="Text 5"/>
          <p:cNvSpPr/>
          <p:nvPr/>
        </p:nvSpPr>
        <p:spPr>
          <a:xfrm>
            <a:off x="457200" y="2606040"/>
            <a:ext cx="8229600" cy="548640"/>
          </a:xfrm>
          <a:prstGeom prst="rect">
            <a:avLst/>
          </a:prstGeom>
          <a:noFill/>
          <a:ln/>
        </p:spPr>
        <p:txBody>
          <a:bodyPr wrap="square" rtlCol="0" anchor="ctr"/>
          <a:lstStyle/>
          <a:p>
            <a:pPr marL="0" indent="0" algn="ctr">
              <a:buNone/>
            </a:pPr>
            <a:r>
              <a:rPr lang="en-US" sz="2400" dirty="0">
                <a:solidFill>
                  <a:srgbClr val="F0C040"/>
                </a:solidFill>
                <a:latin typeface="Calibri" pitchFamily="34" charset="0"/>
                <a:ea typeface="Calibri" pitchFamily="34" charset="-122"/>
                <a:cs typeface="Calibri" pitchFamily="34" charset="-120"/>
              </a:rPr>
              <a:t>Questions &amp; Discussion</a:t>
            </a:r>
            <a:endParaRPr lang="en-US" sz="2400" dirty="0"/>
          </a:p>
        </p:txBody>
      </p:sp>
      <p:sp>
        <p:nvSpPr>
          <p:cNvPr id="8" name="Text 6"/>
          <p:cNvSpPr/>
          <p:nvPr/>
        </p:nvSpPr>
        <p:spPr>
          <a:xfrm>
            <a:off x="457200" y="3291840"/>
            <a:ext cx="8229600" cy="411480"/>
          </a:xfrm>
          <a:prstGeom prst="rect">
            <a:avLst/>
          </a:prstGeom>
          <a:noFill/>
          <a:ln/>
        </p:spPr>
        <p:txBody>
          <a:bodyPr wrap="square" rtlCol="0" anchor="ctr"/>
          <a:lstStyle/>
          <a:p>
            <a:pPr marL="0" indent="0" algn="ctr">
              <a:buNone/>
            </a:pPr>
            <a:r>
              <a:rPr lang="en-US" sz="1400" i="1" dirty="0">
                <a:solidFill>
                  <a:srgbClr val="02C39A"/>
                </a:solidFill>
                <a:latin typeface="Calibri" pitchFamily="34" charset="0"/>
                <a:ea typeface="Calibri" pitchFamily="34" charset="-122"/>
                <a:cs typeface="Calibri" pitchFamily="34" charset="-120"/>
              </a:rPr>
              <a:t>NoSQL &amp; Data Lakes  ·  60-Minute Session  ·  8 Modules Covered</a:t>
            </a:r>
            <a:endParaRPr lang="en-US" sz="1400" dirty="0"/>
          </a:p>
        </p:txBody>
      </p:sp>
      <p:sp>
        <p:nvSpPr>
          <p:cNvPr id="9" name="Text 7"/>
          <p:cNvSpPr/>
          <p:nvPr/>
        </p:nvSpPr>
        <p:spPr>
          <a:xfrm>
            <a:off x="457200" y="4434840"/>
            <a:ext cx="8229600" cy="320040"/>
          </a:xfrm>
          <a:prstGeom prst="rect">
            <a:avLst/>
          </a:prstGeom>
          <a:noFill/>
          <a:ln/>
        </p:spPr>
        <p:txBody>
          <a:bodyPr wrap="square" rtlCol="0" anchor="ctr"/>
          <a:lstStyle/>
          <a:p>
            <a:pPr marL="0" indent="0" algn="ctr">
              <a:buNone/>
            </a:pPr>
            <a:r>
              <a:rPr lang="en-US" sz="1000" dirty="0">
                <a:solidFill>
                  <a:srgbClr val="4A5568"/>
                </a:solidFill>
                <a:latin typeface="Calibri" pitchFamily="34" charset="0"/>
                <a:ea typeface="Calibri" pitchFamily="34" charset="-122"/>
                <a:cs typeface="Calibri" pitchFamily="34" charset="-120"/>
              </a:rPr>
              <a:t>Modules: History · Definitions · Features · SQL vs NoSQL · Data Lakes · Architecture · Use Cases · Public Health Project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51</TotalTime>
  <Words>3510</Words>
  <Application>Microsoft Office PowerPoint</Application>
  <PresentationFormat>On-screen Show (16:9)</PresentationFormat>
  <Paragraphs>600</Paragraphs>
  <Slides>36</Slides>
  <Notes>35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Aptos</vt:lpstr>
      <vt:lpstr>Arial</vt:lpstr>
      <vt:lpstr>Calibri</vt:lpstr>
      <vt:lpstr>Georgia</vt:lpstr>
      <vt:lpstr>Roboto</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and Data Lakes</dc:title>
  <dc:subject>PptxGenJS Presentation</dc:subject>
  <dc:creator>PptxGenJS</dc:creator>
  <cp:lastModifiedBy>Elijah Murangiri</cp:lastModifiedBy>
  <cp:revision>15</cp:revision>
  <dcterms:created xsi:type="dcterms:W3CDTF">2026-02-18T08:44:38Z</dcterms:created>
  <dcterms:modified xsi:type="dcterms:W3CDTF">2026-02-24T12:27:15Z</dcterms:modified>
</cp:coreProperties>
</file>