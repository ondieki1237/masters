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4"/>
  </p:notesMasterIdLst>
  <p:sldIdLst>
    <p:sldId id="257" r:id="rId2"/>
    <p:sldId id="256" r:id="rId3"/>
    <p:sldId id="297" r:id="rId4"/>
    <p:sldId id="259" r:id="rId5"/>
    <p:sldId id="260" r:id="rId6"/>
    <p:sldId id="261" r:id="rId7"/>
    <p:sldId id="258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8" r:id="rId16"/>
    <p:sldId id="289" r:id="rId17"/>
    <p:sldId id="290" r:id="rId18"/>
    <p:sldId id="291" r:id="rId19"/>
    <p:sldId id="292" r:id="rId20"/>
    <p:sldId id="293" r:id="rId21"/>
    <p:sldId id="295" r:id="rId22"/>
    <p:sldId id="296" r:id="rId23"/>
    <p:sldId id="270" r:id="rId24"/>
    <p:sldId id="465" r:id="rId25"/>
    <p:sldId id="466" r:id="rId26"/>
    <p:sldId id="467" r:id="rId27"/>
    <p:sldId id="475" r:id="rId28"/>
    <p:sldId id="468" r:id="rId29"/>
    <p:sldId id="469" r:id="rId30"/>
    <p:sldId id="470" r:id="rId31"/>
    <p:sldId id="471" r:id="rId32"/>
    <p:sldId id="472" r:id="rId33"/>
    <p:sldId id="473" r:id="rId34"/>
    <p:sldId id="474" r:id="rId35"/>
    <p:sldId id="476" r:id="rId36"/>
    <p:sldId id="477" r:id="rId37"/>
    <p:sldId id="478" r:id="rId38"/>
    <p:sldId id="479" r:id="rId39"/>
    <p:sldId id="480" r:id="rId40"/>
    <p:sldId id="481" r:id="rId41"/>
    <p:sldId id="482" r:id="rId42"/>
    <p:sldId id="490" r:id="rId43"/>
    <p:sldId id="483" r:id="rId44"/>
    <p:sldId id="498" r:id="rId45"/>
    <p:sldId id="499" r:id="rId46"/>
    <p:sldId id="500" r:id="rId47"/>
    <p:sldId id="501" r:id="rId48"/>
    <p:sldId id="502" r:id="rId49"/>
    <p:sldId id="491" r:id="rId50"/>
    <p:sldId id="484" r:id="rId51"/>
    <p:sldId id="485" r:id="rId52"/>
    <p:sldId id="496" r:id="rId53"/>
    <p:sldId id="493" r:id="rId54"/>
    <p:sldId id="497" r:id="rId55"/>
    <p:sldId id="494" r:id="rId56"/>
    <p:sldId id="495" r:id="rId57"/>
    <p:sldId id="487" r:id="rId58"/>
    <p:sldId id="503" r:id="rId59"/>
    <p:sldId id="486" r:id="rId60"/>
    <p:sldId id="504" r:id="rId61"/>
    <p:sldId id="505" r:id="rId62"/>
    <p:sldId id="506" r:id="rId63"/>
    <p:sldId id="489" r:id="rId64"/>
    <p:sldId id="507" r:id="rId65"/>
    <p:sldId id="508" r:id="rId66"/>
    <p:sldId id="509" r:id="rId67"/>
    <p:sldId id="513" r:id="rId68"/>
    <p:sldId id="515" r:id="rId69"/>
    <p:sldId id="510" r:id="rId70"/>
    <p:sldId id="511" r:id="rId71"/>
    <p:sldId id="512" r:id="rId72"/>
    <p:sldId id="514" r:id="rId7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AF0865-E5FE-4958-9450-1D397A9FB560}" type="doc">
      <dgm:prSet loTypeId="urn:microsoft.com/office/officeart/2005/8/layout/vList4" loCatId="list" qsTypeId="urn:microsoft.com/office/officeart/2005/8/quickstyle/simple1" qsCatId="simple" csTypeId="urn:microsoft.com/office/officeart/2005/8/colors/accent1_2" csCatId="accent1" phldr="1"/>
      <dgm:spPr/>
    </dgm:pt>
    <dgm:pt modelId="{DC1778D8-EEA9-474C-B383-AF145913B5B9}">
      <dgm:prSet/>
      <dgm:spPr/>
      <dgm:t>
        <a:bodyPr/>
        <a:lstStyle/>
        <a:p>
          <a:pPr>
            <a:buNone/>
          </a:pPr>
          <a:r>
            <a:rPr lang="en-US" dirty="0"/>
            <a:t>What is an algorithm?</a:t>
          </a:r>
        </a:p>
        <a:p>
          <a:pPr>
            <a:buNone/>
          </a:pPr>
          <a:r>
            <a:rPr lang="en-US" dirty="0"/>
            <a:t>It’s a sequence of steps that transforms the input into the output i.e. a sequence of steps that attempt to solve a problem</a:t>
          </a:r>
        </a:p>
      </dgm:t>
    </dgm:pt>
    <dgm:pt modelId="{E216E33B-289E-4FA1-B6D5-56E4F20745DA}" type="parTrans" cxnId="{080FA466-71C8-429C-A52C-0FE913790DAE}">
      <dgm:prSet/>
      <dgm:spPr/>
      <dgm:t>
        <a:bodyPr/>
        <a:lstStyle/>
        <a:p>
          <a:endParaRPr lang="en-US"/>
        </a:p>
      </dgm:t>
    </dgm:pt>
    <dgm:pt modelId="{9A117635-46A2-4E0C-B152-FE77CED5A6DC}" type="sibTrans" cxnId="{080FA466-71C8-429C-A52C-0FE913790DAE}">
      <dgm:prSet/>
      <dgm:spPr/>
      <dgm:t>
        <a:bodyPr/>
        <a:lstStyle/>
        <a:p>
          <a:endParaRPr lang="en-US"/>
        </a:p>
      </dgm:t>
    </dgm:pt>
    <dgm:pt modelId="{195E8E22-119D-48B5-A0D8-85106B28133F}">
      <dgm:prSet phldrT="[Text]"/>
      <dgm:spPr/>
      <dgm:t>
        <a:bodyPr/>
        <a:lstStyle/>
        <a:p>
          <a:r>
            <a:rPr lang="en-US" dirty="0"/>
            <a:t>A problem is stated as a relationship between input conditions and output expectations</a:t>
          </a:r>
        </a:p>
      </dgm:t>
    </dgm:pt>
    <dgm:pt modelId="{8AEFEA86-B19C-4627-999C-9B4675ACD29B}" type="parTrans" cxnId="{AB9D5B77-1F65-4FCF-8DB6-2FD44D317D74}">
      <dgm:prSet/>
      <dgm:spPr/>
      <dgm:t>
        <a:bodyPr/>
        <a:lstStyle/>
        <a:p>
          <a:endParaRPr lang="en-US"/>
        </a:p>
      </dgm:t>
    </dgm:pt>
    <dgm:pt modelId="{B5513633-598E-49D1-8A2C-3E9999B7B3C1}" type="sibTrans" cxnId="{AB9D5B77-1F65-4FCF-8DB6-2FD44D317D74}">
      <dgm:prSet/>
      <dgm:spPr/>
      <dgm:t>
        <a:bodyPr/>
        <a:lstStyle/>
        <a:p>
          <a:endParaRPr lang="en-US"/>
        </a:p>
      </dgm:t>
    </dgm:pt>
    <dgm:pt modelId="{A9F47BBA-F3DF-43AE-9A75-A00C1175713C}" type="pres">
      <dgm:prSet presAssocID="{96AF0865-E5FE-4958-9450-1D397A9FB560}" presName="linear" presStyleCnt="0">
        <dgm:presLayoutVars>
          <dgm:dir/>
          <dgm:resizeHandles val="exact"/>
        </dgm:presLayoutVars>
      </dgm:prSet>
      <dgm:spPr/>
    </dgm:pt>
    <dgm:pt modelId="{49073AF4-47BC-4D24-A439-9689E2C69249}" type="pres">
      <dgm:prSet presAssocID="{DC1778D8-EEA9-474C-B383-AF145913B5B9}" presName="comp" presStyleCnt="0"/>
      <dgm:spPr/>
    </dgm:pt>
    <dgm:pt modelId="{0B2723E6-64CD-4B96-924E-D1AAD9DB394E}" type="pres">
      <dgm:prSet presAssocID="{DC1778D8-EEA9-474C-B383-AF145913B5B9}" presName="box" presStyleLbl="node1" presStyleIdx="0" presStyleCnt="2"/>
      <dgm:spPr/>
    </dgm:pt>
    <dgm:pt modelId="{A2224205-9FDA-41EB-9F0C-1C8FA8451CA3}" type="pres">
      <dgm:prSet presAssocID="{DC1778D8-EEA9-474C-B383-AF145913B5B9}" presName="img" presStyleLbl="fgImgPlace1" presStyleIdx="0" presStyleCnt="2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3000" r="-23000"/>
          </a:stretch>
        </a:blipFill>
      </dgm:spPr>
    </dgm:pt>
    <dgm:pt modelId="{8AFAD8A2-B091-42AA-B745-5F441AA23FE6}" type="pres">
      <dgm:prSet presAssocID="{DC1778D8-EEA9-474C-B383-AF145913B5B9}" presName="text" presStyleLbl="node1" presStyleIdx="0" presStyleCnt="2">
        <dgm:presLayoutVars>
          <dgm:bulletEnabled val="1"/>
        </dgm:presLayoutVars>
      </dgm:prSet>
      <dgm:spPr/>
    </dgm:pt>
    <dgm:pt modelId="{7599CB8E-9D20-4BA1-9A32-B34540C14488}" type="pres">
      <dgm:prSet presAssocID="{9A117635-46A2-4E0C-B152-FE77CED5A6DC}" presName="spacer" presStyleCnt="0"/>
      <dgm:spPr/>
    </dgm:pt>
    <dgm:pt modelId="{18C12217-EF49-4FCF-9721-B9B4B48CE771}" type="pres">
      <dgm:prSet presAssocID="{195E8E22-119D-48B5-A0D8-85106B28133F}" presName="comp" presStyleCnt="0"/>
      <dgm:spPr/>
    </dgm:pt>
    <dgm:pt modelId="{516B536F-C4B5-4EC6-88A9-7822D7BE9E63}" type="pres">
      <dgm:prSet presAssocID="{195E8E22-119D-48B5-A0D8-85106B28133F}" presName="box" presStyleLbl="node1" presStyleIdx="1" presStyleCnt="2"/>
      <dgm:spPr/>
    </dgm:pt>
    <dgm:pt modelId="{087E097B-B2C0-4340-99B6-54098CA0A00E}" type="pres">
      <dgm:prSet presAssocID="{195E8E22-119D-48B5-A0D8-85106B28133F}" presName="img" presStyleLbl="fgImgPlace1" presStyleIdx="1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3000" r="-23000"/>
          </a:stretch>
        </a:blipFill>
      </dgm:spPr>
      <dgm:extLst>
        <a:ext uri="{E40237B7-FDA0-4F09-8148-C483321AD2D9}">
          <dgm14:cNvPr xmlns:dgm14="http://schemas.microsoft.com/office/drawing/2010/diagram" id="0" name="" descr="Explainer: What is an algorithm?">
            <a:extLst>
              <a:ext uri="{FF2B5EF4-FFF2-40B4-BE49-F238E27FC236}">
                <a16:creationId xmlns:a16="http://schemas.microsoft.com/office/drawing/2014/main" id="{11F4FF84-448B-9091-DC2A-6E0027B9787B}"/>
              </a:ext>
            </a:extLst>
          </dgm14:cNvPr>
        </a:ext>
      </dgm:extLst>
    </dgm:pt>
    <dgm:pt modelId="{81268F3A-D89D-4BC4-9B22-77596C8E7257}" type="pres">
      <dgm:prSet presAssocID="{195E8E22-119D-48B5-A0D8-85106B28133F}" presName="text" presStyleLbl="node1" presStyleIdx="1" presStyleCnt="2">
        <dgm:presLayoutVars>
          <dgm:bulletEnabled val="1"/>
        </dgm:presLayoutVars>
      </dgm:prSet>
      <dgm:spPr/>
    </dgm:pt>
  </dgm:ptLst>
  <dgm:cxnLst>
    <dgm:cxn modelId="{2A46602B-930D-4370-92B1-D51870F41FB2}" type="presOf" srcId="{DC1778D8-EEA9-474C-B383-AF145913B5B9}" destId="{0B2723E6-64CD-4B96-924E-D1AAD9DB394E}" srcOrd="0" destOrd="0" presId="urn:microsoft.com/office/officeart/2005/8/layout/vList4"/>
    <dgm:cxn modelId="{080FA466-71C8-429C-A52C-0FE913790DAE}" srcId="{96AF0865-E5FE-4958-9450-1D397A9FB560}" destId="{DC1778D8-EEA9-474C-B383-AF145913B5B9}" srcOrd="0" destOrd="0" parTransId="{E216E33B-289E-4FA1-B6D5-56E4F20745DA}" sibTransId="{9A117635-46A2-4E0C-B152-FE77CED5A6DC}"/>
    <dgm:cxn modelId="{71B88448-13BF-40A7-AAB5-FE9B378022BF}" type="presOf" srcId="{195E8E22-119D-48B5-A0D8-85106B28133F}" destId="{516B536F-C4B5-4EC6-88A9-7822D7BE9E63}" srcOrd="0" destOrd="0" presId="urn:microsoft.com/office/officeart/2005/8/layout/vList4"/>
    <dgm:cxn modelId="{BE4E9A52-555C-4C4E-AB53-A64DBDBF2077}" type="presOf" srcId="{96AF0865-E5FE-4958-9450-1D397A9FB560}" destId="{A9F47BBA-F3DF-43AE-9A75-A00C1175713C}" srcOrd="0" destOrd="0" presId="urn:microsoft.com/office/officeart/2005/8/layout/vList4"/>
    <dgm:cxn modelId="{AB9D5B77-1F65-4FCF-8DB6-2FD44D317D74}" srcId="{96AF0865-E5FE-4958-9450-1D397A9FB560}" destId="{195E8E22-119D-48B5-A0D8-85106B28133F}" srcOrd="1" destOrd="0" parTransId="{8AEFEA86-B19C-4627-999C-9B4675ACD29B}" sibTransId="{B5513633-598E-49D1-8A2C-3E9999B7B3C1}"/>
    <dgm:cxn modelId="{F34DB5B4-DE23-4953-975C-E9B286109A4C}" type="presOf" srcId="{DC1778D8-EEA9-474C-B383-AF145913B5B9}" destId="{8AFAD8A2-B091-42AA-B745-5F441AA23FE6}" srcOrd="1" destOrd="0" presId="urn:microsoft.com/office/officeart/2005/8/layout/vList4"/>
    <dgm:cxn modelId="{D3710BD5-BD2D-4049-9A20-61914951DAB1}" type="presOf" srcId="{195E8E22-119D-48B5-A0D8-85106B28133F}" destId="{81268F3A-D89D-4BC4-9B22-77596C8E7257}" srcOrd="1" destOrd="0" presId="urn:microsoft.com/office/officeart/2005/8/layout/vList4"/>
    <dgm:cxn modelId="{799058E7-ACEE-4A35-932A-5224F48E2BE4}" type="presParOf" srcId="{A9F47BBA-F3DF-43AE-9A75-A00C1175713C}" destId="{49073AF4-47BC-4D24-A439-9689E2C69249}" srcOrd="0" destOrd="0" presId="urn:microsoft.com/office/officeart/2005/8/layout/vList4"/>
    <dgm:cxn modelId="{5290DB82-6822-47E4-A57E-069C2130A578}" type="presParOf" srcId="{49073AF4-47BC-4D24-A439-9689E2C69249}" destId="{0B2723E6-64CD-4B96-924E-D1AAD9DB394E}" srcOrd="0" destOrd="0" presId="urn:microsoft.com/office/officeart/2005/8/layout/vList4"/>
    <dgm:cxn modelId="{A3D30EF5-1CDE-44E9-9649-047CBDEEA295}" type="presParOf" srcId="{49073AF4-47BC-4D24-A439-9689E2C69249}" destId="{A2224205-9FDA-41EB-9F0C-1C8FA8451CA3}" srcOrd="1" destOrd="0" presId="urn:microsoft.com/office/officeart/2005/8/layout/vList4"/>
    <dgm:cxn modelId="{5E35C9C1-6CA2-400E-9449-40122F97B6D6}" type="presParOf" srcId="{49073AF4-47BC-4D24-A439-9689E2C69249}" destId="{8AFAD8A2-B091-42AA-B745-5F441AA23FE6}" srcOrd="2" destOrd="0" presId="urn:microsoft.com/office/officeart/2005/8/layout/vList4"/>
    <dgm:cxn modelId="{6EF7BF79-03E8-4305-B388-BDBF8CE3C98B}" type="presParOf" srcId="{A9F47BBA-F3DF-43AE-9A75-A00C1175713C}" destId="{7599CB8E-9D20-4BA1-9A32-B34540C14488}" srcOrd="1" destOrd="0" presId="urn:microsoft.com/office/officeart/2005/8/layout/vList4"/>
    <dgm:cxn modelId="{8CF80E65-9E8D-4FF5-81E2-2CA4CD519E17}" type="presParOf" srcId="{A9F47BBA-F3DF-43AE-9A75-A00C1175713C}" destId="{18C12217-EF49-4FCF-9721-B9B4B48CE771}" srcOrd="2" destOrd="0" presId="urn:microsoft.com/office/officeart/2005/8/layout/vList4"/>
    <dgm:cxn modelId="{9C7DEF53-3C42-4B6D-B251-530B7489DCE7}" type="presParOf" srcId="{18C12217-EF49-4FCF-9721-B9B4B48CE771}" destId="{516B536F-C4B5-4EC6-88A9-7822D7BE9E63}" srcOrd="0" destOrd="0" presId="urn:microsoft.com/office/officeart/2005/8/layout/vList4"/>
    <dgm:cxn modelId="{377E6215-86C7-4446-829A-9C4D6FC1F5E7}" type="presParOf" srcId="{18C12217-EF49-4FCF-9721-B9B4B48CE771}" destId="{087E097B-B2C0-4340-99B6-54098CA0A00E}" srcOrd="1" destOrd="0" presId="urn:microsoft.com/office/officeart/2005/8/layout/vList4"/>
    <dgm:cxn modelId="{EFDEC2D2-D53A-4DF2-B73C-A30A483E7515}" type="presParOf" srcId="{18C12217-EF49-4FCF-9721-B9B4B48CE771}" destId="{81268F3A-D89D-4BC4-9B22-77596C8E7257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2723E6-64CD-4B96-924E-D1AAD9DB394E}">
      <dsp:nvSpPr>
        <dsp:cNvPr id="0" name=""/>
        <dsp:cNvSpPr/>
      </dsp:nvSpPr>
      <dsp:spPr>
        <a:xfrm>
          <a:off x="0" y="0"/>
          <a:ext cx="11605337" cy="28174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What is an algorithm?</a:t>
          </a:r>
        </a:p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It’s a sequence of steps that transforms the input into the output i.e. a sequence of steps that attempt to solve a problem</a:t>
          </a:r>
        </a:p>
      </dsp:txBody>
      <dsp:txXfrm>
        <a:off x="2602809" y="0"/>
        <a:ext cx="9002527" cy="2817421"/>
      </dsp:txXfrm>
    </dsp:sp>
    <dsp:sp modelId="{A2224205-9FDA-41EB-9F0C-1C8FA8451CA3}">
      <dsp:nvSpPr>
        <dsp:cNvPr id="0" name=""/>
        <dsp:cNvSpPr/>
      </dsp:nvSpPr>
      <dsp:spPr>
        <a:xfrm>
          <a:off x="281742" y="281742"/>
          <a:ext cx="2321067" cy="2253936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3000" r="-23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6B536F-C4B5-4EC6-88A9-7822D7BE9E63}">
      <dsp:nvSpPr>
        <dsp:cNvPr id="0" name=""/>
        <dsp:cNvSpPr/>
      </dsp:nvSpPr>
      <dsp:spPr>
        <a:xfrm>
          <a:off x="0" y="3099163"/>
          <a:ext cx="11605337" cy="28174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A problem is stated as a relationship between input conditions and output expectations</a:t>
          </a:r>
        </a:p>
      </dsp:txBody>
      <dsp:txXfrm>
        <a:off x="2602809" y="3099163"/>
        <a:ext cx="9002527" cy="2817421"/>
      </dsp:txXfrm>
    </dsp:sp>
    <dsp:sp modelId="{087E097B-B2C0-4340-99B6-54098CA0A00E}">
      <dsp:nvSpPr>
        <dsp:cNvPr id="0" name=""/>
        <dsp:cNvSpPr/>
      </dsp:nvSpPr>
      <dsp:spPr>
        <a:xfrm>
          <a:off x="281742" y="3380905"/>
          <a:ext cx="2321067" cy="2253936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3000" r="-23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8B77B4-9813-44C8-A1A6-52145595C779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157746-2B1A-4E6C-B0B8-426A9AB6F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461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D8E3DC-0B46-48CA-85FC-1799844C0218}" type="slidenum">
              <a:rPr lang="en-IN" smtClean="0"/>
              <a:pPr/>
              <a:t>24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3144-A951-A1BF-BF85-CB4C0E579C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8FC622-AA1B-2A4E-8E60-E668E7828D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85A4D-E104-C271-415B-93E3D9AA5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B86E7-F618-4216-9D2B-12096ADCFE1F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9084E-7B66-4258-DEB8-AA786632C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34B25-2F11-9765-B131-8775D759F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7244E-3941-4E2C-ABD8-2203EF036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234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773A7-7703-CA1A-0910-76B2D68D3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EE39B-7090-7286-DA7F-134DFCA4A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A15A9-1EB6-3ACC-DEE4-4158AAD92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B86E7-F618-4216-9D2B-12096ADCFE1F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D426F-553C-FD1E-6505-F3C484B09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3AC56-2266-3D53-D851-1F4DB76C0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7244E-3941-4E2C-ABD8-2203EF036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013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F0C1-0583-D26C-A05B-DAC96BBD6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F29F84-2A31-F4B8-4B4D-195B32C6E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B375F-B274-C160-2A9F-FC319F172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B86E7-F618-4216-9D2B-12096ADCFE1F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93C07-84DE-05A0-7857-92163562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C776C-9298-F699-6CC1-A51075E3D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7244E-3941-4E2C-ABD8-2203EF036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435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CFFF4-2485-1A35-2151-82B33432C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C04C4-872C-F666-4A81-9BEB84F45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36F89B-54AB-0672-627D-DAB009B33B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F278D1-2CE6-8EB5-CF53-E37FA243D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B86E7-F618-4216-9D2B-12096ADCFE1F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F947D-4CAB-EF0F-0610-C946F416F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A8C2A6-4FFA-5E1E-9812-538AA0C69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7244E-3941-4E2C-ABD8-2203EF036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495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3DDE1-F12C-2EC4-B8E0-297A8E24A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D6220-51E6-D5C6-58BA-4634C7116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928D46-EDB4-B242-6D8B-7DE297E013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26786D-E0E8-3998-B6E7-A356E022CC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5C0E65-1224-7C37-A89D-9EE167A549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5657DF-BD9F-F9F8-A4E6-0FE4D9574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B86E7-F618-4216-9D2B-12096ADCFE1F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EA29AD-9918-2A37-56AF-2AE9A1F04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5D8A32-2A51-C471-69F9-7DBB18BBC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7244E-3941-4E2C-ABD8-2203EF036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235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2AD1F-E2C4-20E2-1D2D-6A5903AB8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B4C285-8096-F518-3B62-DB8704500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B86E7-F618-4216-9D2B-12096ADCFE1F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A5D173-3EB0-268A-ADF4-95333BA4E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8B4041-0DD9-AF1B-D275-F5E56FC7F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7244E-3941-4E2C-ABD8-2203EF036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61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565463-3CDD-1073-AE75-F9F93A3F7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B86E7-F618-4216-9D2B-12096ADCFE1F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5FB4CF-9BCF-508D-69EB-71C31BB22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C0070-1540-3D8C-5C6B-68BA9229E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7244E-3941-4E2C-ABD8-2203EF036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711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3C34B-B5E2-C0E3-498A-BCA598978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9C225-5BAC-2FAD-50B1-B4C527AD0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5C0209-0D27-6BB3-DC5A-7B65EF7C41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542166-074B-E94E-E4ED-161F40314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B86E7-F618-4216-9D2B-12096ADCFE1F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3E14D2-9F29-837B-9636-4CF30C8DC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5B8088-965F-A620-368E-38D58908E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7244E-3941-4E2C-ABD8-2203EF036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767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C6EA5-ABAA-6608-777C-B941EE624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6B47AA-962E-0664-7641-80326088C5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08C7F7-364D-BAE5-1808-454CBEAD94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50D4CD-756B-0065-E4E1-284251B82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B86E7-F618-4216-9D2B-12096ADCFE1F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28396D-B4BB-230A-6988-51D08F423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242F11-61CA-0BA6-A509-FB3B85594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7244E-3941-4E2C-ABD8-2203EF036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849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9A04-CC24-19E5-48E2-597E5070F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3F1B8E-0495-F7EA-2255-B6E61C521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7F0DC-7D8E-6FE7-DE7B-E996462F4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B86E7-F618-4216-9D2B-12096ADCFE1F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45024-9405-799D-6C56-AAAA205D3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9C283-ED8B-5096-4976-FBAF123D8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7244E-3941-4E2C-ABD8-2203EF036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508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400F86-9C8D-9EC6-D082-E319BCC519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842122-BF5C-A373-751E-122CCEDA95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429B7-7A81-7B7D-A78E-8F33D62AE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B86E7-F618-4216-9D2B-12096ADCFE1F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ACF133-2D58-B994-A228-1BF86B1E3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C2C9A-C764-6851-41D0-F5BA1E410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07244E-3941-4E2C-ABD8-2203EF036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7887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981200"/>
            <a:ext cx="53848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000500"/>
            <a:ext cx="53848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99E8DFD-8D0D-1683-77BA-18AAA555857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6D01CBC-1A3F-DDD5-DD4D-0477DAB64EC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719299-329C-4F53-A5A6-36AB1E476FD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Rectangle 16">
            <a:extLst>
              <a:ext uri="{FF2B5EF4-FFF2-40B4-BE49-F238E27FC236}">
                <a16:creationId xmlns:a16="http://schemas.microsoft.com/office/drawing/2014/main" id="{8345A5E9-BEC6-37B5-260A-1D900E739493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597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E5EF69-46D7-714D-44AB-14B08A05A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C5F9A4-61D5-1F58-8042-C298AE83F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9F568-C2D0-CB31-B102-96D53A9B2B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9B86E7-F618-4216-9D2B-12096ADCFE1F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EB36F-0AB7-FD28-119E-ED2873D482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D0568-4791-6E47-E09B-24641A2339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07244E-3941-4E2C-ABD8-2203EF036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452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3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51A1A-F0E3-338E-E535-3ACBF996A4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Design and Analysis of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23BAA5-3BA6-EE7B-F131-727531A5CA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Overview of Modules 1-3</a:t>
            </a:r>
          </a:p>
        </p:txBody>
      </p:sp>
    </p:spTree>
    <p:extLst>
      <p:ext uri="{BB962C8B-B14F-4D97-AF65-F5344CB8AC3E}">
        <p14:creationId xmlns:p14="http://schemas.microsoft.com/office/powerpoint/2010/main" val="3969006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AEDC93B-E481-AA2B-BB5A-DEE794569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Introductory concepts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A2F9444-FFC0-AE01-D8F8-8AD8A9E6E9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8922758"/>
              </p:ext>
            </p:extLst>
          </p:nvPr>
        </p:nvGraphicFramePr>
        <p:xfrm>
          <a:off x="370200" y="1645718"/>
          <a:ext cx="11605337" cy="59180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38610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5761F6B9-7E10-87EA-562C-A11872DC16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How to state/represent an algorithm: Pseudocode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90EF7E10-2C92-D039-2FDF-31FF3D2254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b="1" i="1" dirty="0"/>
              <a:t>Pseudocode</a:t>
            </a:r>
            <a:r>
              <a:rPr lang="en-US" altLang="en-US" dirty="0"/>
              <a:t> is an artificial and informal language that helps programmers develop algorithms. Pseudocode is very similar to everyday English.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41193EE-631A-A2CA-A4C5-48D4CC40E8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/>
              <a:t>Pseudocode</a:t>
            </a:r>
            <a:r>
              <a:rPr lang="tr-TR" altLang="en-US"/>
              <a:t> </a:t>
            </a:r>
            <a:r>
              <a:rPr lang="en-US" altLang="en-US"/>
              <a:t>&amp; Algorithm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59A0D4CD-CD5E-E7BC-72A3-A68DCEC774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Example 1:</a:t>
            </a:r>
            <a:r>
              <a:rPr lang="en-US" altLang="en-US"/>
              <a:t> Write an algorithm to determine a student’s final grade and indicate whether it is passing or failing. The final grade is calculated as the average of four marks.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8F81BF0-B1AF-3C18-5D86-834964A140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/>
              <a:t>Pseudocode</a:t>
            </a:r>
            <a:r>
              <a:rPr lang="tr-TR" altLang="en-US"/>
              <a:t> </a:t>
            </a:r>
            <a:r>
              <a:rPr lang="en-US" altLang="en-US"/>
              <a:t>&amp; Algorithm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B51DDF6-5496-1CCF-FD5E-DBF58CCD1E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b="1"/>
              <a:t>Pseudocode</a:t>
            </a:r>
            <a:r>
              <a:rPr lang="en-US" altLang="en-US"/>
              <a:t>: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i="1"/>
              <a:t>Input a set of 4 marks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i="1"/>
              <a:t>Calculate their average by summing and dividing by 4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i="1"/>
              <a:t>if average is below 50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i="1"/>
              <a:t>		Print “FAIL”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i="1"/>
              <a:t>	else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i="1"/>
              <a:t>		Print “PASS”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C85B2D4-0626-8D14-E519-2E5FE70784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/>
              <a:t>Pseudocode</a:t>
            </a:r>
            <a:r>
              <a:rPr lang="tr-TR" altLang="en-US"/>
              <a:t> </a:t>
            </a:r>
            <a:r>
              <a:rPr lang="en-US" altLang="en-US"/>
              <a:t>&amp; Algorithm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2CA85C44-B0B2-D964-AA3D-EE7B51C47E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Detailed Algorithm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	Step 1:  	Input M1,M2,M3,M4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		Step 2: 	GRADE </a:t>
            </a:r>
            <a:r>
              <a:rPr lang="en-US" altLang="en-US">
                <a:sym typeface="Symbol" panose="05050102010706020507" pitchFamily="18" charset="2"/>
              </a:rPr>
              <a:t></a:t>
            </a:r>
            <a:r>
              <a:rPr lang="en-US" altLang="en-US"/>
              <a:t> (M1+M2+M3+M4)/4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		Step 3: 	if (GRADE &lt; 50) then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					Print “FAIL”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  				else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					Print “PASS”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				endif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341A7-EF40-FADA-F263-1E5E3C8FD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cont’d - Flowcharts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B7D31-AB9F-12EB-FB90-06E41F047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you represent/state an algorithm?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graphical representation of the sequence of operations in an information system or program. 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system flowcharts show how data flows from source documents through the computer to final distribution to users. 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 flowcharts show the sequence of instructions in a single program or subroutine. Different symbols are used to draw each type of flowchart.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64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055294D-0AE9-3423-8FB7-CBF77B726F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/>
              <a:t>The Flowchart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BA0D161E-B6E9-974F-256B-100649A969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A Flowchart</a:t>
            </a:r>
          </a:p>
          <a:p>
            <a:pPr lvl="1" eaLnBrk="1" hangingPunct="1"/>
            <a:r>
              <a:rPr lang="en-US" altLang="en-US"/>
              <a:t>shows logic of an algorithm</a:t>
            </a:r>
          </a:p>
          <a:p>
            <a:pPr lvl="1" eaLnBrk="1" hangingPunct="1"/>
            <a:r>
              <a:rPr lang="en-US" altLang="en-US"/>
              <a:t>emphasizes individual steps and their interconnections</a:t>
            </a:r>
          </a:p>
          <a:p>
            <a:pPr lvl="1" eaLnBrk="1" hangingPunct="1"/>
            <a:r>
              <a:rPr lang="en-US" altLang="en-US"/>
              <a:t>e.g. control flow from one action to the next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4B37652D-1DA6-3717-137B-291A4FEF88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/>
              <a:t>Flowchart Symbols </a:t>
            </a:r>
          </a:p>
        </p:txBody>
      </p:sp>
      <p:sp>
        <p:nvSpPr>
          <p:cNvPr id="11267" name="Text Box 8">
            <a:extLst>
              <a:ext uri="{FF2B5EF4-FFF2-40B4-BE49-F238E27FC236}">
                <a16:creationId xmlns:a16="http://schemas.microsoft.com/office/drawing/2014/main" id="{08ED08F2-1A63-CCD8-BD22-EB2A908E5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1524001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800"/>
              <a:t>Basic</a:t>
            </a:r>
          </a:p>
        </p:txBody>
      </p:sp>
      <p:graphicFrame>
        <p:nvGraphicFramePr>
          <p:cNvPr id="11268" name="Object 9">
            <a:extLst>
              <a:ext uri="{FF2B5EF4-FFF2-40B4-BE49-F238E27FC236}">
                <a16:creationId xmlns:a16="http://schemas.microsoft.com/office/drawing/2014/main" id="{E7A462B1-7543-218F-0BD5-90308BA842EE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3048000" y="2133600"/>
          <a:ext cx="6858000" cy="441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101225" imgH="5549102" progId="Visio.Drawing.11">
                  <p:embed/>
                </p:oleObj>
              </mc:Choice>
              <mc:Fallback>
                <p:oleObj name="Visio" r:id="rId2" imgW="6101225" imgH="5549102" progId="Visio.Drawing.11">
                  <p:embed/>
                  <p:pic>
                    <p:nvPicPr>
                      <p:cNvPr id="11268" name="Object 9">
                        <a:extLst>
                          <a:ext uri="{FF2B5EF4-FFF2-40B4-BE49-F238E27FC236}">
                            <a16:creationId xmlns:a16="http://schemas.microsoft.com/office/drawing/2014/main" id="{E7A462B1-7543-218F-0BD5-90308BA842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2133600"/>
                        <a:ext cx="6858000" cy="441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46D94AB-DF42-1FFB-7128-88BD6D635D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 dirty="0"/>
              <a:t>Example 1</a:t>
            </a:r>
          </a:p>
        </p:txBody>
      </p:sp>
      <p:sp>
        <p:nvSpPr>
          <p:cNvPr id="12291" name="AutoShape 15">
            <a:extLst>
              <a:ext uri="{FF2B5EF4-FFF2-40B4-BE49-F238E27FC236}">
                <a16:creationId xmlns:a16="http://schemas.microsoft.com/office/drawing/2014/main" id="{648043D2-01B7-8716-2CE3-E7E391318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1" y="4887914"/>
            <a:ext cx="1597025" cy="592137"/>
          </a:xfrm>
          <a:prstGeom prst="flowChartDisplay">
            <a:avLst/>
          </a:prstGeom>
          <a:solidFill>
            <a:srgbClr val="CC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/>
              <a:t>PRINT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/>
              <a:t>“PASS”</a:t>
            </a:r>
            <a:endParaRPr lang="en-US" altLang="en-US" sz="1800"/>
          </a:p>
        </p:txBody>
      </p:sp>
      <p:sp>
        <p:nvSpPr>
          <p:cNvPr id="12292" name="Text Box 29">
            <a:extLst>
              <a:ext uri="{FF2B5EF4-FFF2-40B4-BE49-F238E27FC236}">
                <a16:creationId xmlns:a16="http://schemas.microsoft.com/office/drawing/2014/main" id="{24F890AB-6962-8D9E-3A12-2F3295CD06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1600201"/>
            <a:ext cx="3124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tr-TR" altLang="en-US" sz="1800"/>
          </a:p>
        </p:txBody>
      </p:sp>
      <p:sp>
        <p:nvSpPr>
          <p:cNvPr id="12293" name="Text Box 30">
            <a:extLst>
              <a:ext uri="{FF2B5EF4-FFF2-40B4-BE49-F238E27FC236}">
                <a16:creationId xmlns:a16="http://schemas.microsoft.com/office/drawing/2014/main" id="{F589CFB1-06BF-C45D-49BF-EF2BC7C968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1905000"/>
            <a:ext cx="4572000" cy="242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Step 1:  	Input M1,M2,M3,M4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Step 2: 	GRADE </a:t>
            </a:r>
            <a:r>
              <a:rPr lang="en-US" altLang="en-US" sz="1800">
                <a:sym typeface="Symbol" panose="05050102010706020507" pitchFamily="18" charset="2"/>
              </a:rPr>
              <a:t></a:t>
            </a:r>
            <a:r>
              <a:rPr lang="en-US" altLang="en-US" sz="1800"/>
              <a:t> (M1+M2+M3+M4)/4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Step 3: 	if (GRADE &lt;50) then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	       	Print “FAIL”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  	else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		Print “PASS”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 	endif</a:t>
            </a: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grpSp>
        <p:nvGrpSpPr>
          <p:cNvPr id="12294" name="Group 34">
            <a:extLst>
              <a:ext uri="{FF2B5EF4-FFF2-40B4-BE49-F238E27FC236}">
                <a16:creationId xmlns:a16="http://schemas.microsoft.com/office/drawing/2014/main" id="{19CEEB82-54BD-E8D7-F396-16BF58C7936F}"/>
              </a:ext>
            </a:extLst>
          </p:cNvPr>
          <p:cNvGrpSpPr>
            <a:grpSpLocks/>
          </p:cNvGrpSpPr>
          <p:nvPr/>
        </p:nvGrpSpPr>
        <p:grpSpPr bwMode="auto">
          <a:xfrm>
            <a:off x="2654300" y="1828800"/>
            <a:ext cx="3441700" cy="4413250"/>
            <a:chOff x="712" y="1152"/>
            <a:chExt cx="2168" cy="2780"/>
          </a:xfrm>
        </p:grpSpPr>
        <p:sp>
          <p:nvSpPr>
            <p:cNvPr id="12295" name="AutoShape 9">
              <a:extLst>
                <a:ext uri="{FF2B5EF4-FFF2-40B4-BE49-F238E27FC236}">
                  <a16:creationId xmlns:a16="http://schemas.microsoft.com/office/drawing/2014/main" id="{29AD5218-244C-097A-D48F-3C81A0C3E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1152"/>
              <a:ext cx="592" cy="213"/>
            </a:xfrm>
            <a:prstGeom prst="flowChartTerminator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/>
                <a:t>START</a:t>
              </a:r>
              <a:endParaRPr lang="en-US" altLang="en-US" sz="1800"/>
            </a:p>
          </p:txBody>
        </p:sp>
        <p:sp>
          <p:nvSpPr>
            <p:cNvPr id="12296" name="Line 10">
              <a:extLst>
                <a:ext uri="{FF2B5EF4-FFF2-40B4-BE49-F238E27FC236}">
                  <a16:creationId xmlns:a16="http://schemas.microsoft.com/office/drawing/2014/main" id="{2B3B1D1C-B7EE-E927-C5A1-B1C39C6088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48" y="1365"/>
              <a:ext cx="0" cy="1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7" name="AutoShape 11">
              <a:extLst>
                <a:ext uri="{FF2B5EF4-FFF2-40B4-BE49-F238E27FC236}">
                  <a16:creationId xmlns:a16="http://schemas.microsoft.com/office/drawing/2014/main" id="{4EFB061F-24B0-C3AC-9E05-462A195A6F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7" y="1532"/>
              <a:ext cx="1301" cy="320"/>
            </a:xfrm>
            <a:prstGeom prst="flowChartInputOutpu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/>
                <a:t>Input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/>
                <a:t>M1,M2,M3,M4</a:t>
              </a:r>
              <a:endParaRPr lang="en-US" altLang="en-US" sz="1800"/>
            </a:p>
          </p:txBody>
        </p:sp>
        <p:sp>
          <p:nvSpPr>
            <p:cNvPr id="12298" name="AutoShape 12">
              <a:extLst>
                <a:ext uri="{FF2B5EF4-FFF2-40B4-BE49-F238E27FC236}">
                  <a16:creationId xmlns:a16="http://schemas.microsoft.com/office/drawing/2014/main" id="{66A4A8E7-1099-BE61-2B9F-4EEF598119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" y="2068"/>
              <a:ext cx="1489" cy="213"/>
            </a:xfrm>
            <a:prstGeom prst="flowChartProcess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/>
                <a:t>GRADE</a:t>
              </a:r>
              <a:r>
                <a:rPr lang="en-US" altLang="en-US" sz="1200" b="1">
                  <a:sym typeface="Symbol" panose="05050102010706020507" pitchFamily="18" charset="2"/>
                </a:rPr>
                <a:t></a:t>
              </a:r>
              <a:r>
                <a:rPr lang="en-US" altLang="en-US" sz="1200" b="1"/>
                <a:t>(M1+M2+M3+M4)/4</a:t>
              </a:r>
              <a:endParaRPr lang="en-US" altLang="en-US" sz="1800"/>
            </a:p>
          </p:txBody>
        </p:sp>
        <p:sp>
          <p:nvSpPr>
            <p:cNvPr id="12299" name="Line 13">
              <a:extLst>
                <a:ext uri="{FF2B5EF4-FFF2-40B4-BE49-F238E27FC236}">
                  <a16:creationId xmlns:a16="http://schemas.microsoft.com/office/drawing/2014/main" id="{24190AFB-F4AC-C2E8-3246-36F351000E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8" y="1852"/>
              <a:ext cx="0" cy="21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0" name="AutoShape 14">
              <a:extLst>
                <a:ext uri="{FF2B5EF4-FFF2-40B4-BE49-F238E27FC236}">
                  <a16:creationId xmlns:a16="http://schemas.microsoft.com/office/drawing/2014/main" id="{056CEBE2-971F-0AD0-062A-57DA9EADB0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7" y="2439"/>
              <a:ext cx="1183" cy="533"/>
            </a:xfrm>
            <a:prstGeom prst="flowChartDecision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/>
                <a:t>IS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/>
                <a:t>GRADE&lt;50</a:t>
              </a:r>
              <a:endParaRPr lang="en-US" altLang="en-US" sz="1800"/>
            </a:p>
          </p:txBody>
        </p:sp>
        <p:sp>
          <p:nvSpPr>
            <p:cNvPr id="12301" name="AutoShape 16">
              <a:extLst>
                <a:ext uri="{FF2B5EF4-FFF2-40B4-BE49-F238E27FC236}">
                  <a16:creationId xmlns:a16="http://schemas.microsoft.com/office/drawing/2014/main" id="{EB41B030-9526-ED1C-CB44-A2106DF251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4" y="3079"/>
              <a:ext cx="1006" cy="373"/>
            </a:xfrm>
            <a:prstGeom prst="flowChartDisplay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/>
                <a:t>PRINT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/>
                <a:t>“FAIL”</a:t>
              </a:r>
              <a:endParaRPr lang="en-US" altLang="en-US" sz="1800"/>
            </a:p>
          </p:txBody>
        </p:sp>
        <p:sp>
          <p:nvSpPr>
            <p:cNvPr id="12302" name="Line 17">
              <a:extLst>
                <a:ext uri="{FF2B5EF4-FFF2-40B4-BE49-F238E27FC236}">
                  <a16:creationId xmlns:a16="http://schemas.microsoft.com/office/drawing/2014/main" id="{54C1D2B8-37C6-A5B5-F29E-C5BA426C27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8" y="3612"/>
              <a:ext cx="0" cy="10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3" name="AutoShape 18">
              <a:extLst>
                <a:ext uri="{FF2B5EF4-FFF2-40B4-BE49-F238E27FC236}">
                  <a16:creationId xmlns:a16="http://schemas.microsoft.com/office/drawing/2014/main" id="{828BB7F2-A431-9DFB-72C6-0470ADEBFB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3" y="3719"/>
              <a:ext cx="591" cy="213"/>
            </a:xfrm>
            <a:prstGeom prst="flowChartTerminator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/>
                <a:t>STOP</a:t>
              </a:r>
              <a:endParaRPr lang="en-US" altLang="en-US" sz="1800"/>
            </a:p>
          </p:txBody>
        </p:sp>
        <p:sp>
          <p:nvSpPr>
            <p:cNvPr id="12304" name="Line 19">
              <a:extLst>
                <a:ext uri="{FF2B5EF4-FFF2-40B4-BE49-F238E27FC236}">
                  <a16:creationId xmlns:a16="http://schemas.microsoft.com/office/drawing/2014/main" id="{E7577E3B-F5AD-3E88-AEE1-818D41DAE0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" y="3612"/>
              <a:ext cx="169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5" name="Line 20">
              <a:extLst>
                <a:ext uri="{FF2B5EF4-FFF2-40B4-BE49-F238E27FC236}">
                  <a16:creationId xmlns:a16="http://schemas.microsoft.com/office/drawing/2014/main" id="{003772D4-10DA-0C90-4B9F-E3C5608D70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8" y="3452"/>
              <a:ext cx="0" cy="1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6" name="Line 21">
              <a:extLst>
                <a:ext uri="{FF2B5EF4-FFF2-40B4-BE49-F238E27FC236}">
                  <a16:creationId xmlns:a16="http://schemas.microsoft.com/office/drawing/2014/main" id="{04EEE2B4-9E91-9277-B334-6443EBFC8A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66" y="3452"/>
              <a:ext cx="0" cy="1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7" name="Line 22">
              <a:extLst>
                <a:ext uri="{FF2B5EF4-FFF2-40B4-BE49-F238E27FC236}">
                  <a16:creationId xmlns:a16="http://schemas.microsoft.com/office/drawing/2014/main" id="{4F1EDBEF-C182-D69E-80FC-312C76F30A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0" y="2705"/>
              <a:ext cx="29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8" name="Line 23">
              <a:extLst>
                <a:ext uri="{FF2B5EF4-FFF2-40B4-BE49-F238E27FC236}">
                  <a16:creationId xmlns:a16="http://schemas.microsoft.com/office/drawing/2014/main" id="{BFC80083-4306-3186-3124-D64A91E54E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6" y="2705"/>
              <a:ext cx="0" cy="3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9" name="Line 24">
              <a:extLst>
                <a:ext uri="{FF2B5EF4-FFF2-40B4-BE49-F238E27FC236}">
                  <a16:creationId xmlns:a16="http://schemas.microsoft.com/office/drawing/2014/main" id="{1D8EF988-C850-D423-B951-AE940FE6BF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688"/>
              <a:ext cx="0" cy="3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0" name="Line 26">
              <a:extLst>
                <a:ext uri="{FF2B5EF4-FFF2-40B4-BE49-F238E27FC236}">
                  <a16:creationId xmlns:a16="http://schemas.microsoft.com/office/drawing/2014/main" id="{7E47D29F-2E7F-B558-8D81-2906ECD0C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8" y="2279"/>
              <a:ext cx="0" cy="1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1" name="Text Box 27">
              <a:extLst>
                <a:ext uri="{FF2B5EF4-FFF2-40B4-BE49-F238E27FC236}">
                  <a16:creationId xmlns:a16="http://schemas.microsoft.com/office/drawing/2014/main" id="{B280403D-539B-F2FF-4306-3F3D95EE93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2544"/>
              <a:ext cx="296" cy="159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/>
                <a:t>Y</a:t>
              </a:r>
              <a:endParaRPr lang="en-US" altLang="en-US" sz="1800"/>
            </a:p>
          </p:txBody>
        </p:sp>
        <p:sp>
          <p:nvSpPr>
            <p:cNvPr id="12312" name="Text Box 28">
              <a:extLst>
                <a:ext uri="{FF2B5EF4-FFF2-40B4-BE49-F238E27FC236}">
                  <a16:creationId xmlns:a16="http://schemas.microsoft.com/office/drawing/2014/main" id="{13CDF2CC-A817-92EE-AE38-293C696D61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2528"/>
              <a:ext cx="296" cy="160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/>
                <a:t>N</a:t>
              </a:r>
              <a:endParaRPr lang="en-US" altLang="en-US" sz="1800"/>
            </a:p>
          </p:txBody>
        </p:sp>
        <p:sp>
          <p:nvSpPr>
            <p:cNvPr id="12313" name="Line 33">
              <a:extLst>
                <a:ext uri="{FF2B5EF4-FFF2-40B4-BE49-F238E27FC236}">
                  <a16:creationId xmlns:a16="http://schemas.microsoft.com/office/drawing/2014/main" id="{2786A119-F5AE-57D5-5462-34E225DB09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2" y="2688"/>
              <a:ext cx="29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2A0FE780-1C74-BF3B-E2B0-DE010DB413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/>
              <a:t>Example 2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3E755C9B-CEBC-FB93-0ACA-6208EA1001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Write an algorithm and draw a flowchart to convert the length in feet to centimeter.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b="1"/>
              <a:t>Pseudocode</a:t>
            </a:r>
            <a:r>
              <a:rPr lang="en-US" altLang="en-US"/>
              <a:t>:	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 </a:t>
            </a:r>
            <a:r>
              <a:rPr lang="en-US" altLang="en-US" i="1"/>
              <a:t>Input the length in feet (Lft)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i="1"/>
              <a:t>Calculate the length in cm (Lcm) by multiplying LFT with 30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i="1"/>
              <a:t>Print length in cm (LCM)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C50DDA7-3C65-D138-54F9-ABF48B64DD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/>
              <a:t>Example 2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32F2B22E-F1F3-12EC-B491-2D5073074A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b="1"/>
              <a:t>Algorithm</a:t>
            </a:r>
            <a:r>
              <a:rPr lang="en-US" altLang="en-US"/>
              <a:t> </a:t>
            </a:r>
          </a:p>
          <a:p>
            <a:pPr eaLnBrk="1" hangingPunct="1"/>
            <a:r>
              <a:rPr lang="en-US" altLang="en-US"/>
              <a:t>Step 1:  Input Lft</a:t>
            </a:r>
          </a:p>
          <a:p>
            <a:pPr eaLnBrk="1" hangingPunct="1"/>
            <a:r>
              <a:rPr lang="en-US" altLang="en-US"/>
              <a:t>Step 2: 	Lcm </a:t>
            </a:r>
            <a:r>
              <a:rPr lang="en-US" altLang="en-US">
                <a:sym typeface="Symbol" panose="05050102010706020507" pitchFamily="18" charset="2"/>
              </a:rPr>
              <a:t></a:t>
            </a:r>
            <a:r>
              <a:rPr lang="en-US" altLang="en-US"/>
              <a:t> Lft x 30 </a:t>
            </a:r>
          </a:p>
          <a:p>
            <a:pPr eaLnBrk="1" hangingPunct="1"/>
            <a:r>
              <a:rPr lang="en-US" altLang="en-US"/>
              <a:t>Step 3: 	Print Lcm</a:t>
            </a:r>
          </a:p>
          <a:p>
            <a:pPr eaLnBrk="1" hangingPunct="1"/>
            <a:endParaRPr lang="en-US" altLang="en-US"/>
          </a:p>
        </p:txBody>
      </p:sp>
      <p:grpSp>
        <p:nvGrpSpPr>
          <p:cNvPr id="14340" name="Group 4">
            <a:extLst>
              <a:ext uri="{FF2B5EF4-FFF2-40B4-BE49-F238E27FC236}">
                <a16:creationId xmlns:a16="http://schemas.microsoft.com/office/drawing/2014/main" id="{DD6B1DA0-95AB-6C72-F15E-F4C81FE8B038}"/>
              </a:ext>
            </a:extLst>
          </p:cNvPr>
          <p:cNvGrpSpPr>
            <a:grpSpLocks/>
          </p:cNvGrpSpPr>
          <p:nvPr/>
        </p:nvGrpSpPr>
        <p:grpSpPr bwMode="auto">
          <a:xfrm>
            <a:off x="7239001" y="2362200"/>
            <a:ext cx="2011363" cy="3670300"/>
            <a:chOff x="2448" y="5328"/>
            <a:chExt cx="3168" cy="5779"/>
          </a:xfrm>
        </p:grpSpPr>
        <p:sp>
          <p:nvSpPr>
            <p:cNvPr id="14342" name="AutoShape 5">
              <a:extLst>
                <a:ext uri="{FF2B5EF4-FFF2-40B4-BE49-F238E27FC236}">
                  <a16:creationId xmlns:a16="http://schemas.microsoft.com/office/drawing/2014/main" id="{84F12854-C3E1-A399-A593-3687CAF0C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7" y="5328"/>
              <a:ext cx="1440" cy="576"/>
            </a:xfrm>
            <a:prstGeom prst="flowChartTerminator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/>
                <a:t>START</a:t>
              </a:r>
              <a:endParaRPr lang="en-US" altLang="en-US" sz="1800"/>
            </a:p>
          </p:txBody>
        </p:sp>
        <p:sp>
          <p:nvSpPr>
            <p:cNvPr id="14343" name="Line 6">
              <a:extLst>
                <a:ext uri="{FF2B5EF4-FFF2-40B4-BE49-F238E27FC236}">
                  <a16:creationId xmlns:a16="http://schemas.microsoft.com/office/drawing/2014/main" id="{E6875D75-9C59-47FD-FD93-B3FDDA2FC9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7" y="5904"/>
              <a:ext cx="0" cy="4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4" name="AutoShape 7">
              <a:extLst>
                <a:ext uri="{FF2B5EF4-FFF2-40B4-BE49-F238E27FC236}">
                  <a16:creationId xmlns:a16="http://schemas.microsoft.com/office/drawing/2014/main" id="{01F38C25-639C-7361-8328-E7F2F1FAA6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6355"/>
              <a:ext cx="3168" cy="864"/>
            </a:xfrm>
            <a:prstGeom prst="flowChartInputOutput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/>
                <a:t>Input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/>
                <a:t>Lft</a:t>
              </a:r>
              <a:endParaRPr lang="en-US" altLang="en-US" sz="1800"/>
            </a:p>
          </p:txBody>
        </p:sp>
        <p:sp>
          <p:nvSpPr>
            <p:cNvPr id="14345" name="AutoShape 8">
              <a:extLst>
                <a:ext uri="{FF2B5EF4-FFF2-40B4-BE49-F238E27FC236}">
                  <a16:creationId xmlns:a16="http://schemas.microsoft.com/office/drawing/2014/main" id="{1512C106-9964-DD29-3E28-D3901EEC45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7" y="7801"/>
              <a:ext cx="2141" cy="576"/>
            </a:xfrm>
            <a:prstGeom prst="flowChartProcess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/>
                <a:t>Lcm </a:t>
              </a:r>
              <a:r>
                <a:rPr lang="en-US" altLang="en-US" sz="1800">
                  <a:sym typeface="Symbol" panose="05050102010706020507" pitchFamily="18" charset="2"/>
                </a:rPr>
                <a:t></a:t>
              </a:r>
              <a:r>
                <a:rPr lang="en-US" altLang="en-US" sz="1200" b="1"/>
                <a:t> Lft x 30</a:t>
              </a:r>
            </a:p>
          </p:txBody>
        </p:sp>
        <p:sp>
          <p:nvSpPr>
            <p:cNvPr id="14346" name="Line 9">
              <a:extLst>
                <a:ext uri="{FF2B5EF4-FFF2-40B4-BE49-F238E27FC236}">
                  <a16:creationId xmlns:a16="http://schemas.microsoft.com/office/drawing/2014/main" id="{5052C06B-6168-33FA-180D-62FC570861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7219"/>
              <a:ext cx="0" cy="5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7" name="AutoShape 10">
              <a:extLst>
                <a:ext uri="{FF2B5EF4-FFF2-40B4-BE49-F238E27FC236}">
                  <a16:creationId xmlns:a16="http://schemas.microsoft.com/office/drawing/2014/main" id="{8A6E4E2C-3760-8E67-B9C5-3AAE9F087D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2" y="8947"/>
              <a:ext cx="2448" cy="1008"/>
            </a:xfrm>
            <a:prstGeom prst="flowChartDisplay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/>
                <a:t>Print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/>
                <a:t>Lcm</a:t>
              </a:r>
              <a:endParaRPr lang="en-US" altLang="en-US" sz="1800"/>
            </a:p>
          </p:txBody>
        </p:sp>
        <p:sp>
          <p:nvSpPr>
            <p:cNvPr id="14348" name="AutoShape 11">
              <a:extLst>
                <a:ext uri="{FF2B5EF4-FFF2-40B4-BE49-F238E27FC236}">
                  <a16:creationId xmlns:a16="http://schemas.microsoft.com/office/drawing/2014/main" id="{E29CDAA5-A792-EC2A-D831-275988BE01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3" y="10512"/>
              <a:ext cx="1440" cy="595"/>
            </a:xfrm>
            <a:prstGeom prst="flowChartTerminator">
              <a:avLst/>
            </a:prstGeom>
            <a:solidFill>
              <a:srgbClr val="CC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/>
                <a:t>STOP</a:t>
              </a:r>
              <a:endParaRPr lang="en-US" altLang="en-US" sz="1800"/>
            </a:p>
          </p:txBody>
        </p:sp>
        <p:sp>
          <p:nvSpPr>
            <p:cNvPr id="14349" name="Line 12">
              <a:extLst>
                <a:ext uri="{FF2B5EF4-FFF2-40B4-BE49-F238E27FC236}">
                  <a16:creationId xmlns:a16="http://schemas.microsoft.com/office/drawing/2014/main" id="{1F6B3E0C-4C79-BB2A-7F27-591FA5252C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8371"/>
              <a:ext cx="0" cy="5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0" name="Line 13">
              <a:extLst>
                <a:ext uri="{FF2B5EF4-FFF2-40B4-BE49-F238E27FC236}">
                  <a16:creationId xmlns:a16="http://schemas.microsoft.com/office/drawing/2014/main" id="{8055437B-ADFD-7FAA-E393-7D2D413B11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9955"/>
              <a:ext cx="0" cy="5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341" name="Text Box 14">
            <a:extLst>
              <a:ext uri="{FF2B5EF4-FFF2-40B4-BE49-F238E27FC236}">
                <a16:creationId xmlns:a16="http://schemas.microsoft.com/office/drawing/2014/main" id="{A5851C42-30DE-4C08-6524-09A890C7F7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3800" y="1600200"/>
            <a:ext cx="2209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/>
              <a:t>Flowchart</a:t>
            </a:r>
            <a:r>
              <a:rPr lang="en-US" altLang="en-US" sz="2400"/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B136B82-DB5B-9B90-5E60-0AB411637C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n-US" altLang="en-US"/>
              <a:t>Example 3 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86901298-049C-7FDF-80EE-FCE48D4F4D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b="1"/>
              <a:t>	Write an algorithm and draw a flowchart that will read the two sides of a rectangle and calculate its area.</a:t>
            </a:r>
            <a:r>
              <a:rPr lang="en-US" altLang="en-US"/>
              <a:t> </a:t>
            </a:r>
            <a:endParaRPr lang="en-US" altLang="en-US" b="1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b="1"/>
              <a:t>Pseudocode</a:t>
            </a:r>
            <a:r>
              <a:rPr lang="en-US" altLang="en-US"/>
              <a:t> </a:t>
            </a:r>
          </a:p>
          <a:p>
            <a:pPr eaLnBrk="1" hangingPunct="1"/>
            <a:r>
              <a:rPr lang="en-US" altLang="en-US" i="1"/>
              <a:t>Input the width (W) and Length (L) of a rectangle</a:t>
            </a:r>
          </a:p>
          <a:p>
            <a:pPr eaLnBrk="1" hangingPunct="1"/>
            <a:r>
              <a:rPr lang="en-US" altLang="en-US" i="1"/>
              <a:t>Calculate the area (A) by multiplying L with W</a:t>
            </a:r>
          </a:p>
          <a:p>
            <a:pPr eaLnBrk="1" hangingPunct="1"/>
            <a:r>
              <a:rPr lang="en-US" altLang="en-US" i="1"/>
              <a:t>Print 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8EC7B776-101E-2BF9-79A5-BE7CFD0A45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3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FA303AFC-C6CF-09FF-83BA-797C65E04C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57400" y="1905000"/>
            <a:ext cx="8229600" cy="3886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b="1"/>
              <a:t>Algorithm</a:t>
            </a:r>
            <a:r>
              <a:rPr lang="en-US" altLang="en-US"/>
              <a:t> </a:t>
            </a:r>
          </a:p>
          <a:p>
            <a:pPr eaLnBrk="1" hangingPunct="1"/>
            <a:r>
              <a:rPr lang="en-US" altLang="en-US"/>
              <a:t>Step 1: 	Input W,L</a:t>
            </a:r>
          </a:p>
          <a:p>
            <a:pPr eaLnBrk="1" hangingPunct="1"/>
            <a:r>
              <a:rPr lang="en-US" altLang="en-US"/>
              <a:t>Step 2: 	A </a:t>
            </a:r>
            <a:r>
              <a:rPr lang="en-US" altLang="en-US">
                <a:sym typeface="Symbol" panose="05050102010706020507" pitchFamily="18" charset="2"/>
              </a:rPr>
              <a:t></a:t>
            </a:r>
            <a:r>
              <a:rPr lang="en-US" altLang="en-US"/>
              <a:t> L  x  W </a:t>
            </a:r>
          </a:p>
          <a:p>
            <a:pPr eaLnBrk="1" hangingPunct="1"/>
            <a:r>
              <a:rPr lang="en-US" altLang="en-US"/>
              <a:t>Step 3: 	Print A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</p:txBody>
      </p:sp>
      <p:grpSp>
        <p:nvGrpSpPr>
          <p:cNvPr id="16388" name="Group 5">
            <a:extLst>
              <a:ext uri="{FF2B5EF4-FFF2-40B4-BE49-F238E27FC236}">
                <a16:creationId xmlns:a16="http://schemas.microsoft.com/office/drawing/2014/main" id="{E315FD49-D76A-02A5-17C4-2426A444FBD9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2057400"/>
            <a:ext cx="3124200" cy="4191000"/>
            <a:chOff x="2448" y="5328"/>
            <a:chExt cx="3168" cy="5779"/>
          </a:xfrm>
        </p:grpSpPr>
        <p:sp>
          <p:nvSpPr>
            <p:cNvPr id="16389" name="AutoShape 6">
              <a:extLst>
                <a:ext uri="{FF2B5EF4-FFF2-40B4-BE49-F238E27FC236}">
                  <a16:creationId xmlns:a16="http://schemas.microsoft.com/office/drawing/2014/main" id="{3B63B402-309E-C485-88D0-96C04EAE78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7" y="5328"/>
              <a:ext cx="1440" cy="576"/>
            </a:xfrm>
            <a:prstGeom prst="flowChartTerminator">
              <a:avLst/>
            </a:prstGeom>
            <a:solidFill>
              <a:srgbClr val="CCFFFF">
                <a:alpha val="79999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b="1"/>
                <a:t>START</a:t>
              </a:r>
              <a:endParaRPr lang="en-US" altLang="en-US" sz="1400"/>
            </a:p>
          </p:txBody>
        </p:sp>
        <p:sp>
          <p:nvSpPr>
            <p:cNvPr id="16390" name="Line 7">
              <a:extLst>
                <a:ext uri="{FF2B5EF4-FFF2-40B4-BE49-F238E27FC236}">
                  <a16:creationId xmlns:a16="http://schemas.microsoft.com/office/drawing/2014/main" id="{0969EDA1-65AD-8585-C0F2-B7937407D4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7" y="5904"/>
              <a:ext cx="0" cy="4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1" name="AutoShape 8">
              <a:extLst>
                <a:ext uri="{FF2B5EF4-FFF2-40B4-BE49-F238E27FC236}">
                  <a16:creationId xmlns:a16="http://schemas.microsoft.com/office/drawing/2014/main" id="{E263E88F-0F19-88B1-8F1B-71EF192F9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6355"/>
              <a:ext cx="3168" cy="864"/>
            </a:xfrm>
            <a:prstGeom prst="flowChartInputOutput">
              <a:avLst/>
            </a:prstGeom>
            <a:solidFill>
              <a:srgbClr val="CCFFFF">
                <a:alpha val="79999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b="1"/>
                <a:t>Input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b="1"/>
                <a:t>W, L</a:t>
              </a:r>
              <a:endParaRPr lang="en-US" altLang="en-US" sz="1400"/>
            </a:p>
          </p:txBody>
        </p:sp>
        <p:sp>
          <p:nvSpPr>
            <p:cNvPr id="16392" name="AutoShape 9">
              <a:extLst>
                <a:ext uri="{FF2B5EF4-FFF2-40B4-BE49-F238E27FC236}">
                  <a16:creationId xmlns:a16="http://schemas.microsoft.com/office/drawing/2014/main" id="{1A701E93-0112-EE42-9E3D-1F7CCC8335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7" y="7801"/>
              <a:ext cx="2141" cy="576"/>
            </a:xfrm>
            <a:prstGeom prst="flowChartProcess">
              <a:avLst/>
            </a:prstGeom>
            <a:solidFill>
              <a:srgbClr val="CCFFFF">
                <a:alpha val="79999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b="1"/>
                <a:t>A </a:t>
              </a:r>
              <a:r>
                <a:rPr lang="en-US" altLang="en-US" sz="1800">
                  <a:sym typeface="Symbol" panose="05050102010706020507" pitchFamily="18" charset="2"/>
                </a:rPr>
                <a:t></a:t>
              </a:r>
              <a:r>
                <a:rPr lang="en-US" altLang="en-US" sz="1400" b="1"/>
                <a:t> L x W</a:t>
              </a:r>
            </a:p>
          </p:txBody>
        </p:sp>
        <p:sp>
          <p:nvSpPr>
            <p:cNvPr id="16393" name="Line 10">
              <a:extLst>
                <a:ext uri="{FF2B5EF4-FFF2-40B4-BE49-F238E27FC236}">
                  <a16:creationId xmlns:a16="http://schemas.microsoft.com/office/drawing/2014/main" id="{3103B519-18BA-24A2-C590-AB41DE443F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7219"/>
              <a:ext cx="0" cy="5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4" name="AutoShape 11">
              <a:extLst>
                <a:ext uri="{FF2B5EF4-FFF2-40B4-BE49-F238E27FC236}">
                  <a16:creationId xmlns:a16="http://schemas.microsoft.com/office/drawing/2014/main" id="{C21D18A7-6E69-E384-E748-43CAD77C5C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2" y="8947"/>
              <a:ext cx="2448" cy="1008"/>
            </a:xfrm>
            <a:prstGeom prst="flowChartDisplay">
              <a:avLst/>
            </a:prstGeom>
            <a:solidFill>
              <a:srgbClr val="CCFFFF">
                <a:alpha val="79999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b="1"/>
                <a:t>Print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b="1"/>
                <a:t>A</a:t>
              </a:r>
              <a:endParaRPr lang="en-US" altLang="en-US" sz="1400"/>
            </a:p>
          </p:txBody>
        </p:sp>
        <p:sp>
          <p:nvSpPr>
            <p:cNvPr id="16395" name="AutoShape 12">
              <a:extLst>
                <a:ext uri="{FF2B5EF4-FFF2-40B4-BE49-F238E27FC236}">
                  <a16:creationId xmlns:a16="http://schemas.microsoft.com/office/drawing/2014/main" id="{57A84BB4-E2AE-3375-22DB-BB5F241EAD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3" y="10512"/>
              <a:ext cx="1440" cy="595"/>
            </a:xfrm>
            <a:prstGeom prst="flowChartTerminator">
              <a:avLst/>
            </a:prstGeom>
            <a:solidFill>
              <a:srgbClr val="CCFFFF">
                <a:alpha val="79999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b="1"/>
                <a:t>STOP</a:t>
              </a:r>
              <a:endParaRPr lang="en-US" altLang="en-US" sz="1400"/>
            </a:p>
          </p:txBody>
        </p:sp>
        <p:sp>
          <p:nvSpPr>
            <p:cNvPr id="16396" name="Line 13">
              <a:extLst>
                <a:ext uri="{FF2B5EF4-FFF2-40B4-BE49-F238E27FC236}">
                  <a16:creationId xmlns:a16="http://schemas.microsoft.com/office/drawing/2014/main" id="{CAE39AF0-1EB2-2ED8-8AC3-BEDA3FF6E4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8371"/>
              <a:ext cx="0" cy="5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7" name="Line 14">
              <a:extLst>
                <a:ext uri="{FF2B5EF4-FFF2-40B4-BE49-F238E27FC236}">
                  <a16:creationId xmlns:a16="http://schemas.microsoft.com/office/drawing/2014/main" id="{F4EADDB7-4C22-D883-8B21-9E57400A9E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2" y="9955"/>
              <a:ext cx="0" cy="57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Slide Number Placeholder 4">
            <a:extLst>
              <a:ext uri="{FF2B5EF4-FFF2-40B4-BE49-F238E27FC236}">
                <a16:creationId xmlns:a16="http://schemas.microsoft.com/office/drawing/2014/main" id="{F843BB6D-9BEF-C43A-3F81-DE68E82480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962C434-C3B7-48F7-B811-2E110D44ECD1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A4FB92BB-666A-0B77-B86A-8FB6EC418C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Flowcharts</a:t>
            </a:r>
          </a:p>
        </p:txBody>
      </p:sp>
      <p:sp>
        <p:nvSpPr>
          <p:cNvPr id="17413" name="Rectangle 3">
            <a:extLst>
              <a:ext uri="{FF2B5EF4-FFF2-40B4-BE49-F238E27FC236}">
                <a16:creationId xmlns:a16="http://schemas.microsoft.com/office/drawing/2014/main" id="{F866256D-7C70-0089-582B-E2E31BB77A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Flowcharts is a graph used to depict or show a step by step solution using </a:t>
            </a:r>
            <a:r>
              <a:rPr lang="en-US" altLang="en-US" b="1"/>
              <a:t>symbols</a:t>
            </a:r>
            <a:r>
              <a:rPr lang="en-US" altLang="en-US"/>
              <a:t> which represent a task.</a:t>
            </a:r>
          </a:p>
          <a:p>
            <a:pPr eaLnBrk="1" hangingPunct="1">
              <a:lnSpc>
                <a:spcPct val="20000"/>
              </a:lnSpc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/>
            <a:r>
              <a:rPr lang="en-US" altLang="en-US"/>
              <a:t>The symbols used consist of geometrical shapes that are connected by </a:t>
            </a:r>
            <a:r>
              <a:rPr lang="en-US" altLang="en-US" b="1"/>
              <a:t>flow lines</a:t>
            </a:r>
            <a:r>
              <a:rPr lang="en-US" altLang="en-US"/>
              <a:t>.</a:t>
            </a:r>
          </a:p>
          <a:p>
            <a:pPr eaLnBrk="1" hangingPunct="1">
              <a:lnSpc>
                <a:spcPct val="20000"/>
              </a:lnSpc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/>
            <a:r>
              <a:rPr lang="en-US" altLang="en-US"/>
              <a:t>It is an alternative to pseudocoding; whereas a pseudocode description is verbal, a flowchart is graphical in nature.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Slide Number Placeholder 4">
            <a:extLst>
              <a:ext uri="{FF2B5EF4-FFF2-40B4-BE49-F238E27FC236}">
                <a16:creationId xmlns:a16="http://schemas.microsoft.com/office/drawing/2014/main" id="{726C569D-B231-BF9F-CDC4-DAFE1F79EB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8BFC04A-0217-48DC-86FB-E89268543079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18436" name="Rectangle 2">
            <a:extLst>
              <a:ext uri="{FF2B5EF4-FFF2-40B4-BE49-F238E27FC236}">
                <a16:creationId xmlns:a16="http://schemas.microsoft.com/office/drawing/2014/main" id="{D8E916FA-0F9B-A888-D71A-0EDA50A459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Flowchart Symbols</a:t>
            </a:r>
          </a:p>
        </p:txBody>
      </p:sp>
      <p:sp>
        <p:nvSpPr>
          <p:cNvPr id="18437" name="AutoShape 5">
            <a:extLst>
              <a:ext uri="{FF2B5EF4-FFF2-40B4-BE49-F238E27FC236}">
                <a16:creationId xmlns:a16="http://schemas.microsoft.com/office/drawing/2014/main" id="{1F2DFE98-032E-E20A-84F9-4684ABF94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8" y="1752600"/>
            <a:ext cx="995362" cy="382588"/>
          </a:xfrm>
          <a:prstGeom prst="flowChartAlternate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438" name="AutoShape 6">
            <a:extLst>
              <a:ext uri="{FF2B5EF4-FFF2-40B4-BE49-F238E27FC236}">
                <a16:creationId xmlns:a16="http://schemas.microsoft.com/office/drawing/2014/main" id="{A6955657-9A94-5AAE-EB1C-39F5092D8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9" y="2541589"/>
            <a:ext cx="960437" cy="339725"/>
          </a:xfrm>
          <a:prstGeom prst="flowChartProcess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439" name="AutoShape 7">
            <a:extLst>
              <a:ext uri="{FF2B5EF4-FFF2-40B4-BE49-F238E27FC236}">
                <a16:creationId xmlns:a16="http://schemas.microsoft.com/office/drawing/2014/main" id="{99C5AA6F-D8C5-E9ED-598A-16B380706A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3355975"/>
            <a:ext cx="1182688" cy="407988"/>
          </a:xfrm>
          <a:prstGeom prst="flowChartInputOutpu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440" name="AutoShape 8">
            <a:extLst>
              <a:ext uri="{FF2B5EF4-FFF2-40B4-BE49-F238E27FC236}">
                <a16:creationId xmlns:a16="http://schemas.microsoft.com/office/drawing/2014/main" id="{D445B389-32F8-4321-7A65-35BB44B19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8" y="4238625"/>
            <a:ext cx="1035050" cy="611188"/>
          </a:xfrm>
          <a:prstGeom prst="flowChartMagneticDisk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441" name="AutoShape 9">
            <a:extLst>
              <a:ext uri="{FF2B5EF4-FFF2-40B4-BE49-F238E27FC236}">
                <a16:creationId xmlns:a16="http://schemas.microsoft.com/office/drawing/2014/main" id="{8F1DA401-83C8-F9BC-A3DB-D9D88FDF4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7250" y="5324476"/>
            <a:ext cx="960438" cy="542925"/>
          </a:xfrm>
          <a:prstGeom prst="flowChartDocumen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18442" name="Text Box 10">
            <a:extLst>
              <a:ext uri="{FF2B5EF4-FFF2-40B4-BE49-F238E27FC236}">
                <a16:creationId xmlns:a16="http://schemas.microsoft.com/office/drawing/2014/main" id="{5D987DCC-48F8-1565-3077-917177A48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8239" y="1524001"/>
            <a:ext cx="507914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Terminal symbol</a:t>
            </a:r>
            <a:r>
              <a:rPr lang="en-US" altLang="en-US" sz="1800"/>
              <a:t> - indicates the beginning and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end points of an algorithm.</a:t>
            </a:r>
          </a:p>
        </p:txBody>
      </p:sp>
      <p:sp>
        <p:nvSpPr>
          <p:cNvPr id="18443" name="Text Box 11">
            <a:extLst>
              <a:ext uri="{FF2B5EF4-FFF2-40B4-BE49-F238E27FC236}">
                <a16:creationId xmlns:a16="http://schemas.microsoft.com/office/drawing/2014/main" id="{3BC66AA2-33E7-227F-3210-76A99992FC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2364" y="2306639"/>
            <a:ext cx="535274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Process symbol</a:t>
            </a:r>
            <a:r>
              <a:rPr lang="en-US" altLang="en-US" sz="1800"/>
              <a:t> - shows an instruction other than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input, output or selection.</a:t>
            </a:r>
          </a:p>
        </p:txBody>
      </p:sp>
      <p:sp>
        <p:nvSpPr>
          <p:cNvPr id="18444" name="Text Box 12">
            <a:extLst>
              <a:ext uri="{FF2B5EF4-FFF2-40B4-BE49-F238E27FC236}">
                <a16:creationId xmlns:a16="http://schemas.microsoft.com/office/drawing/2014/main" id="{459A6E2A-0558-D1AF-D18A-6C4C19E7F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2363" y="3189289"/>
            <a:ext cx="551946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Input-output symbol</a:t>
            </a:r>
            <a:r>
              <a:rPr lang="en-US" altLang="en-US" sz="1800"/>
              <a:t> - shows an input or an output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operation.</a:t>
            </a:r>
          </a:p>
        </p:txBody>
      </p:sp>
      <p:sp>
        <p:nvSpPr>
          <p:cNvPr id="18445" name="Text Box 13">
            <a:extLst>
              <a:ext uri="{FF2B5EF4-FFF2-40B4-BE49-F238E27FC236}">
                <a16:creationId xmlns:a16="http://schemas.microsoft.com/office/drawing/2014/main" id="{7351BA51-5800-953B-F9EE-1DACC8DF8A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8238" y="4170364"/>
            <a:ext cx="624205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Disk storage I/O symbol</a:t>
            </a:r>
            <a:r>
              <a:rPr lang="en-US" altLang="en-US" sz="1800"/>
              <a:t> - indicates input from or output to disk storage.</a:t>
            </a:r>
          </a:p>
        </p:txBody>
      </p:sp>
      <p:sp>
        <p:nvSpPr>
          <p:cNvPr id="18446" name="Text Box 14">
            <a:extLst>
              <a:ext uri="{FF2B5EF4-FFF2-40B4-BE49-F238E27FC236}">
                <a16:creationId xmlns:a16="http://schemas.microsoft.com/office/drawing/2014/main" id="{F5189E99-37A3-FEF2-8038-5E0FAB7589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8239" y="5121276"/>
            <a:ext cx="517321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Printer output symbol</a:t>
            </a:r>
            <a:r>
              <a:rPr lang="en-US" altLang="en-US" sz="1800"/>
              <a:t> - shows hardcopy printer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output.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Slide Number Placeholder 4">
            <a:extLst>
              <a:ext uri="{FF2B5EF4-FFF2-40B4-BE49-F238E27FC236}">
                <a16:creationId xmlns:a16="http://schemas.microsoft.com/office/drawing/2014/main" id="{9904761D-904E-8A9E-153D-AD79F1549F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3C38CD8-F677-48D4-86E0-C3227571D584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34F95A71-D64A-E725-FEC8-862175936D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Flowchart Symbols cont…</a:t>
            </a:r>
          </a:p>
        </p:txBody>
      </p:sp>
      <p:grpSp>
        <p:nvGrpSpPr>
          <p:cNvPr id="19461" name="Group 4">
            <a:extLst>
              <a:ext uri="{FF2B5EF4-FFF2-40B4-BE49-F238E27FC236}">
                <a16:creationId xmlns:a16="http://schemas.microsoft.com/office/drawing/2014/main" id="{55B7A270-9121-22EC-76CA-CA917C5C3AA1}"/>
              </a:ext>
            </a:extLst>
          </p:cNvPr>
          <p:cNvGrpSpPr>
            <a:grpSpLocks/>
          </p:cNvGrpSpPr>
          <p:nvPr/>
        </p:nvGrpSpPr>
        <p:grpSpPr bwMode="auto">
          <a:xfrm>
            <a:off x="2057400" y="1524000"/>
            <a:ext cx="7772400" cy="4298950"/>
            <a:chOff x="336" y="1200"/>
            <a:chExt cx="4896" cy="2708"/>
          </a:xfrm>
        </p:grpSpPr>
        <p:sp>
          <p:nvSpPr>
            <p:cNvPr id="19462" name="AutoShape 5">
              <a:extLst>
                <a:ext uri="{FF2B5EF4-FFF2-40B4-BE49-F238E27FC236}">
                  <a16:creationId xmlns:a16="http://schemas.microsoft.com/office/drawing/2014/main" id="{25896283-42F3-98B2-50E7-1EB4023D12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261"/>
              <a:ext cx="813" cy="420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9463" name="AutoShape 6">
              <a:extLst>
                <a:ext uri="{FF2B5EF4-FFF2-40B4-BE49-F238E27FC236}">
                  <a16:creationId xmlns:a16="http://schemas.microsoft.com/office/drawing/2014/main" id="{D601E8FF-2A32-88DD-D2B4-A41B5A9A0C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2018"/>
              <a:ext cx="621" cy="378"/>
            </a:xfrm>
            <a:prstGeom prst="flowChartOffpageConnector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9464" name="AutoShape 7">
              <a:extLst>
                <a:ext uri="{FF2B5EF4-FFF2-40B4-BE49-F238E27FC236}">
                  <a16:creationId xmlns:a16="http://schemas.microsoft.com/office/drawing/2014/main" id="{F1CFC70D-2512-FC0B-5E8C-725D164CF2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3" y="2732"/>
              <a:ext cx="191" cy="168"/>
            </a:xfrm>
            <a:prstGeom prst="flowChartConnector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grpSp>
          <p:nvGrpSpPr>
            <p:cNvPr id="19465" name="Group 8">
              <a:extLst>
                <a:ext uri="{FF2B5EF4-FFF2-40B4-BE49-F238E27FC236}">
                  <a16:creationId xmlns:a16="http://schemas.microsoft.com/office/drawing/2014/main" id="{36C711D4-EBF0-0C0A-F796-97B6E31C7C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3278"/>
              <a:ext cx="669" cy="630"/>
              <a:chOff x="576" y="2976"/>
              <a:chExt cx="672" cy="720"/>
            </a:xfrm>
          </p:grpSpPr>
          <p:sp>
            <p:nvSpPr>
              <p:cNvPr id="19470" name="Line 9">
                <a:extLst>
                  <a:ext uri="{FF2B5EF4-FFF2-40B4-BE49-F238E27FC236}">
                    <a16:creationId xmlns:a16="http://schemas.microsoft.com/office/drawing/2014/main" id="{75C9D01C-BE16-9225-24D3-32B8BE83DB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12" y="2976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471" name="Line 10">
                <a:extLst>
                  <a:ext uri="{FF2B5EF4-FFF2-40B4-BE49-F238E27FC236}">
                    <a16:creationId xmlns:a16="http://schemas.microsoft.com/office/drawing/2014/main" id="{0B6F9A56-D13E-E468-2706-1FDD1416FE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2" y="3360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472" name="Line 11">
                <a:extLst>
                  <a:ext uri="{FF2B5EF4-FFF2-40B4-BE49-F238E27FC236}">
                    <a16:creationId xmlns:a16="http://schemas.microsoft.com/office/drawing/2014/main" id="{F320240F-8A22-BC0D-96AF-6290F4470D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2" y="3408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473" name="Line 12">
                <a:extLst>
                  <a:ext uri="{FF2B5EF4-FFF2-40B4-BE49-F238E27FC236}">
                    <a16:creationId xmlns:a16="http://schemas.microsoft.com/office/drawing/2014/main" id="{B307D470-1652-A134-D679-12BCA927A5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76" y="3360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9466" name="Text Box 13">
              <a:extLst>
                <a:ext uri="{FF2B5EF4-FFF2-40B4-BE49-F238E27FC236}">
                  <a16:creationId xmlns:a16="http://schemas.microsoft.com/office/drawing/2014/main" id="{247A7950-65A7-13AE-5C46-DE52F311E6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65" y="1200"/>
              <a:ext cx="3138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Selection symbol</a:t>
              </a:r>
              <a:r>
                <a:rPr lang="en-US" altLang="en-US" sz="1800"/>
                <a:t> - shows a selection process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for two-way selection.</a:t>
              </a:r>
              <a:endParaRPr lang="en-US" altLang="en-US" sz="1800" b="1"/>
            </a:p>
          </p:txBody>
        </p:sp>
        <p:sp>
          <p:nvSpPr>
            <p:cNvPr id="19467" name="Text Box 14">
              <a:extLst>
                <a:ext uri="{FF2B5EF4-FFF2-40B4-BE49-F238E27FC236}">
                  <a16:creationId xmlns:a16="http://schemas.microsoft.com/office/drawing/2014/main" id="{3C839F25-3D46-1940-27AA-5E989952C8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1824"/>
              <a:ext cx="3600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Off-page connector </a:t>
              </a:r>
              <a:r>
                <a:rPr lang="en-US" altLang="en-US" sz="1800"/>
                <a:t>- provides continuation of a logical path on another page.</a:t>
              </a:r>
              <a:endParaRPr lang="en-US" altLang="en-US" sz="1800" b="1"/>
            </a:p>
          </p:txBody>
        </p:sp>
        <p:sp>
          <p:nvSpPr>
            <p:cNvPr id="19468" name="Text Box 15">
              <a:extLst>
                <a:ext uri="{FF2B5EF4-FFF2-40B4-BE49-F238E27FC236}">
                  <a16:creationId xmlns:a16="http://schemas.microsoft.com/office/drawing/2014/main" id="{CA6045B5-63D9-F0A0-2DE7-0EC52AD7FC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544"/>
              <a:ext cx="2952" cy="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On-page connector </a:t>
              </a:r>
              <a:r>
                <a:rPr lang="en-US" altLang="en-US" sz="1800"/>
                <a:t>- provides continuation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of logical path at another point in the same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page.</a:t>
              </a:r>
              <a:endParaRPr lang="en-US" altLang="en-US" sz="1800" b="1"/>
            </a:p>
          </p:txBody>
        </p:sp>
        <p:sp>
          <p:nvSpPr>
            <p:cNvPr id="19469" name="Text Box 16">
              <a:extLst>
                <a:ext uri="{FF2B5EF4-FFF2-40B4-BE49-F238E27FC236}">
                  <a16:creationId xmlns:a16="http://schemas.microsoft.com/office/drawing/2014/main" id="{37476282-D22E-69C0-DBE0-99B4EE3FC2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3408"/>
              <a:ext cx="2976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Flow lines</a:t>
              </a:r>
              <a:r>
                <a:rPr lang="en-US" altLang="en-US" sz="1800"/>
                <a:t> - indicate the logical sequence of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execution steps in the algorithm.</a:t>
              </a:r>
              <a:endParaRPr lang="en-US" altLang="en-US" sz="1800" b="1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Slide Number Placeholder 4">
            <a:extLst>
              <a:ext uri="{FF2B5EF4-FFF2-40B4-BE49-F238E27FC236}">
                <a16:creationId xmlns:a16="http://schemas.microsoft.com/office/drawing/2014/main" id="{BA56E2DC-4B36-1404-28D4-AE6E717E0E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18CF946-368C-4F76-9405-FB9FD2249E21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20484" name="Rectangle 2">
            <a:extLst>
              <a:ext uri="{FF2B5EF4-FFF2-40B4-BE49-F238E27FC236}">
                <a16:creationId xmlns:a16="http://schemas.microsoft.com/office/drawing/2014/main" id="{4FD2C321-1686-C122-4402-C0F42CC757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1049310"/>
            <a:ext cx="10515600" cy="641377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Flowchart – sequence control structure</a:t>
            </a:r>
          </a:p>
        </p:txBody>
      </p:sp>
      <p:grpSp>
        <p:nvGrpSpPr>
          <p:cNvPr id="20485" name="Group 4">
            <a:extLst>
              <a:ext uri="{FF2B5EF4-FFF2-40B4-BE49-F238E27FC236}">
                <a16:creationId xmlns:a16="http://schemas.microsoft.com/office/drawing/2014/main" id="{7E2F7335-01F4-4C15-F739-C302C5CA8C6B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2036161"/>
            <a:ext cx="3276600" cy="4114800"/>
            <a:chOff x="1680" y="1344"/>
            <a:chExt cx="2064" cy="2592"/>
          </a:xfrm>
        </p:grpSpPr>
        <p:sp>
          <p:nvSpPr>
            <p:cNvPr id="20486" name="Rectangle 5">
              <a:extLst>
                <a:ext uri="{FF2B5EF4-FFF2-40B4-BE49-F238E27FC236}">
                  <a16:creationId xmlns:a16="http://schemas.microsoft.com/office/drawing/2014/main" id="{A01DD324-7CE0-23C3-301B-3BA48E97E4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1344"/>
              <a:ext cx="2064" cy="25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600"/>
            </a:p>
          </p:txBody>
        </p:sp>
        <p:sp>
          <p:nvSpPr>
            <p:cNvPr id="20487" name="Text Box 6">
              <a:extLst>
                <a:ext uri="{FF2B5EF4-FFF2-40B4-BE49-F238E27FC236}">
                  <a16:creationId xmlns:a16="http://schemas.microsoft.com/office/drawing/2014/main" id="{95F06BAD-936B-422C-9E11-148CBEE93B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2304"/>
              <a:ext cx="1032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Statement 2</a:t>
              </a:r>
            </a:p>
          </p:txBody>
        </p:sp>
        <p:sp>
          <p:nvSpPr>
            <p:cNvPr id="20488" name="Text Box 7">
              <a:extLst>
                <a:ext uri="{FF2B5EF4-FFF2-40B4-BE49-F238E27FC236}">
                  <a16:creationId xmlns:a16="http://schemas.microsoft.com/office/drawing/2014/main" id="{32D98607-7137-B95F-5635-3733F8742D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1728"/>
              <a:ext cx="993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     Statement 1</a:t>
              </a:r>
            </a:p>
          </p:txBody>
        </p:sp>
        <p:sp>
          <p:nvSpPr>
            <p:cNvPr id="20489" name="Text Box 8">
              <a:extLst>
                <a:ext uri="{FF2B5EF4-FFF2-40B4-BE49-F238E27FC236}">
                  <a16:creationId xmlns:a16="http://schemas.microsoft.com/office/drawing/2014/main" id="{AB20E929-8F3B-FB46-7F55-042A1FFCB4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2832"/>
              <a:ext cx="993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     Statement 3</a:t>
              </a:r>
            </a:p>
          </p:txBody>
        </p:sp>
        <p:sp>
          <p:nvSpPr>
            <p:cNvPr id="20490" name="Line 9">
              <a:extLst>
                <a:ext uri="{FF2B5EF4-FFF2-40B4-BE49-F238E27FC236}">
                  <a16:creationId xmlns:a16="http://schemas.microsoft.com/office/drawing/2014/main" id="{D7B06098-865E-6FBF-E877-F88C19D0E6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1433"/>
              <a:ext cx="0" cy="2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0491" name="Line 10">
              <a:extLst>
                <a:ext uri="{FF2B5EF4-FFF2-40B4-BE49-F238E27FC236}">
                  <a16:creationId xmlns:a16="http://schemas.microsoft.com/office/drawing/2014/main" id="{47B84FD7-10B9-E36B-DE25-E99D5FDE56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544"/>
              <a:ext cx="0" cy="2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0492" name="Line 11">
              <a:extLst>
                <a:ext uri="{FF2B5EF4-FFF2-40B4-BE49-F238E27FC236}">
                  <a16:creationId xmlns:a16="http://schemas.microsoft.com/office/drawing/2014/main" id="{E82EFC2D-D2F7-87A3-6C2A-2E57845DDA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1968"/>
              <a:ext cx="0" cy="3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0493" name="Line 12">
              <a:extLst>
                <a:ext uri="{FF2B5EF4-FFF2-40B4-BE49-F238E27FC236}">
                  <a16:creationId xmlns:a16="http://schemas.microsoft.com/office/drawing/2014/main" id="{07160747-1221-FA1A-39F7-C2F28E0729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3072"/>
              <a:ext cx="0" cy="2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0494" name="Text Box 13">
              <a:extLst>
                <a:ext uri="{FF2B5EF4-FFF2-40B4-BE49-F238E27FC236}">
                  <a16:creationId xmlns:a16="http://schemas.microsoft.com/office/drawing/2014/main" id="{4DAF5093-61B9-7342-8A4C-5C16B23FD7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3360"/>
              <a:ext cx="1008" cy="21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:</a:t>
              </a:r>
            </a:p>
          </p:txBody>
        </p:sp>
      </p:grpSp>
      <p:sp>
        <p:nvSpPr>
          <p:cNvPr id="2" name="Rectangle 2">
            <a:extLst>
              <a:ext uri="{FF2B5EF4-FFF2-40B4-BE49-F238E27FC236}">
                <a16:creationId xmlns:a16="http://schemas.microsoft.com/office/drawing/2014/main" id="{6B24AE41-E79B-99B9-1042-4252FD735E5C}"/>
              </a:ext>
            </a:extLst>
          </p:cNvPr>
          <p:cNvSpPr txBox="1">
            <a:spLocks noChangeArrowheads="1"/>
          </p:cNvSpPr>
          <p:nvPr/>
        </p:nvSpPr>
        <p:spPr>
          <a:xfrm>
            <a:off x="838200" y="523232"/>
            <a:ext cx="10515600" cy="6413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2800" b="1" dirty="0"/>
              <a:t>Flowcharts  of main control structures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Slide Number Placeholder 4">
            <a:extLst>
              <a:ext uri="{FF2B5EF4-FFF2-40B4-BE49-F238E27FC236}">
                <a16:creationId xmlns:a16="http://schemas.microsoft.com/office/drawing/2014/main" id="{B0726CF0-3F66-47D7-E627-5962A4F4AF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1A43BBB-3AA8-4D01-9B5E-3A169CDBCFA3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46C0560E-21CE-3CEE-9758-E67560CA5C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Flowchart – selection control structure</a:t>
            </a:r>
          </a:p>
        </p:txBody>
      </p:sp>
      <p:grpSp>
        <p:nvGrpSpPr>
          <p:cNvPr id="21509" name="Group 23">
            <a:extLst>
              <a:ext uri="{FF2B5EF4-FFF2-40B4-BE49-F238E27FC236}">
                <a16:creationId xmlns:a16="http://schemas.microsoft.com/office/drawing/2014/main" id="{27BBC4C2-0931-B914-4412-67464A67DC56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1600200"/>
            <a:ext cx="6019800" cy="4191000"/>
            <a:chOff x="960" y="1008"/>
            <a:chExt cx="3792" cy="2640"/>
          </a:xfrm>
        </p:grpSpPr>
        <p:sp>
          <p:nvSpPr>
            <p:cNvPr id="21510" name="Rectangle 5">
              <a:extLst>
                <a:ext uri="{FF2B5EF4-FFF2-40B4-BE49-F238E27FC236}">
                  <a16:creationId xmlns:a16="http://schemas.microsoft.com/office/drawing/2014/main" id="{CD4B3D85-019F-E785-232C-F641D22637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1008"/>
              <a:ext cx="3792" cy="26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1511" name="Text Box 6">
              <a:extLst>
                <a:ext uri="{FF2B5EF4-FFF2-40B4-BE49-F238E27FC236}">
                  <a16:creationId xmlns:a16="http://schemas.microsoft.com/office/drawing/2014/main" id="{106EF90D-45E2-F671-EF8F-6CE7ABBF12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6" y="1511"/>
              <a:ext cx="72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Condition</a:t>
              </a:r>
            </a:p>
          </p:txBody>
        </p:sp>
        <p:sp>
          <p:nvSpPr>
            <p:cNvPr id="21512" name="AutoShape 7">
              <a:extLst>
                <a:ext uri="{FF2B5EF4-FFF2-40B4-BE49-F238E27FC236}">
                  <a16:creationId xmlns:a16="http://schemas.microsoft.com/office/drawing/2014/main" id="{69E33AF7-7ACA-4C0A-70E1-EE6C39CFCA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344"/>
              <a:ext cx="1152" cy="576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1513" name="Text Box 8">
              <a:extLst>
                <a:ext uri="{FF2B5EF4-FFF2-40B4-BE49-F238E27FC236}">
                  <a16:creationId xmlns:a16="http://schemas.microsoft.com/office/drawing/2014/main" id="{119C9EAF-DF64-C053-3731-05070C57EE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5" y="2397"/>
              <a:ext cx="922" cy="4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else-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statement(s)</a:t>
              </a:r>
            </a:p>
          </p:txBody>
        </p:sp>
        <p:sp>
          <p:nvSpPr>
            <p:cNvPr id="21514" name="Text Box 9">
              <a:extLst>
                <a:ext uri="{FF2B5EF4-FFF2-40B4-BE49-F238E27FC236}">
                  <a16:creationId xmlns:a16="http://schemas.microsoft.com/office/drawing/2014/main" id="{941FE1BA-680E-C377-47DA-38DC942F79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7" y="2397"/>
              <a:ext cx="922" cy="4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then-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statement(s)</a:t>
              </a:r>
            </a:p>
          </p:txBody>
        </p:sp>
        <p:sp>
          <p:nvSpPr>
            <p:cNvPr id="21515" name="Line 10">
              <a:extLst>
                <a:ext uri="{FF2B5EF4-FFF2-40B4-BE49-F238E27FC236}">
                  <a16:creationId xmlns:a16="http://schemas.microsoft.com/office/drawing/2014/main" id="{9353E724-0A06-E77D-493F-76129EE89C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1632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516" name="Line 11">
              <a:extLst>
                <a:ext uri="{FF2B5EF4-FFF2-40B4-BE49-F238E27FC236}">
                  <a16:creationId xmlns:a16="http://schemas.microsoft.com/office/drawing/2014/main" id="{86D108AC-0F12-E9DD-FD7C-F578C1A8AA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632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517" name="Line 12">
              <a:extLst>
                <a:ext uri="{FF2B5EF4-FFF2-40B4-BE49-F238E27FC236}">
                  <a16:creationId xmlns:a16="http://schemas.microsoft.com/office/drawing/2014/main" id="{B156DD35-D4C5-0F02-4F40-8F036B1A74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1632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518" name="Line 13">
              <a:extLst>
                <a:ext uri="{FF2B5EF4-FFF2-40B4-BE49-F238E27FC236}">
                  <a16:creationId xmlns:a16="http://schemas.microsoft.com/office/drawing/2014/main" id="{80007679-0FB2-59F6-A558-045F4A29A6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1632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519" name="Line 14">
              <a:extLst>
                <a:ext uri="{FF2B5EF4-FFF2-40B4-BE49-F238E27FC236}">
                  <a16:creationId xmlns:a16="http://schemas.microsoft.com/office/drawing/2014/main" id="{437BC307-37CE-937E-E6E1-35DFB1D782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056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520" name="Line 15">
              <a:extLst>
                <a:ext uri="{FF2B5EF4-FFF2-40B4-BE49-F238E27FC236}">
                  <a16:creationId xmlns:a16="http://schemas.microsoft.com/office/drawing/2014/main" id="{CE317C36-2141-A23C-B56E-BCD04B3313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283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521" name="Line 16">
              <a:extLst>
                <a:ext uri="{FF2B5EF4-FFF2-40B4-BE49-F238E27FC236}">
                  <a16:creationId xmlns:a16="http://schemas.microsoft.com/office/drawing/2014/main" id="{86A18027-3CCC-A00B-1C77-E293E142D9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832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522" name="Line 17">
              <a:extLst>
                <a:ext uri="{FF2B5EF4-FFF2-40B4-BE49-F238E27FC236}">
                  <a16:creationId xmlns:a16="http://schemas.microsoft.com/office/drawing/2014/main" id="{F1F524C6-45B7-5EB7-7A6A-C2E4F2BD54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2" y="3120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523" name="Line 18">
              <a:extLst>
                <a:ext uri="{FF2B5EF4-FFF2-40B4-BE49-F238E27FC236}">
                  <a16:creationId xmlns:a16="http://schemas.microsoft.com/office/drawing/2014/main" id="{0BC9B9F4-01A3-476A-6CF4-BF22562C48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" y="3120"/>
              <a:ext cx="9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524" name="AutoShape 19">
              <a:extLst>
                <a:ext uri="{FF2B5EF4-FFF2-40B4-BE49-F238E27FC236}">
                  <a16:creationId xmlns:a16="http://schemas.microsoft.com/office/drawing/2014/main" id="{68907187-4324-DA1B-CEAF-E202B245F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024"/>
              <a:ext cx="144" cy="144"/>
            </a:xfrm>
            <a:prstGeom prst="flowChartConnector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1525" name="Line 20">
              <a:extLst>
                <a:ext uri="{FF2B5EF4-FFF2-40B4-BE49-F238E27FC236}">
                  <a16:creationId xmlns:a16="http://schemas.microsoft.com/office/drawing/2014/main" id="{02595123-315B-7A84-0C63-6F6E6CEC43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3168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1526" name="Text Box 21">
              <a:extLst>
                <a:ext uri="{FF2B5EF4-FFF2-40B4-BE49-F238E27FC236}">
                  <a16:creationId xmlns:a16="http://schemas.microsoft.com/office/drawing/2014/main" id="{0BEEF79E-C6E6-4C5F-E41A-9667F582F5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1407"/>
              <a:ext cx="3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Yes</a:t>
              </a:r>
            </a:p>
          </p:txBody>
        </p:sp>
        <p:sp>
          <p:nvSpPr>
            <p:cNvPr id="21527" name="Text Box 22">
              <a:extLst>
                <a:ext uri="{FF2B5EF4-FFF2-40B4-BE49-F238E27FC236}">
                  <a16:creationId xmlns:a16="http://schemas.microsoft.com/office/drawing/2014/main" id="{78E97306-DF61-8625-706D-A073E09BC6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1407"/>
              <a:ext cx="27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No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Slide Number Placeholder 4">
            <a:extLst>
              <a:ext uri="{FF2B5EF4-FFF2-40B4-BE49-F238E27FC236}">
                <a16:creationId xmlns:a16="http://schemas.microsoft.com/office/drawing/2014/main" id="{2E52678C-014C-CD3D-F996-A72B9C0BAF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DB930D3-D783-4FED-B35E-778D8109F92D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22532" name="Rectangle 2">
            <a:extLst>
              <a:ext uri="{FF2B5EF4-FFF2-40B4-BE49-F238E27FC236}">
                <a16:creationId xmlns:a16="http://schemas.microsoft.com/office/drawing/2014/main" id="{1182935B-5098-4B29-65B7-FF7C66532C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Flowchart – repetition/loop control structure</a:t>
            </a:r>
          </a:p>
        </p:txBody>
      </p:sp>
      <p:grpSp>
        <p:nvGrpSpPr>
          <p:cNvPr id="22533" name="Group 20">
            <a:extLst>
              <a:ext uri="{FF2B5EF4-FFF2-40B4-BE49-F238E27FC236}">
                <a16:creationId xmlns:a16="http://schemas.microsoft.com/office/drawing/2014/main" id="{0AD94939-82A4-1971-1454-53B8EBBD1FD3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2286000"/>
            <a:ext cx="5638800" cy="3276600"/>
            <a:chOff x="1152" y="1440"/>
            <a:chExt cx="3552" cy="2064"/>
          </a:xfrm>
        </p:grpSpPr>
        <p:grpSp>
          <p:nvGrpSpPr>
            <p:cNvPr id="22534" name="Group 19">
              <a:extLst>
                <a:ext uri="{FF2B5EF4-FFF2-40B4-BE49-F238E27FC236}">
                  <a16:creationId xmlns:a16="http://schemas.microsoft.com/office/drawing/2014/main" id="{252345BC-FBE5-7E7B-DE0C-D8B511F0EC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1440"/>
              <a:ext cx="3552" cy="2064"/>
              <a:chOff x="1152" y="1440"/>
              <a:chExt cx="3552" cy="2064"/>
            </a:xfrm>
          </p:grpSpPr>
          <p:sp>
            <p:nvSpPr>
              <p:cNvPr id="22537" name="Rectangle 5">
                <a:extLst>
                  <a:ext uri="{FF2B5EF4-FFF2-40B4-BE49-F238E27FC236}">
                    <a16:creationId xmlns:a16="http://schemas.microsoft.com/office/drawing/2014/main" id="{19D681AC-0FC5-4DE9-CC16-F94DE74CE4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1440"/>
                <a:ext cx="3552" cy="206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600"/>
              </a:p>
            </p:txBody>
          </p:sp>
          <p:sp>
            <p:nvSpPr>
              <p:cNvPr id="22538" name="Text Box 6">
                <a:extLst>
                  <a:ext uri="{FF2B5EF4-FFF2-40B4-BE49-F238E27FC236}">
                    <a16:creationId xmlns:a16="http://schemas.microsoft.com/office/drawing/2014/main" id="{A09294C8-ED6F-32CF-43CE-B8407FD7C7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84" y="2397"/>
                <a:ext cx="72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Condition</a:t>
                </a:r>
              </a:p>
            </p:txBody>
          </p:sp>
          <p:sp>
            <p:nvSpPr>
              <p:cNvPr id="22539" name="AutoShape 7">
                <a:extLst>
                  <a:ext uri="{FF2B5EF4-FFF2-40B4-BE49-F238E27FC236}">
                    <a16:creationId xmlns:a16="http://schemas.microsoft.com/office/drawing/2014/main" id="{CAC61E8B-4200-AB83-69E5-FB2EEB02B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2256"/>
                <a:ext cx="1152" cy="480"/>
              </a:xfrm>
              <a:prstGeom prst="flowChartDecision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2540" name="AutoShape 8">
                <a:extLst>
                  <a:ext uri="{FF2B5EF4-FFF2-40B4-BE49-F238E27FC236}">
                    <a16:creationId xmlns:a16="http://schemas.microsoft.com/office/drawing/2014/main" id="{1430B736-87D1-5BCE-2116-A49703DE82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2256"/>
                <a:ext cx="1056" cy="528"/>
              </a:xfrm>
              <a:prstGeom prst="flowChartProcess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2541" name="Text Box 9">
                <a:extLst>
                  <a:ext uri="{FF2B5EF4-FFF2-40B4-BE49-F238E27FC236}">
                    <a16:creationId xmlns:a16="http://schemas.microsoft.com/office/drawing/2014/main" id="{129B8116-0F25-DD2E-8BBE-292EC95410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8" y="2304"/>
                <a:ext cx="1085" cy="4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Loop 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/>
                  <a:t>Statement(s)</a:t>
                </a:r>
              </a:p>
            </p:txBody>
          </p:sp>
          <p:sp>
            <p:nvSpPr>
              <p:cNvPr id="22542" name="Line 10">
                <a:extLst>
                  <a:ext uri="{FF2B5EF4-FFF2-40B4-BE49-F238E27FC236}">
                    <a16:creationId xmlns:a16="http://schemas.microsoft.com/office/drawing/2014/main" id="{E3885725-F922-D968-24F8-79F72D17F8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1872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2543" name="Oval 11">
                <a:extLst>
                  <a:ext uri="{FF2B5EF4-FFF2-40B4-BE49-F238E27FC236}">
                    <a16:creationId xmlns:a16="http://schemas.microsoft.com/office/drawing/2014/main" id="{D2D73FD2-2DE3-B592-A0C3-48C2608E2F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920" y="1728"/>
                <a:ext cx="192" cy="14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2544" name="Line 12">
                <a:extLst>
                  <a:ext uri="{FF2B5EF4-FFF2-40B4-BE49-F238E27FC236}">
                    <a16:creationId xmlns:a16="http://schemas.microsoft.com/office/drawing/2014/main" id="{8D9CB000-7965-7856-DCB9-B3DF387D36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2" y="2496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2545" name="Line 13">
                <a:extLst>
                  <a:ext uri="{FF2B5EF4-FFF2-40B4-BE49-F238E27FC236}">
                    <a16:creationId xmlns:a16="http://schemas.microsoft.com/office/drawing/2014/main" id="{F398B4B0-0E52-B090-314E-0866E8F96A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84" y="206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2546" name="Line 14">
                <a:extLst>
                  <a:ext uri="{FF2B5EF4-FFF2-40B4-BE49-F238E27FC236}">
                    <a16:creationId xmlns:a16="http://schemas.microsoft.com/office/drawing/2014/main" id="{B04161A1-4B39-16E9-321D-A7AD22F013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16" y="2064"/>
                <a:ext cx="196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2547" name="Line 15">
                <a:extLst>
                  <a:ext uri="{FF2B5EF4-FFF2-40B4-BE49-F238E27FC236}">
                    <a16:creationId xmlns:a16="http://schemas.microsoft.com/office/drawing/2014/main" id="{01A0F7E2-DC7A-D8DE-6930-1448E495A7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16" y="2736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22548" name="Oval 16">
                <a:extLst>
                  <a:ext uri="{FF2B5EF4-FFF2-40B4-BE49-F238E27FC236}">
                    <a16:creationId xmlns:a16="http://schemas.microsoft.com/office/drawing/2014/main" id="{FFBEBEDA-A967-6C26-25ED-3714EDAD69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920" y="3072"/>
                <a:ext cx="192" cy="14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/>
              </a:p>
            </p:txBody>
          </p:sp>
        </p:grpSp>
        <p:sp>
          <p:nvSpPr>
            <p:cNvPr id="22535" name="Text Box 17">
              <a:extLst>
                <a:ext uri="{FF2B5EF4-FFF2-40B4-BE49-F238E27FC236}">
                  <a16:creationId xmlns:a16="http://schemas.microsoft.com/office/drawing/2014/main" id="{43415555-5BD1-B740-6587-917F2FE6DE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2256"/>
              <a:ext cx="4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/>
                <a:t>yes</a:t>
              </a:r>
            </a:p>
          </p:txBody>
        </p:sp>
        <p:sp>
          <p:nvSpPr>
            <p:cNvPr id="22536" name="Text Box 18">
              <a:extLst>
                <a:ext uri="{FF2B5EF4-FFF2-40B4-BE49-F238E27FC236}">
                  <a16:creationId xmlns:a16="http://schemas.microsoft.com/office/drawing/2014/main" id="{2AACAE56-F9DB-69BE-A56E-B6D73A99EB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2784"/>
              <a:ext cx="4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/>
                <a:t>no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Slide Number Placeholder 3">
            <a:extLst>
              <a:ext uri="{FF2B5EF4-FFF2-40B4-BE49-F238E27FC236}">
                <a16:creationId xmlns:a16="http://schemas.microsoft.com/office/drawing/2014/main" id="{D1046CC8-E459-7B96-D12F-17B04FF6E4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FEDF3AC-DA84-46F5-BD24-FB68FE6CCD42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9B27970A-0647-6CFC-5D98-F078642D02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Flowchart – example </a:t>
            </a:r>
          </a:p>
        </p:txBody>
      </p:sp>
      <p:grpSp>
        <p:nvGrpSpPr>
          <p:cNvPr id="24581" name="Group 28">
            <a:extLst>
              <a:ext uri="{FF2B5EF4-FFF2-40B4-BE49-F238E27FC236}">
                <a16:creationId xmlns:a16="http://schemas.microsoft.com/office/drawing/2014/main" id="{4FB4A913-9CA5-6ACE-AFEE-6C60D173A0E1}"/>
              </a:ext>
            </a:extLst>
          </p:cNvPr>
          <p:cNvGrpSpPr>
            <a:grpSpLocks/>
          </p:cNvGrpSpPr>
          <p:nvPr/>
        </p:nvGrpSpPr>
        <p:grpSpPr bwMode="auto">
          <a:xfrm>
            <a:off x="2514600" y="1524000"/>
            <a:ext cx="7010400" cy="4419600"/>
            <a:chOff x="624" y="960"/>
            <a:chExt cx="4416" cy="2784"/>
          </a:xfrm>
        </p:grpSpPr>
        <p:sp>
          <p:nvSpPr>
            <p:cNvPr id="24582" name="Rectangle 4">
              <a:extLst>
                <a:ext uri="{FF2B5EF4-FFF2-40B4-BE49-F238E27FC236}">
                  <a16:creationId xmlns:a16="http://schemas.microsoft.com/office/drawing/2014/main" id="{98FF923F-CB41-6981-5A93-6D1E8D21C2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960"/>
              <a:ext cx="4416" cy="27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4583" name="Freeform 5">
              <a:extLst>
                <a:ext uri="{FF2B5EF4-FFF2-40B4-BE49-F238E27FC236}">
                  <a16:creationId xmlns:a16="http://schemas.microsoft.com/office/drawing/2014/main" id="{A4738329-F341-B79B-DAA4-5210BBEEDC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9" y="2327"/>
              <a:ext cx="326" cy="331"/>
            </a:xfrm>
            <a:custGeom>
              <a:avLst/>
              <a:gdLst>
                <a:gd name="T0" fmla="*/ 0 w 481"/>
                <a:gd name="T1" fmla="*/ 0 h 625"/>
                <a:gd name="T2" fmla="*/ 68 w 481"/>
                <a:gd name="T3" fmla="*/ 0 h 625"/>
                <a:gd name="T4" fmla="*/ 68 w 481"/>
                <a:gd name="T5" fmla="*/ 26 h 625"/>
                <a:gd name="T6" fmla="*/ 0 60000 65536"/>
                <a:gd name="T7" fmla="*/ 0 60000 65536"/>
                <a:gd name="T8" fmla="*/ 0 60000 65536"/>
                <a:gd name="T9" fmla="*/ 0 w 481"/>
                <a:gd name="T10" fmla="*/ 0 h 625"/>
                <a:gd name="T11" fmla="*/ 481 w 481"/>
                <a:gd name="T12" fmla="*/ 625 h 62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1" h="625">
                  <a:moveTo>
                    <a:pt x="0" y="0"/>
                  </a:moveTo>
                  <a:lnTo>
                    <a:pt x="480" y="0"/>
                  </a:lnTo>
                  <a:lnTo>
                    <a:pt x="480" y="624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4" name="Freeform 6">
              <a:extLst>
                <a:ext uri="{FF2B5EF4-FFF2-40B4-BE49-F238E27FC236}">
                  <a16:creationId xmlns:a16="http://schemas.microsoft.com/office/drawing/2014/main" id="{AF0A8FF2-BBA5-9DD7-4E00-14D31866FE4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753" y="3214"/>
              <a:ext cx="41" cy="220"/>
            </a:xfrm>
            <a:custGeom>
              <a:avLst/>
              <a:gdLst>
                <a:gd name="T0" fmla="*/ 0 w 1"/>
                <a:gd name="T1" fmla="*/ 0 h 445"/>
                <a:gd name="T2" fmla="*/ 0 w 1"/>
                <a:gd name="T3" fmla="*/ 13 h 445"/>
                <a:gd name="T4" fmla="*/ 0 60000 65536"/>
                <a:gd name="T5" fmla="*/ 0 60000 65536"/>
                <a:gd name="T6" fmla="*/ 0 w 1"/>
                <a:gd name="T7" fmla="*/ 0 h 445"/>
                <a:gd name="T8" fmla="*/ 1 w 1"/>
                <a:gd name="T9" fmla="*/ 445 h 4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45">
                  <a:moveTo>
                    <a:pt x="0" y="0"/>
                  </a:moveTo>
                  <a:lnTo>
                    <a:pt x="0" y="444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5" name="Freeform 7">
              <a:extLst>
                <a:ext uri="{FF2B5EF4-FFF2-40B4-BE49-F238E27FC236}">
                  <a16:creationId xmlns:a16="http://schemas.microsoft.com/office/drawing/2014/main" id="{457128D1-0F36-C072-E271-5015B3D62B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5" y="3024"/>
              <a:ext cx="991" cy="244"/>
            </a:xfrm>
            <a:custGeom>
              <a:avLst/>
              <a:gdLst>
                <a:gd name="T0" fmla="*/ 1305 w 925"/>
                <a:gd name="T1" fmla="*/ 0 h 481"/>
                <a:gd name="T2" fmla="*/ 1305 w 925"/>
                <a:gd name="T3" fmla="*/ 16 h 481"/>
                <a:gd name="T4" fmla="*/ 0 w 925"/>
                <a:gd name="T5" fmla="*/ 16 h 481"/>
                <a:gd name="T6" fmla="*/ 0 60000 65536"/>
                <a:gd name="T7" fmla="*/ 0 60000 65536"/>
                <a:gd name="T8" fmla="*/ 0 60000 65536"/>
                <a:gd name="T9" fmla="*/ 0 w 925"/>
                <a:gd name="T10" fmla="*/ 0 h 481"/>
                <a:gd name="T11" fmla="*/ 925 w 925"/>
                <a:gd name="T12" fmla="*/ 481 h 4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25" h="481">
                  <a:moveTo>
                    <a:pt x="924" y="0"/>
                  </a:moveTo>
                  <a:lnTo>
                    <a:pt x="924" y="480"/>
                  </a:lnTo>
                  <a:lnTo>
                    <a:pt x="0" y="48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6" name="Freeform 8">
              <a:extLst>
                <a:ext uri="{FF2B5EF4-FFF2-40B4-BE49-F238E27FC236}">
                  <a16:creationId xmlns:a16="http://schemas.microsoft.com/office/drawing/2014/main" id="{AF923782-3DB9-9150-D324-13EEDB712C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8" y="3120"/>
              <a:ext cx="918" cy="148"/>
            </a:xfrm>
            <a:custGeom>
              <a:avLst/>
              <a:gdLst>
                <a:gd name="T0" fmla="*/ 0 w 925"/>
                <a:gd name="T1" fmla="*/ 0 h 481"/>
                <a:gd name="T2" fmla="*/ 0 w 925"/>
                <a:gd name="T3" fmla="*/ 1 h 481"/>
                <a:gd name="T4" fmla="*/ 889 w 925"/>
                <a:gd name="T5" fmla="*/ 1 h 481"/>
                <a:gd name="T6" fmla="*/ 0 60000 65536"/>
                <a:gd name="T7" fmla="*/ 0 60000 65536"/>
                <a:gd name="T8" fmla="*/ 0 60000 65536"/>
                <a:gd name="T9" fmla="*/ 0 w 925"/>
                <a:gd name="T10" fmla="*/ 0 h 481"/>
                <a:gd name="T11" fmla="*/ 925 w 925"/>
                <a:gd name="T12" fmla="*/ 481 h 4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25" h="481">
                  <a:moveTo>
                    <a:pt x="0" y="0"/>
                  </a:moveTo>
                  <a:lnTo>
                    <a:pt x="0" y="480"/>
                  </a:lnTo>
                  <a:lnTo>
                    <a:pt x="924" y="480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7" name="Freeform 9">
              <a:extLst>
                <a:ext uri="{FF2B5EF4-FFF2-40B4-BE49-F238E27FC236}">
                  <a16:creationId xmlns:a16="http://schemas.microsoft.com/office/drawing/2014/main" id="{D2E46879-6019-0630-D94B-35ADD6B4AE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1" y="2332"/>
              <a:ext cx="320" cy="326"/>
            </a:xfrm>
            <a:custGeom>
              <a:avLst/>
              <a:gdLst>
                <a:gd name="T0" fmla="*/ 63 w 481"/>
                <a:gd name="T1" fmla="*/ 0 h 625"/>
                <a:gd name="T2" fmla="*/ 0 w 481"/>
                <a:gd name="T3" fmla="*/ 0 h 625"/>
                <a:gd name="T4" fmla="*/ 0 w 481"/>
                <a:gd name="T5" fmla="*/ 24 h 625"/>
                <a:gd name="T6" fmla="*/ 0 60000 65536"/>
                <a:gd name="T7" fmla="*/ 0 60000 65536"/>
                <a:gd name="T8" fmla="*/ 0 60000 65536"/>
                <a:gd name="T9" fmla="*/ 0 w 481"/>
                <a:gd name="T10" fmla="*/ 0 h 625"/>
                <a:gd name="T11" fmla="*/ 481 w 481"/>
                <a:gd name="T12" fmla="*/ 625 h 62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1" h="625">
                  <a:moveTo>
                    <a:pt x="480" y="0"/>
                  </a:moveTo>
                  <a:lnTo>
                    <a:pt x="0" y="0"/>
                  </a:lnTo>
                  <a:lnTo>
                    <a:pt x="0" y="624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8" name="Freeform 10">
              <a:extLst>
                <a:ext uri="{FF2B5EF4-FFF2-40B4-BE49-F238E27FC236}">
                  <a16:creationId xmlns:a16="http://schemas.microsoft.com/office/drawing/2014/main" id="{4220665C-5D90-A066-588F-81D98196DF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6" y="2072"/>
              <a:ext cx="1596" cy="510"/>
            </a:xfrm>
            <a:custGeom>
              <a:avLst/>
              <a:gdLst>
                <a:gd name="T0" fmla="*/ 0 w 1532"/>
                <a:gd name="T1" fmla="*/ 20 h 959"/>
                <a:gd name="T2" fmla="*/ 940 w 1532"/>
                <a:gd name="T3" fmla="*/ 0 h 959"/>
                <a:gd name="T4" fmla="*/ 1878 w 1532"/>
                <a:gd name="T5" fmla="*/ 20 h 959"/>
                <a:gd name="T6" fmla="*/ 940 w 1532"/>
                <a:gd name="T7" fmla="*/ 41 h 959"/>
                <a:gd name="T8" fmla="*/ 0 w 1532"/>
                <a:gd name="T9" fmla="*/ 20 h 9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32"/>
                <a:gd name="T16" fmla="*/ 0 h 959"/>
                <a:gd name="T17" fmla="*/ 1532 w 1532"/>
                <a:gd name="T18" fmla="*/ 959 h 9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32" h="959">
                  <a:moveTo>
                    <a:pt x="0" y="479"/>
                  </a:moveTo>
                  <a:lnTo>
                    <a:pt x="766" y="0"/>
                  </a:lnTo>
                  <a:lnTo>
                    <a:pt x="1531" y="479"/>
                  </a:lnTo>
                  <a:lnTo>
                    <a:pt x="766" y="958"/>
                  </a:lnTo>
                  <a:lnTo>
                    <a:pt x="0" y="479"/>
                  </a:lnTo>
                </a:path>
              </a:pathLst>
            </a:custGeom>
            <a:noFill/>
            <a:ln w="12700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9" name="Freeform 11">
              <a:extLst>
                <a:ext uri="{FF2B5EF4-FFF2-40B4-BE49-F238E27FC236}">
                  <a16:creationId xmlns:a16="http://schemas.microsoft.com/office/drawing/2014/main" id="{CBA6E166-28E7-BB97-6B38-E3B4132A52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" y="1850"/>
              <a:ext cx="0" cy="236"/>
            </a:xfrm>
            <a:custGeom>
              <a:avLst/>
              <a:gdLst>
                <a:gd name="T0" fmla="*/ 0 w 1"/>
                <a:gd name="T1" fmla="*/ 0 h 445"/>
                <a:gd name="T2" fmla="*/ 0 w 1"/>
                <a:gd name="T3" fmla="*/ 19 h 445"/>
                <a:gd name="T4" fmla="*/ 0 60000 65536"/>
                <a:gd name="T5" fmla="*/ 0 60000 65536"/>
                <a:gd name="T6" fmla="*/ 0 w 1"/>
                <a:gd name="T7" fmla="*/ 0 h 445"/>
                <a:gd name="T8" fmla="*/ 0 w 1"/>
                <a:gd name="T9" fmla="*/ 445 h 4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45">
                  <a:moveTo>
                    <a:pt x="0" y="0"/>
                  </a:moveTo>
                  <a:lnTo>
                    <a:pt x="0" y="444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0" name="Freeform 12">
              <a:extLst>
                <a:ext uri="{FF2B5EF4-FFF2-40B4-BE49-F238E27FC236}">
                  <a16:creationId xmlns:a16="http://schemas.microsoft.com/office/drawing/2014/main" id="{1A07E709-138D-A401-4B78-EDD8E95D33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" y="1219"/>
              <a:ext cx="0" cy="235"/>
            </a:xfrm>
            <a:custGeom>
              <a:avLst/>
              <a:gdLst>
                <a:gd name="T0" fmla="*/ 0 w 1"/>
                <a:gd name="T1" fmla="*/ 0 h 445"/>
                <a:gd name="T2" fmla="*/ 0 w 1"/>
                <a:gd name="T3" fmla="*/ 18 h 445"/>
                <a:gd name="T4" fmla="*/ 0 60000 65536"/>
                <a:gd name="T5" fmla="*/ 0 60000 65536"/>
                <a:gd name="T6" fmla="*/ 0 w 1"/>
                <a:gd name="T7" fmla="*/ 0 h 445"/>
                <a:gd name="T8" fmla="*/ 0 w 1"/>
                <a:gd name="T9" fmla="*/ 445 h 4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45">
                  <a:moveTo>
                    <a:pt x="0" y="0"/>
                  </a:moveTo>
                  <a:lnTo>
                    <a:pt x="0" y="444"/>
                  </a:lnTo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1" name="Freeform 13">
              <a:extLst>
                <a:ext uri="{FF2B5EF4-FFF2-40B4-BE49-F238E27FC236}">
                  <a16:creationId xmlns:a16="http://schemas.microsoft.com/office/drawing/2014/main" id="{96FC16B8-FD71-4AED-F07F-5CB6159AF3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2" y="1078"/>
              <a:ext cx="630" cy="211"/>
            </a:xfrm>
            <a:custGeom>
              <a:avLst/>
              <a:gdLst>
                <a:gd name="T0" fmla="*/ 15 w 1054"/>
                <a:gd name="T1" fmla="*/ 16 h 398"/>
                <a:gd name="T2" fmla="*/ 65 w 1054"/>
                <a:gd name="T3" fmla="*/ 16 h 398"/>
                <a:gd name="T4" fmla="*/ 68 w 1054"/>
                <a:gd name="T5" fmla="*/ 16 h 398"/>
                <a:gd name="T6" fmla="*/ 70 w 1054"/>
                <a:gd name="T7" fmla="*/ 16 h 398"/>
                <a:gd name="T8" fmla="*/ 72 w 1054"/>
                <a:gd name="T9" fmla="*/ 16 h 398"/>
                <a:gd name="T10" fmla="*/ 74 w 1054"/>
                <a:gd name="T11" fmla="*/ 15 h 398"/>
                <a:gd name="T12" fmla="*/ 76 w 1054"/>
                <a:gd name="T13" fmla="*/ 14 h 398"/>
                <a:gd name="T14" fmla="*/ 77 w 1054"/>
                <a:gd name="T15" fmla="*/ 13 h 398"/>
                <a:gd name="T16" fmla="*/ 78 w 1054"/>
                <a:gd name="T17" fmla="*/ 12 h 398"/>
                <a:gd name="T18" fmla="*/ 79 w 1054"/>
                <a:gd name="T19" fmla="*/ 11 h 398"/>
                <a:gd name="T20" fmla="*/ 80 w 1054"/>
                <a:gd name="T21" fmla="*/ 10 h 398"/>
                <a:gd name="T22" fmla="*/ 80 w 1054"/>
                <a:gd name="T23" fmla="*/ 9 h 398"/>
                <a:gd name="T24" fmla="*/ 80 w 1054"/>
                <a:gd name="T25" fmla="*/ 8 h 398"/>
                <a:gd name="T26" fmla="*/ 80 w 1054"/>
                <a:gd name="T27" fmla="*/ 6 h 398"/>
                <a:gd name="T28" fmla="*/ 79 w 1054"/>
                <a:gd name="T29" fmla="*/ 5 h 398"/>
                <a:gd name="T30" fmla="*/ 78 w 1054"/>
                <a:gd name="T31" fmla="*/ 4 h 398"/>
                <a:gd name="T32" fmla="*/ 77 w 1054"/>
                <a:gd name="T33" fmla="*/ 3 h 398"/>
                <a:gd name="T34" fmla="*/ 76 w 1054"/>
                <a:gd name="T35" fmla="*/ 2 h 398"/>
                <a:gd name="T36" fmla="*/ 74 w 1054"/>
                <a:gd name="T37" fmla="*/ 2 h 398"/>
                <a:gd name="T38" fmla="*/ 72 w 1054"/>
                <a:gd name="T39" fmla="*/ 1 h 398"/>
                <a:gd name="T40" fmla="*/ 70 w 1054"/>
                <a:gd name="T41" fmla="*/ 1 h 398"/>
                <a:gd name="T42" fmla="*/ 68 w 1054"/>
                <a:gd name="T43" fmla="*/ 1 h 398"/>
                <a:gd name="T44" fmla="*/ 65 w 1054"/>
                <a:gd name="T45" fmla="*/ 0 h 398"/>
                <a:gd name="T46" fmla="*/ 15 w 1054"/>
                <a:gd name="T47" fmla="*/ 0 h 398"/>
                <a:gd name="T48" fmla="*/ 13 w 1054"/>
                <a:gd name="T49" fmla="*/ 1 h 398"/>
                <a:gd name="T50" fmla="*/ 10 w 1054"/>
                <a:gd name="T51" fmla="*/ 1 h 398"/>
                <a:gd name="T52" fmla="*/ 8 w 1054"/>
                <a:gd name="T53" fmla="*/ 1 h 398"/>
                <a:gd name="T54" fmla="*/ 7 w 1054"/>
                <a:gd name="T55" fmla="*/ 2 h 398"/>
                <a:gd name="T56" fmla="*/ 5 w 1054"/>
                <a:gd name="T57" fmla="*/ 2 h 398"/>
                <a:gd name="T58" fmla="*/ 4 w 1054"/>
                <a:gd name="T59" fmla="*/ 3 h 398"/>
                <a:gd name="T60" fmla="*/ 2 w 1054"/>
                <a:gd name="T61" fmla="*/ 4 h 398"/>
                <a:gd name="T62" fmla="*/ 1 w 1054"/>
                <a:gd name="T63" fmla="*/ 5 h 398"/>
                <a:gd name="T64" fmla="*/ 1 w 1054"/>
                <a:gd name="T65" fmla="*/ 6 h 398"/>
                <a:gd name="T66" fmla="*/ 0 w 1054"/>
                <a:gd name="T67" fmla="*/ 8 h 398"/>
                <a:gd name="T68" fmla="*/ 0 w 1054"/>
                <a:gd name="T69" fmla="*/ 9 h 398"/>
                <a:gd name="T70" fmla="*/ 1 w 1054"/>
                <a:gd name="T71" fmla="*/ 10 h 398"/>
                <a:gd name="T72" fmla="*/ 1 w 1054"/>
                <a:gd name="T73" fmla="*/ 11 h 398"/>
                <a:gd name="T74" fmla="*/ 2 w 1054"/>
                <a:gd name="T75" fmla="*/ 12 h 398"/>
                <a:gd name="T76" fmla="*/ 4 w 1054"/>
                <a:gd name="T77" fmla="*/ 13 h 398"/>
                <a:gd name="T78" fmla="*/ 5 w 1054"/>
                <a:gd name="T79" fmla="*/ 14 h 398"/>
                <a:gd name="T80" fmla="*/ 7 w 1054"/>
                <a:gd name="T81" fmla="*/ 15 h 398"/>
                <a:gd name="T82" fmla="*/ 8 w 1054"/>
                <a:gd name="T83" fmla="*/ 16 h 398"/>
                <a:gd name="T84" fmla="*/ 10 w 1054"/>
                <a:gd name="T85" fmla="*/ 16 h 398"/>
                <a:gd name="T86" fmla="*/ 13 w 1054"/>
                <a:gd name="T87" fmla="*/ 16 h 398"/>
                <a:gd name="T88" fmla="*/ 15 w 1054"/>
                <a:gd name="T89" fmla="*/ 16 h 39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054"/>
                <a:gd name="T136" fmla="*/ 0 h 398"/>
                <a:gd name="T137" fmla="*/ 1054 w 1054"/>
                <a:gd name="T138" fmla="*/ 398 h 398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054" h="398">
                  <a:moveTo>
                    <a:pt x="198" y="397"/>
                  </a:moveTo>
                  <a:lnTo>
                    <a:pt x="855" y="397"/>
                  </a:lnTo>
                  <a:lnTo>
                    <a:pt x="884" y="395"/>
                  </a:lnTo>
                  <a:lnTo>
                    <a:pt x="914" y="388"/>
                  </a:lnTo>
                  <a:lnTo>
                    <a:pt x="941" y="376"/>
                  </a:lnTo>
                  <a:lnTo>
                    <a:pt x="967" y="362"/>
                  </a:lnTo>
                  <a:lnTo>
                    <a:pt x="990" y="343"/>
                  </a:lnTo>
                  <a:lnTo>
                    <a:pt x="1010" y="321"/>
                  </a:lnTo>
                  <a:lnTo>
                    <a:pt x="1027" y="297"/>
                  </a:lnTo>
                  <a:lnTo>
                    <a:pt x="1039" y="270"/>
                  </a:lnTo>
                  <a:lnTo>
                    <a:pt x="1048" y="242"/>
                  </a:lnTo>
                  <a:lnTo>
                    <a:pt x="1053" y="213"/>
                  </a:lnTo>
                  <a:lnTo>
                    <a:pt x="1053" y="184"/>
                  </a:lnTo>
                  <a:lnTo>
                    <a:pt x="1048" y="155"/>
                  </a:lnTo>
                  <a:lnTo>
                    <a:pt x="1039" y="127"/>
                  </a:lnTo>
                  <a:lnTo>
                    <a:pt x="1027" y="100"/>
                  </a:lnTo>
                  <a:lnTo>
                    <a:pt x="1010" y="76"/>
                  </a:lnTo>
                  <a:lnTo>
                    <a:pt x="990" y="54"/>
                  </a:lnTo>
                  <a:lnTo>
                    <a:pt x="967" y="35"/>
                  </a:lnTo>
                  <a:lnTo>
                    <a:pt x="941" y="21"/>
                  </a:lnTo>
                  <a:lnTo>
                    <a:pt x="914" y="9"/>
                  </a:lnTo>
                  <a:lnTo>
                    <a:pt x="884" y="2"/>
                  </a:lnTo>
                  <a:lnTo>
                    <a:pt x="855" y="0"/>
                  </a:lnTo>
                  <a:lnTo>
                    <a:pt x="198" y="0"/>
                  </a:lnTo>
                  <a:lnTo>
                    <a:pt x="167" y="2"/>
                  </a:lnTo>
                  <a:lnTo>
                    <a:pt x="138" y="9"/>
                  </a:lnTo>
                  <a:lnTo>
                    <a:pt x="112" y="21"/>
                  </a:lnTo>
                  <a:lnTo>
                    <a:pt x="86" y="35"/>
                  </a:lnTo>
                  <a:lnTo>
                    <a:pt x="63" y="54"/>
                  </a:lnTo>
                  <a:lnTo>
                    <a:pt x="43" y="76"/>
                  </a:lnTo>
                  <a:lnTo>
                    <a:pt x="26" y="100"/>
                  </a:lnTo>
                  <a:lnTo>
                    <a:pt x="14" y="127"/>
                  </a:lnTo>
                  <a:lnTo>
                    <a:pt x="5" y="155"/>
                  </a:lnTo>
                  <a:lnTo>
                    <a:pt x="0" y="184"/>
                  </a:lnTo>
                  <a:lnTo>
                    <a:pt x="0" y="213"/>
                  </a:lnTo>
                  <a:lnTo>
                    <a:pt x="5" y="242"/>
                  </a:lnTo>
                  <a:lnTo>
                    <a:pt x="14" y="270"/>
                  </a:lnTo>
                  <a:lnTo>
                    <a:pt x="26" y="297"/>
                  </a:lnTo>
                  <a:lnTo>
                    <a:pt x="43" y="321"/>
                  </a:lnTo>
                  <a:lnTo>
                    <a:pt x="63" y="343"/>
                  </a:lnTo>
                  <a:lnTo>
                    <a:pt x="86" y="362"/>
                  </a:lnTo>
                  <a:lnTo>
                    <a:pt x="112" y="376"/>
                  </a:lnTo>
                  <a:lnTo>
                    <a:pt x="138" y="388"/>
                  </a:lnTo>
                  <a:lnTo>
                    <a:pt x="167" y="395"/>
                  </a:lnTo>
                  <a:lnTo>
                    <a:pt x="198" y="397"/>
                  </a:lnTo>
                </a:path>
              </a:pathLst>
            </a:custGeom>
            <a:solidFill>
              <a:schemeClr val="bg1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92" name="Rectangle 14">
              <a:extLst>
                <a:ext uri="{FF2B5EF4-FFF2-40B4-BE49-F238E27FC236}">
                  <a16:creationId xmlns:a16="http://schemas.microsoft.com/office/drawing/2014/main" id="{E17273E5-4C18-3B3E-94CA-ADA6B1070D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1104"/>
              <a:ext cx="399" cy="1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1600" tIns="50800" rIns="101600" bIns="50800">
              <a:spAutoFit/>
            </a:bodyPr>
            <a:lstStyle>
              <a:lvl1pPr defTabSz="1106488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106488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106488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106488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106488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1064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1064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1064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1064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1200" b="1"/>
                <a:t>Begin</a:t>
              </a:r>
            </a:p>
          </p:txBody>
        </p:sp>
        <p:sp>
          <p:nvSpPr>
            <p:cNvPr id="24593" name="AutoShape 15">
              <a:extLst>
                <a:ext uri="{FF2B5EF4-FFF2-40B4-BE49-F238E27FC236}">
                  <a16:creationId xmlns:a16="http://schemas.microsoft.com/office/drawing/2014/main" id="{63E58198-A259-42D6-CD67-F90B836A93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5" y="1449"/>
              <a:ext cx="1715" cy="419"/>
            </a:xfrm>
            <a:prstGeom prst="parallelogram">
              <a:avLst>
                <a:gd name="adj" fmla="val 10227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46050" tIns="74612" rIns="146050" bIns="74612" anchor="ctr"/>
            <a:lstStyle>
              <a:lvl1pPr defTabSz="2293938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2293938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2293938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2293938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2293938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229393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229393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229393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229393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1400"/>
                <a:t>Read age</a:t>
              </a:r>
            </a:p>
          </p:txBody>
        </p:sp>
        <p:sp>
          <p:nvSpPr>
            <p:cNvPr id="24594" name="Freeform 16">
              <a:extLst>
                <a:ext uri="{FF2B5EF4-FFF2-40B4-BE49-F238E27FC236}">
                  <a16:creationId xmlns:a16="http://schemas.microsoft.com/office/drawing/2014/main" id="{828A2F11-751A-01BC-271C-EF0A4608ED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" y="3446"/>
              <a:ext cx="613" cy="198"/>
            </a:xfrm>
            <a:custGeom>
              <a:avLst/>
              <a:gdLst>
                <a:gd name="T0" fmla="*/ 13 w 1054"/>
                <a:gd name="T1" fmla="*/ 12 h 398"/>
                <a:gd name="T2" fmla="*/ 57 w 1054"/>
                <a:gd name="T3" fmla="*/ 12 h 398"/>
                <a:gd name="T4" fmla="*/ 59 w 1054"/>
                <a:gd name="T5" fmla="*/ 12 h 398"/>
                <a:gd name="T6" fmla="*/ 61 w 1054"/>
                <a:gd name="T7" fmla="*/ 12 h 398"/>
                <a:gd name="T8" fmla="*/ 63 w 1054"/>
                <a:gd name="T9" fmla="*/ 11 h 398"/>
                <a:gd name="T10" fmla="*/ 65 w 1054"/>
                <a:gd name="T11" fmla="*/ 11 h 398"/>
                <a:gd name="T12" fmla="*/ 66 w 1054"/>
                <a:gd name="T13" fmla="*/ 10 h 398"/>
                <a:gd name="T14" fmla="*/ 67 w 1054"/>
                <a:gd name="T15" fmla="*/ 10 h 398"/>
                <a:gd name="T16" fmla="*/ 68 w 1054"/>
                <a:gd name="T17" fmla="*/ 9 h 398"/>
                <a:gd name="T18" fmla="*/ 69 w 1054"/>
                <a:gd name="T19" fmla="*/ 8 h 398"/>
                <a:gd name="T20" fmla="*/ 70 w 1054"/>
                <a:gd name="T21" fmla="*/ 7 h 398"/>
                <a:gd name="T22" fmla="*/ 70 w 1054"/>
                <a:gd name="T23" fmla="*/ 6 h 398"/>
                <a:gd name="T24" fmla="*/ 70 w 1054"/>
                <a:gd name="T25" fmla="*/ 5 h 398"/>
                <a:gd name="T26" fmla="*/ 70 w 1054"/>
                <a:gd name="T27" fmla="*/ 4 h 398"/>
                <a:gd name="T28" fmla="*/ 69 w 1054"/>
                <a:gd name="T29" fmla="*/ 3 h 398"/>
                <a:gd name="T30" fmla="*/ 68 w 1054"/>
                <a:gd name="T31" fmla="*/ 3 h 398"/>
                <a:gd name="T32" fmla="*/ 67 w 1054"/>
                <a:gd name="T33" fmla="*/ 2 h 398"/>
                <a:gd name="T34" fmla="*/ 66 w 1054"/>
                <a:gd name="T35" fmla="*/ 1 h 398"/>
                <a:gd name="T36" fmla="*/ 65 w 1054"/>
                <a:gd name="T37" fmla="*/ 1 h 398"/>
                <a:gd name="T38" fmla="*/ 63 w 1054"/>
                <a:gd name="T39" fmla="*/ 0 h 398"/>
                <a:gd name="T40" fmla="*/ 61 w 1054"/>
                <a:gd name="T41" fmla="*/ 0 h 398"/>
                <a:gd name="T42" fmla="*/ 59 w 1054"/>
                <a:gd name="T43" fmla="*/ 0 h 398"/>
                <a:gd name="T44" fmla="*/ 57 w 1054"/>
                <a:gd name="T45" fmla="*/ 0 h 398"/>
                <a:gd name="T46" fmla="*/ 13 w 1054"/>
                <a:gd name="T47" fmla="*/ 0 h 398"/>
                <a:gd name="T48" fmla="*/ 11 w 1054"/>
                <a:gd name="T49" fmla="*/ 0 h 398"/>
                <a:gd name="T50" fmla="*/ 9 w 1054"/>
                <a:gd name="T51" fmla="*/ 0 h 398"/>
                <a:gd name="T52" fmla="*/ 8 w 1054"/>
                <a:gd name="T53" fmla="*/ 0 h 398"/>
                <a:gd name="T54" fmla="*/ 6 w 1054"/>
                <a:gd name="T55" fmla="*/ 1 h 398"/>
                <a:gd name="T56" fmla="*/ 5 w 1054"/>
                <a:gd name="T57" fmla="*/ 1 h 398"/>
                <a:gd name="T58" fmla="*/ 3 w 1054"/>
                <a:gd name="T59" fmla="*/ 2 h 398"/>
                <a:gd name="T60" fmla="*/ 2 w 1054"/>
                <a:gd name="T61" fmla="*/ 3 h 398"/>
                <a:gd name="T62" fmla="*/ 1 w 1054"/>
                <a:gd name="T63" fmla="*/ 3 h 398"/>
                <a:gd name="T64" fmla="*/ 1 w 1054"/>
                <a:gd name="T65" fmla="*/ 4 h 398"/>
                <a:gd name="T66" fmla="*/ 0 w 1054"/>
                <a:gd name="T67" fmla="*/ 5 h 398"/>
                <a:gd name="T68" fmla="*/ 0 w 1054"/>
                <a:gd name="T69" fmla="*/ 6 h 398"/>
                <a:gd name="T70" fmla="*/ 1 w 1054"/>
                <a:gd name="T71" fmla="*/ 7 h 398"/>
                <a:gd name="T72" fmla="*/ 1 w 1054"/>
                <a:gd name="T73" fmla="*/ 8 h 398"/>
                <a:gd name="T74" fmla="*/ 2 w 1054"/>
                <a:gd name="T75" fmla="*/ 9 h 398"/>
                <a:gd name="T76" fmla="*/ 3 w 1054"/>
                <a:gd name="T77" fmla="*/ 10 h 398"/>
                <a:gd name="T78" fmla="*/ 5 w 1054"/>
                <a:gd name="T79" fmla="*/ 10 h 398"/>
                <a:gd name="T80" fmla="*/ 6 w 1054"/>
                <a:gd name="T81" fmla="*/ 11 h 398"/>
                <a:gd name="T82" fmla="*/ 8 w 1054"/>
                <a:gd name="T83" fmla="*/ 11 h 398"/>
                <a:gd name="T84" fmla="*/ 9 w 1054"/>
                <a:gd name="T85" fmla="*/ 12 h 398"/>
                <a:gd name="T86" fmla="*/ 11 w 1054"/>
                <a:gd name="T87" fmla="*/ 12 h 398"/>
                <a:gd name="T88" fmla="*/ 13 w 1054"/>
                <a:gd name="T89" fmla="*/ 12 h 39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054"/>
                <a:gd name="T136" fmla="*/ 0 h 398"/>
                <a:gd name="T137" fmla="*/ 1054 w 1054"/>
                <a:gd name="T138" fmla="*/ 398 h 398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054" h="398">
                  <a:moveTo>
                    <a:pt x="198" y="397"/>
                  </a:moveTo>
                  <a:lnTo>
                    <a:pt x="855" y="397"/>
                  </a:lnTo>
                  <a:lnTo>
                    <a:pt x="884" y="395"/>
                  </a:lnTo>
                  <a:lnTo>
                    <a:pt x="914" y="388"/>
                  </a:lnTo>
                  <a:lnTo>
                    <a:pt x="941" y="376"/>
                  </a:lnTo>
                  <a:lnTo>
                    <a:pt x="967" y="362"/>
                  </a:lnTo>
                  <a:lnTo>
                    <a:pt x="990" y="343"/>
                  </a:lnTo>
                  <a:lnTo>
                    <a:pt x="1010" y="321"/>
                  </a:lnTo>
                  <a:lnTo>
                    <a:pt x="1027" y="297"/>
                  </a:lnTo>
                  <a:lnTo>
                    <a:pt x="1039" y="270"/>
                  </a:lnTo>
                  <a:lnTo>
                    <a:pt x="1048" y="242"/>
                  </a:lnTo>
                  <a:lnTo>
                    <a:pt x="1053" y="213"/>
                  </a:lnTo>
                  <a:lnTo>
                    <a:pt x="1053" y="184"/>
                  </a:lnTo>
                  <a:lnTo>
                    <a:pt x="1048" y="155"/>
                  </a:lnTo>
                  <a:lnTo>
                    <a:pt x="1039" y="127"/>
                  </a:lnTo>
                  <a:lnTo>
                    <a:pt x="1027" y="100"/>
                  </a:lnTo>
                  <a:lnTo>
                    <a:pt x="1010" y="76"/>
                  </a:lnTo>
                  <a:lnTo>
                    <a:pt x="990" y="54"/>
                  </a:lnTo>
                  <a:lnTo>
                    <a:pt x="967" y="35"/>
                  </a:lnTo>
                  <a:lnTo>
                    <a:pt x="941" y="21"/>
                  </a:lnTo>
                  <a:lnTo>
                    <a:pt x="914" y="9"/>
                  </a:lnTo>
                  <a:lnTo>
                    <a:pt x="884" y="2"/>
                  </a:lnTo>
                  <a:lnTo>
                    <a:pt x="855" y="0"/>
                  </a:lnTo>
                  <a:lnTo>
                    <a:pt x="198" y="0"/>
                  </a:lnTo>
                  <a:lnTo>
                    <a:pt x="167" y="2"/>
                  </a:lnTo>
                  <a:lnTo>
                    <a:pt x="138" y="9"/>
                  </a:lnTo>
                  <a:lnTo>
                    <a:pt x="112" y="21"/>
                  </a:lnTo>
                  <a:lnTo>
                    <a:pt x="86" y="35"/>
                  </a:lnTo>
                  <a:lnTo>
                    <a:pt x="63" y="54"/>
                  </a:lnTo>
                  <a:lnTo>
                    <a:pt x="43" y="76"/>
                  </a:lnTo>
                  <a:lnTo>
                    <a:pt x="26" y="100"/>
                  </a:lnTo>
                  <a:lnTo>
                    <a:pt x="14" y="127"/>
                  </a:lnTo>
                  <a:lnTo>
                    <a:pt x="5" y="155"/>
                  </a:lnTo>
                  <a:lnTo>
                    <a:pt x="0" y="184"/>
                  </a:lnTo>
                  <a:lnTo>
                    <a:pt x="0" y="213"/>
                  </a:lnTo>
                  <a:lnTo>
                    <a:pt x="5" y="242"/>
                  </a:lnTo>
                  <a:lnTo>
                    <a:pt x="14" y="270"/>
                  </a:lnTo>
                  <a:lnTo>
                    <a:pt x="26" y="297"/>
                  </a:lnTo>
                  <a:lnTo>
                    <a:pt x="43" y="321"/>
                  </a:lnTo>
                  <a:lnTo>
                    <a:pt x="63" y="343"/>
                  </a:lnTo>
                  <a:lnTo>
                    <a:pt x="86" y="362"/>
                  </a:lnTo>
                  <a:lnTo>
                    <a:pt x="112" y="376"/>
                  </a:lnTo>
                  <a:lnTo>
                    <a:pt x="138" y="388"/>
                  </a:lnTo>
                  <a:lnTo>
                    <a:pt x="167" y="395"/>
                  </a:lnTo>
                  <a:lnTo>
                    <a:pt x="198" y="397"/>
                  </a:lnTo>
                </a:path>
              </a:pathLst>
            </a:custGeom>
            <a:solidFill>
              <a:schemeClr val="bg1"/>
            </a:solidFill>
            <a:ln w="12700" cap="rnd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595" name="Rectangle 17">
              <a:extLst>
                <a:ext uri="{FF2B5EF4-FFF2-40B4-BE49-F238E27FC236}">
                  <a16:creationId xmlns:a16="http://schemas.microsoft.com/office/drawing/2014/main" id="{BCE03FB9-D439-DFFE-3F24-3C560DF3CE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3456"/>
              <a:ext cx="328" cy="1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01600" tIns="50800" rIns="101600" bIns="50800">
              <a:spAutoFit/>
            </a:bodyPr>
            <a:lstStyle>
              <a:lvl1pPr defTabSz="1106488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106488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106488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106488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106488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1064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1064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1064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1064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1200" b="1"/>
                <a:t>End</a:t>
              </a:r>
            </a:p>
          </p:txBody>
        </p:sp>
        <p:sp>
          <p:nvSpPr>
            <p:cNvPr id="24596" name="Rectangle 18">
              <a:extLst>
                <a:ext uri="{FF2B5EF4-FFF2-40B4-BE49-F238E27FC236}">
                  <a16:creationId xmlns:a16="http://schemas.microsoft.com/office/drawing/2014/main" id="{DC2EDEB7-4893-6DD5-5D51-2152F52C3A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208"/>
              <a:ext cx="646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1600" tIns="50800" rIns="101600" bIns="50800">
              <a:spAutoFit/>
            </a:bodyPr>
            <a:lstStyle>
              <a:lvl1pPr defTabSz="1106488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106488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106488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106488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106488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1064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1064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1064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1064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1400" dirty="0"/>
                <a:t>Age &gt; 60?</a:t>
              </a:r>
            </a:p>
          </p:txBody>
        </p:sp>
        <p:sp>
          <p:nvSpPr>
            <p:cNvPr id="24597" name="Oval 21">
              <a:extLst>
                <a:ext uri="{FF2B5EF4-FFF2-40B4-BE49-F238E27FC236}">
                  <a16:creationId xmlns:a16="http://schemas.microsoft.com/office/drawing/2014/main" id="{A8A6E255-A513-40C2-0CC1-049F2C3C71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2" y="3156"/>
              <a:ext cx="287" cy="185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4598" name="Rectangle 22">
              <a:extLst>
                <a:ext uri="{FF2B5EF4-FFF2-40B4-BE49-F238E27FC236}">
                  <a16:creationId xmlns:a16="http://schemas.microsoft.com/office/drawing/2014/main" id="{88EB7D90-3298-E80E-8E0A-2489C3728C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" y="2176"/>
              <a:ext cx="299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1600" tIns="50800" rIns="101600" bIns="50800">
              <a:spAutoFit/>
            </a:bodyPr>
            <a:lstStyle>
              <a:lvl1pPr defTabSz="1106488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106488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106488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106488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106488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1064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1064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1064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1064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1400"/>
                <a:t>NO</a:t>
              </a:r>
            </a:p>
          </p:txBody>
        </p:sp>
        <p:sp>
          <p:nvSpPr>
            <p:cNvPr id="24599" name="Rectangle 23">
              <a:extLst>
                <a:ext uri="{FF2B5EF4-FFF2-40B4-BE49-F238E27FC236}">
                  <a16:creationId xmlns:a16="http://schemas.microsoft.com/office/drawing/2014/main" id="{5CE0746C-0172-1B84-275E-7E659D52A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5" y="2176"/>
              <a:ext cx="356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01600" tIns="50800" rIns="101600" bIns="50800">
              <a:spAutoFit/>
            </a:bodyPr>
            <a:lstStyle>
              <a:lvl1pPr defTabSz="1106488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1106488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1106488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1106488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1106488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11064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11064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11064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110648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1400"/>
                <a:t>YES</a:t>
              </a:r>
            </a:p>
          </p:txBody>
        </p:sp>
        <p:sp>
          <p:nvSpPr>
            <p:cNvPr id="24600" name="AutoShape 25">
              <a:extLst>
                <a:ext uri="{FF2B5EF4-FFF2-40B4-BE49-F238E27FC236}">
                  <a16:creationId xmlns:a16="http://schemas.microsoft.com/office/drawing/2014/main" id="{B5F6487F-32A5-5826-3F5E-9F2B1CDFE5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8" y="2688"/>
              <a:ext cx="1715" cy="419"/>
            </a:xfrm>
            <a:prstGeom prst="parallelogram">
              <a:avLst>
                <a:gd name="adj" fmla="val 10227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46050" tIns="74612" rIns="146050" bIns="74612" anchor="ctr"/>
            <a:lstStyle>
              <a:lvl1pPr defTabSz="2293938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2293938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2293938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2293938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2293938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229393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229393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229393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229393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1400" dirty="0"/>
                <a:t>print “Retired”</a:t>
              </a:r>
            </a:p>
          </p:txBody>
        </p:sp>
        <p:sp>
          <p:nvSpPr>
            <p:cNvPr id="24601" name="AutoShape 26">
              <a:extLst>
                <a:ext uri="{FF2B5EF4-FFF2-40B4-BE49-F238E27FC236}">
                  <a16:creationId xmlns:a16="http://schemas.microsoft.com/office/drawing/2014/main" id="{E83B5008-1544-F8EE-C9DB-785D1E3080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2640"/>
              <a:ext cx="1715" cy="419"/>
            </a:xfrm>
            <a:prstGeom prst="parallelogram">
              <a:avLst>
                <a:gd name="adj" fmla="val 10227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46050" tIns="74612" rIns="146050" bIns="74612" anchor="ctr"/>
            <a:lstStyle>
              <a:lvl1pPr defTabSz="2293938"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2293938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2293938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2293938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2293938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229393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229393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229393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2293938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en-US" sz="1400" dirty="0"/>
                <a:t>print “Not retired”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Slide Number Placeholder 3">
            <a:extLst>
              <a:ext uri="{FF2B5EF4-FFF2-40B4-BE49-F238E27FC236}">
                <a16:creationId xmlns:a16="http://schemas.microsoft.com/office/drawing/2014/main" id="{A42D14E2-7DA7-4A06-D3DE-13D3B0DE37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ED42889-E845-45DB-993A-5772FB9917F1}" type="slidenum">
              <a:rPr lang="en-US" altLang="en-US" sz="1200">
                <a:latin typeface="Arial Black" panose="020B0A040201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25604" name="Rectangle 2">
            <a:extLst>
              <a:ext uri="{FF2B5EF4-FFF2-40B4-BE49-F238E27FC236}">
                <a16:creationId xmlns:a16="http://schemas.microsoft.com/office/drawing/2014/main" id="{9174B482-3A9A-683F-663E-4DD72923CB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Flowchart – example </a:t>
            </a:r>
          </a:p>
        </p:txBody>
      </p:sp>
      <p:grpSp>
        <p:nvGrpSpPr>
          <p:cNvPr id="25605" name="Group 36">
            <a:extLst>
              <a:ext uri="{FF2B5EF4-FFF2-40B4-BE49-F238E27FC236}">
                <a16:creationId xmlns:a16="http://schemas.microsoft.com/office/drawing/2014/main" id="{816A374C-FF9B-3FFF-DF59-88002F254EFA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1752600"/>
            <a:ext cx="7010400" cy="3810000"/>
            <a:chOff x="672" y="1104"/>
            <a:chExt cx="4416" cy="2400"/>
          </a:xfrm>
        </p:grpSpPr>
        <p:sp>
          <p:nvSpPr>
            <p:cNvPr id="25606" name="Rectangle 4">
              <a:extLst>
                <a:ext uri="{FF2B5EF4-FFF2-40B4-BE49-F238E27FC236}">
                  <a16:creationId xmlns:a16="http://schemas.microsoft.com/office/drawing/2014/main" id="{5D66AD96-3E03-0C89-268A-6C2204AD92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1104"/>
              <a:ext cx="4416" cy="2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grpSp>
          <p:nvGrpSpPr>
            <p:cNvPr id="25607" name="Group 35">
              <a:extLst>
                <a:ext uri="{FF2B5EF4-FFF2-40B4-BE49-F238E27FC236}">
                  <a16:creationId xmlns:a16="http://schemas.microsoft.com/office/drawing/2014/main" id="{FF80B5E6-B32B-5903-44DC-E4AE4895E8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0" y="1200"/>
              <a:ext cx="3552" cy="2042"/>
              <a:chOff x="1200" y="1200"/>
              <a:chExt cx="3552" cy="2042"/>
            </a:xfrm>
          </p:grpSpPr>
          <p:sp>
            <p:nvSpPr>
              <p:cNvPr id="25608" name="Freeform 7">
                <a:extLst>
                  <a:ext uri="{FF2B5EF4-FFF2-40B4-BE49-F238E27FC236}">
                    <a16:creationId xmlns:a16="http://schemas.microsoft.com/office/drawing/2014/main" id="{769FF36A-66A1-17BC-97BE-F73E4A4AF126}"/>
                  </a:ext>
                </a:extLst>
              </p:cNvPr>
              <p:cNvSpPr>
                <a:spLocks/>
              </p:cNvSpPr>
              <p:nvPr/>
            </p:nvSpPr>
            <p:spPr bwMode="auto">
              <a:xfrm rot="-5400000" flipH="1" flipV="1">
                <a:off x="789" y="2427"/>
                <a:ext cx="1065" cy="244"/>
              </a:xfrm>
              <a:custGeom>
                <a:avLst/>
                <a:gdLst>
                  <a:gd name="T0" fmla="*/ 1869 w 925"/>
                  <a:gd name="T1" fmla="*/ 0 h 481"/>
                  <a:gd name="T2" fmla="*/ 1869 w 925"/>
                  <a:gd name="T3" fmla="*/ 16 h 481"/>
                  <a:gd name="T4" fmla="*/ 0 w 925"/>
                  <a:gd name="T5" fmla="*/ 16 h 481"/>
                  <a:gd name="T6" fmla="*/ 0 60000 65536"/>
                  <a:gd name="T7" fmla="*/ 0 60000 65536"/>
                  <a:gd name="T8" fmla="*/ 0 60000 65536"/>
                  <a:gd name="T9" fmla="*/ 0 w 925"/>
                  <a:gd name="T10" fmla="*/ 0 h 481"/>
                  <a:gd name="T11" fmla="*/ 925 w 925"/>
                  <a:gd name="T12" fmla="*/ 481 h 48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25" h="481">
                    <a:moveTo>
                      <a:pt x="924" y="0"/>
                    </a:moveTo>
                    <a:lnTo>
                      <a:pt x="924" y="480"/>
                    </a:lnTo>
                    <a:lnTo>
                      <a:pt x="0" y="48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09" name="Freeform 10">
                <a:extLst>
                  <a:ext uri="{FF2B5EF4-FFF2-40B4-BE49-F238E27FC236}">
                    <a16:creationId xmlns:a16="http://schemas.microsoft.com/office/drawing/2014/main" id="{8E2E9AB8-BF13-800B-B60D-18365EE0C7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4" y="2138"/>
                <a:ext cx="1596" cy="568"/>
              </a:xfrm>
              <a:custGeom>
                <a:avLst/>
                <a:gdLst>
                  <a:gd name="T0" fmla="*/ 0 w 1532"/>
                  <a:gd name="T1" fmla="*/ 35 h 959"/>
                  <a:gd name="T2" fmla="*/ 940 w 1532"/>
                  <a:gd name="T3" fmla="*/ 0 h 959"/>
                  <a:gd name="T4" fmla="*/ 1878 w 1532"/>
                  <a:gd name="T5" fmla="*/ 35 h 959"/>
                  <a:gd name="T6" fmla="*/ 940 w 1532"/>
                  <a:gd name="T7" fmla="*/ 70 h 959"/>
                  <a:gd name="T8" fmla="*/ 0 w 1532"/>
                  <a:gd name="T9" fmla="*/ 35 h 9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32"/>
                  <a:gd name="T16" fmla="*/ 0 h 959"/>
                  <a:gd name="T17" fmla="*/ 1532 w 1532"/>
                  <a:gd name="T18" fmla="*/ 959 h 9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32" h="959">
                    <a:moveTo>
                      <a:pt x="0" y="479"/>
                    </a:moveTo>
                    <a:lnTo>
                      <a:pt x="766" y="0"/>
                    </a:lnTo>
                    <a:lnTo>
                      <a:pt x="1531" y="479"/>
                    </a:lnTo>
                    <a:lnTo>
                      <a:pt x="766" y="958"/>
                    </a:lnTo>
                    <a:lnTo>
                      <a:pt x="0" y="479"/>
                    </a:lnTo>
                  </a:path>
                </a:pathLst>
              </a:custGeom>
              <a:noFill/>
              <a:ln w="12700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10" name="Freeform 11">
                <a:extLst>
                  <a:ext uri="{FF2B5EF4-FFF2-40B4-BE49-F238E27FC236}">
                    <a16:creationId xmlns:a16="http://schemas.microsoft.com/office/drawing/2014/main" id="{392ACA59-F132-85D7-00E5-C8CF45FD63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0" y="1898"/>
                <a:ext cx="0" cy="236"/>
              </a:xfrm>
              <a:custGeom>
                <a:avLst/>
                <a:gdLst>
                  <a:gd name="T0" fmla="*/ 0 w 1"/>
                  <a:gd name="T1" fmla="*/ 0 h 445"/>
                  <a:gd name="T2" fmla="*/ 0 w 1"/>
                  <a:gd name="T3" fmla="*/ 19 h 445"/>
                  <a:gd name="T4" fmla="*/ 0 60000 65536"/>
                  <a:gd name="T5" fmla="*/ 0 60000 65536"/>
                  <a:gd name="T6" fmla="*/ 0 w 1"/>
                  <a:gd name="T7" fmla="*/ 0 h 445"/>
                  <a:gd name="T8" fmla="*/ 0 w 1"/>
                  <a:gd name="T9" fmla="*/ 445 h 44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445">
                    <a:moveTo>
                      <a:pt x="0" y="0"/>
                    </a:moveTo>
                    <a:lnTo>
                      <a:pt x="0" y="444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11" name="Freeform 12">
                <a:extLst>
                  <a:ext uri="{FF2B5EF4-FFF2-40B4-BE49-F238E27FC236}">
                    <a16:creationId xmlns:a16="http://schemas.microsoft.com/office/drawing/2014/main" id="{4611D522-1C09-296E-C3CD-AC7B42C308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0" y="1341"/>
                <a:ext cx="0" cy="235"/>
              </a:xfrm>
              <a:custGeom>
                <a:avLst/>
                <a:gdLst>
                  <a:gd name="T0" fmla="*/ 0 w 1"/>
                  <a:gd name="T1" fmla="*/ 0 h 445"/>
                  <a:gd name="T2" fmla="*/ 0 w 1"/>
                  <a:gd name="T3" fmla="*/ 18 h 445"/>
                  <a:gd name="T4" fmla="*/ 0 60000 65536"/>
                  <a:gd name="T5" fmla="*/ 0 60000 65536"/>
                  <a:gd name="T6" fmla="*/ 0 w 1"/>
                  <a:gd name="T7" fmla="*/ 0 h 445"/>
                  <a:gd name="T8" fmla="*/ 0 w 1"/>
                  <a:gd name="T9" fmla="*/ 445 h 44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445">
                    <a:moveTo>
                      <a:pt x="0" y="0"/>
                    </a:moveTo>
                    <a:lnTo>
                      <a:pt x="0" y="444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12" name="Freeform 13">
                <a:extLst>
                  <a:ext uri="{FF2B5EF4-FFF2-40B4-BE49-F238E27FC236}">
                    <a16:creationId xmlns:a16="http://schemas.microsoft.com/office/drawing/2014/main" id="{9F069816-5CAD-33D3-7999-CF9E4C0D48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8" y="1200"/>
                <a:ext cx="630" cy="211"/>
              </a:xfrm>
              <a:custGeom>
                <a:avLst/>
                <a:gdLst>
                  <a:gd name="T0" fmla="*/ 15 w 1054"/>
                  <a:gd name="T1" fmla="*/ 16 h 398"/>
                  <a:gd name="T2" fmla="*/ 65 w 1054"/>
                  <a:gd name="T3" fmla="*/ 16 h 398"/>
                  <a:gd name="T4" fmla="*/ 68 w 1054"/>
                  <a:gd name="T5" fmla="*/ 16 h 398"/>
                  <a:gd name="T6" fmla="*/ 70 w 1054"/>
                  <a:gd name="T7" fmla="*/ 16 h 398"/>
                  <a:gd name="T8" fmla="*/ 72 w 1054"/>
                  <a:gd name="T9" fmla="*/ 16 h 398"/>
                  <a:gd name="T10" fmla="*/ 74 w 1054"/>
                  <a:gd name="T11" fmla="*/ 15 h 398"/>
                  <a:gd name="T12" fmla="*/ 76 w 1054"/>
                  <a:gd name="T13" fmla="*/ 14 h 398"/>
                  <a:gd name="T14" fmla="*/ 77 w 1054"/>
                  <a:gd name="T15" fmla="*/ 13 h 398"/>
                  <a:gd name="T16" fmla="*/ 78 w 1054"/>
                  <a:gd name="T17" fmla="*/ 12 h 398"/>
                  <a:gd name="T18" fmla="*/ 79 w 1054"/>
                  <a:gd name="T19" fmla="*/ 11 h 398"/>
                  <a:gd name="T20" fmla="*/ 80 w 1054"/>
                  <a:gd name="T21" fmla="*/ 10 h 398"/>
                  <a:gd name="T22" fmla="*/ 80 w 1054"/>
                  <a:gd name="T23" fmla="*/ 9 h 398"/>
                  <a:gd name="T24" fmla="*/ 80 w 1054"/>
                  <a:gd name="T25" fmla="*/ 8 h 398"/>
                  <a:gd name="T26" fmla="*/ 80 w 1054"/>
                  <a:gd name="T27" fmla="*/ 6 h 398"/>
                  <a:gd name="T28" fmla="*/ 79 w 1054"/>
                  <a:gd name="T29" fmla="*/ 5 h 398"/>
                  <a:gd name="T30" fmla="*/ 78 w 1054"/>
                  <a:gd name="T31" fmla="*/ 4 h 398"/>
                  <a:gd name="T32" fmla="*/ 77 w 1054"/>
                  <a:gd name="T33" fmla="*/ 3 h 398"/>
                  <a:gd name="T34" fmla="*/ 76 w 1054"/>
                  <a:gd name="T35" fmla="*/ 2 h 398"/>
                  <a:gd name="T36" fmla="*/ 74 w 1054"/>
                  <a:gd name="T37" fmla="*/ 2 h 398"/>
                  <a:gd name="T38" fmla="*/ 72 w 1054"/>
                  <a:gd name="T39" fmla="*/ 1 h 398"/>
                  <a:gd name="T40" fmla="*/ 70 w 1054"/>
                  <a:gd name="T41" fmla="*/ 1 h 398"/>
                  <a:gd name="T42" fmla="*/ 68 w 1054"/>
                  <a:gd name="T43" fmla="*/ 1 h 398"/>
                  <a:gd name="T44" fmla="*/ 65 w 1054"/>
                  <a:gd name="T45" fmla="*/ 0 h 398"/>
                  <a:gd name="T46" fmla="*/ 15 w 1054"/>
                  <a:gd name="T47" fmla="*/ 0 h 398"/>
                  <a:gd name="T48" fmla="*/ 13 w 1054"/>
                  <a:gd name="T49" fmla="*/ 1 h 398"/>
                  <a:gd name="T50" fmla="*/ 10 w 1054"/>
                  <a:gd name="T51" fmla="*/ 1 h 398"/>
                  <a:gd name="T52" fmla="*/ 8 w 1054"/>
                  <a:gd name="T53" fmla="*/ 1 h 398"/>
                  <a:gd name="T54" fmla="*/ 7 w 1054"/>
                  <a:gd name="T55" fmla="*/ 2 h 398"/>
                  <a:gd name="T56" fmla="*/ 5 w 1054"/>
                  <a:gd name="T57" fmla="*/ 2 h 398"/>
                  <a:gd name="T58" fmla="*/ 4 w 1054"/>
                  <a:gd name="T59" fmla="*/ 3 h 398"/>
                  <a:gd name="T60" fmla="*/ 2 w 1054"/>
                  <a:gd name="T61" fmla="*/ 4 h 398"/>
                  <a:gd name="T62" fmla="*/ 1 w 1054"/>
                  <a:gd name="T63" fmla="*/ 5 h 398"/>
                  <a:gd name="T64" fmla="*/ 1 w 1054"/>
                  <a:gd name="T65" fmla="*/ 6 h 398"/>
                  <a:gd name="T66" fmla="*/ 0 w 1054"/>
                  <a:gd name="T67" fmla="*/ 8 h 398"/>
                  <a:gd name="T68" fmla="*/ 0 w 1054"/>
                  <a:gd name="T69" fmla="*/ 9 h 398"/>
                  <a:gd name="T70" fmla="*/ 1 w 1054"/>
                  <a:gd name="T71" fmla="*/ 10 h 398"/>
                  <a:gd name="T72" fmla="*/ 1 w 1054"/>
                  <a:gd name="T73" fmla="*/ 11 h 398"/>
                  <a:gd name="T74" fmla="*/ 2 w 1054"/>
                  <a:gd name="T75" fmla="*/ 12 h 398"/>
                  <a:gd name="T76" fmla="*/ 4 w 1054"/>
                  <a:gd name="T77" fmla="*/ 13 h 398"/>
                  <a:gd name="T78" fmla="*/ 5 w 1054"/>
                  <a:gd name="T79" fmla="*/ 14 h 398"/>
                  <a:gd name="T80" fmla="*/ 7 w 1054"/>
                  <a:gd name="T81" fmla="*/ 15 h 398"/>
                  <a:gd name="T82" fmla="*/ 8 w 1054"/>
                  <a:gd name="T83" fmla="*/ 16 h 398"/>
                  <a:gd name="T84" fmla="*/ 10 w 1054"/>
                  <a:gd name="T85" fmla="*/ 16 h 398"/>
                  <a:gd name="T86" fmla="*/ 13 w 1054"/>
                  <a:gd name="T87" fmla="*/ 16 h 398"/>
                  <a:gd name="T88" fmla="*/ 15 w 1054"/>
                  <a:gd name="T89" fmla="*/ 16 h 398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054"/>
                  <a:gd name="T136" fmla="*/ 0 h 398"/>
                  <a:gd name="T137" fmla="*/ 1054 w 1054"/>
                  <a:gd name="T138" fmla="*/ 398 h 398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054" h="398">
                    <a:moveTo>
                      <a:pt x="198" y="397"/>
                    </a:moveTo>
                    <a:lnTo>
                      <a:pt x="855" y="397"/>
                    </a:lnTo>
                    <a:lnTo>
                      <a:pt x="884" y="395"/>
                    </a:lnTo>
                    <a:lnTo>
                      <a:pt x="914" y="388"/>
                    </a:lnTo>
                    <a:lnTo>
                      <a:pt x="941" y="376"/>
                    </a:lnTo>
                    <a:lnTo>
                      <a:pt x="967" y="362"/>
                    </a:lnTo>
                    <a:lnTo>
                      <a:pt x="990" y="343"/>
                    </a:lnTo>
                    <a:lnTo>
                      <a:pt x="1010" y="321"/>
                    </a:lnTo>
                    <a:lnTo>
                      <a:pt x="1027" y="297"/>
                    </a:lnTo>
                    <a:lnTo>
                      <a:pt x="1039" y="270"/>
                    </a:lnTo>
                    <a:lnTo>
                      <a:pt x="1048" y="242"/>
                    </a:lnTo>
                    <a:lnTo>
                      <a:pt x="1053" y="213"/>
                    </a:lnTo>
                    <a:lnTo>
                      <a:pt x="1053" y="184"/>
                    </a:lnTo>
                    <a:lnTo>
                      <a:pt x="1048" y="155"/>
                    </a:lnTo>
                    <a:lnTo>
                      <a:pt x="1039" y="127"/>
                    </a:lnTo>
                    <a:lnTo>
                      <a:pt x="1027" y="100"/>
                    </a:lnTo>
                    <a:lnTo>
                      <a:pt x="1010" y="76"/>
                    </a:lnTo>
                    <a:lnTo>
                      <a:pt x="990" y="54"/>
                    </a:lnTo>
                    <a:lnTo>
                      <a:pt x="967" y="35"/>
                    </a:lnTo>
                    <a:lnTo>
                      <a:pt x="941" y="21"/>
                    </a:lnTo>
                    <a:lnTo>
                      <a:pt x="914" y="9"/>
                    </a:lnTo>
                    <a:lnTo>
                      <a:pt x="884" y="2"/>
                    </a:lnTo>
                    <a:lnTo>
                      <a:pt x="855" y="0"/>
                    </a:lnTo>
                    <a:lnTo>
                      <a:pt x="198" y="0"/>
                    </a:lnTo>
                    <a:lnTo>
                      <a:pt x="167" y="2"/>
                    </a:lnTo>
                    <a:lnTo>
                      <a:pt x="138" y="9"/>
                    </a:lnTo>
                    <a:lnTo>
                      <a:pt x="112" y="21"/>
                    </a:lnTo>
                    <a:lnTo>
                      <a:pt x="86" y="35"/>
                    </a:lnTo>
                    <a:lnTo>
                      <a:pt x="63" y="54"/>
                    </a:lnTo>
                    <a:lnTo>
                      <a:pt x="43" y="76"/>
                    </a:lnTo>
                    <a:lnTo>
                      <a:pt x="26" y="100"/>
                    </a:lnTo>
                    <a:lnTo>
                      <a:pt x="14" y="127"/>
                    </a:lnTo>
                    <a:lnTo>
                      <a:pt x="5" y="155"/>
                    </a:lnTo>
                    <a:lnTo>
                      <a:pt x="0" y="184"/>
                    </a:lnTo>
                    <a:lnTo>
                      <a:pt x="0" y="213"/>
                    </a:lnTo>
                    <a:lnTo>
                      <a:pt x="5" y="242"/>
                    </a:lnTo>
                    <a:lnTo>
                      <a:pt x="14" y="270"/>
                    </a:lnTo>
                    <a:lnTo>
                      <a:pt x="26" y="297"/>
                    </a:lnTo>
                    <a:lnTo>
                      <a:pt x="43" y="321"/>
                    </a:lnTo>
                    <a:lnTo>
                      <a:pt x="63" y="343"/>
                    </a:lnTo>
                    <a:lnTo>
                      <a:pt x="86" y="362"/>
                    </a:lnTo>
                    <a:lnTo>
                      <a:pt x="112" y="376"/>
                    </a:lnTo>
                    <a:lnTo>
                      <a:pt x="138" y="388"/>
                    </a:lnTo>
                    <a:lnTo>
                      <a:pt x="167" y="395"/>
                    </a:lnTo>
                    <a:lnTo>
                      <a:pt x="198" y="397"/>
                    </a:lnTo>
                  </a:path>
                </a:pathLst>
              </a:custGeom>
              <a:solidFill>
                <a:schemeClr val="bg1"/>
              </a:solidFill>
              <a:ln w="12700" cap="rnd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13" name="Rectangle 14">
                <a:extLst>
                  <a:ext uri="{FF2B5EF4-FFF2-40B4-BE49-F238E27FC236}">
                    <a16:creationId xmlns:a16="http://schemas.microsoft.com/office/drawing/2014/main" id="{BAF965E6-5F1F-8A31-E2E5-B46EB3F9C1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1226"/>
                <a:ext cx="399" cy="18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01600" tIns="50800" rIns="101600" bIns="50800">
                <a:spAutoFit/>
              </a:bodyPr>
              <a:lstStyle>
                <a:lvl1pPr defTabSz="1106488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1106488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1106488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1106488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1106488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11064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11064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11064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11064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1200" b="1"/>
                  <a:t>Begin</a:t>
                </a:r>
              </a:p>
            </p:txBody>
          </p:sp>
          <p:grpSp>
            <p:nvGrpSpPr>
              <p:cNvPr id="25614" name="Group 32">
                <a:extLst>
                  <a:ext uri="{FF2B5EF4-FFF2-40B4-BE49-F238E27FC236}">
                    <a16:creationId xmlns:a16="http://schemas.microsoft.com/office/drawing/2014/main" id="{ECB8BB20-7FBA-EE22-04F2-D58EBD955C0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44" y="2858"/>
                <a:ext cx="613" cy="198"/>
                <a:chOff x="4032" y="2688"/>
                <a:chExt cx="613" cy="198"/>
              </a:xfrm>
            </p:grpSpPr>
            <p:sp>
              <p:nvSpPr>
                <p:cNvPr id="25625" name="Freeform 16">
                  <a:extLst>
                    <a:ext uri="{FF2B5EF4-FFF2-40B4-BE49-F238E27FC236}">
                      <a16:creationId xmlns:a16="http://schemas.microsoft.com/office/drawing/2014/main" id="{82DA290B-DE4C-F252-74B0-40F0CA95A7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032" y="2688"/>
                  <a:ext cx="613" cy="198"/>
                </a:xfrm>
                <a:custGeom>
                  <a:avLst/>
                  <a:gdLst>
                    <a:gd name="T0" fmla="*/ 13 w 1054"/>
                    <a:gd name="T1" fmla="*/ 12 h 398"/>
                    <a:gd name="T2" fmla="*/ 57 w 1054"/>
                    <a:gd name="T3" fmla="*/ 12 h 398"/>
                    <a:gd name="T4" fmla="*/ 59 w 1054"/>
                    <a:gd name="T5" fmla="*/ 12 h 398"/>
                    <a:gd name="T6" fmla="*/ 61 w 1054"/>
                    <a:gd name="T7" fmla="*/ 12 h 398"/>
                    <a:gd name="T8" fmla="*/ 63 w 1054"/>
                    <a:gd name="T9" fmla="*/ 11 h 398"/>
                    <a:gd name="T10" fmla="*/ 65 w 1054"/>
                    <a:gd name="T11" fmla="*/ 11 h 398"/>
                    <a:gd name="T12" fmla="*/ 66 w 1054"/>
                    <a:gd name="T13" fmla="*/ 10 h 398"/>
                    <a:gd name="T14" fmla="*/ 67 w 1054"/>
                    <a:gd name="T15" fmla="*/ 10 h 398"/>
                    <a:gd name="T16" fmla="*/ 68 w 1054"/>
                    <a:gd name="T17" fmla="*/ 9 h 398"/>
                    <a:gd name="T18" fmla="*/ 69 w 1054"/>
                    <a:gd name="T19" fmla="*/ 8 h 398"/>
                    <a:gd name="T20" fmla="*/ 70 w 1054"/>
                    <a:gd name="T21" fmla="*/ 7 h 398"/>
                    <a:gd name="T22" fmla="*/ 70 w 1054"/>
                    <a:gd name="T23" fmla="*/ 6 h 398"/>
                    <a:gd name="T24" fmla="*/ 70 w 1054"/>
                    <a:gd name="T25" fmla="*/ 5 h 398"/>
                    <a:gd name="T26" fmla="*/ 70 w 1054"/>
                    <a:gd name="T27" fmla="*/ 4 h 398"/>
                    <a:gd name="T28" fmla="*/ 69 w 1054"/>
                    <a:gd name="T29" fmla="*/ 3 h 398"/>
                    <a:gd name="T30" fmla="*/ 68 w 1054"/>
                    <a:gd name="T31" fmla="*/ 3 h 398"/>
                    <a:gd name="T32" fmla="*/ 67 w 1054"/>
                    <a:gd name="T33" fmla="*/ 2 h 398"/>
                    <a:gd name="T34" fmla="*/ 66 w 1054"/>
                    <a:gd name="T35" fmla="*/ 1 h 398"/>
                    <a:gd name="T36" fmla="*/ 65 w 1054"/>
                    <a:gd name="T37" fmla="*/ 1 h 398"/>
                    <a:gd name="T38" fmla="*/ 63 w 1054"/>
                    <a:gd name="T39" fmla="*/ 0 h 398"/>
                    <a:gd name="T40" fmla="*/ 61 w 1054"/>
                    <a:gd name="T41" fmla="*/ 0 h 398"/>
                    <a:gd name="T42" fmla="*/ 59 w 1054"/>
                    <a:gd name="T43" fmla="*/ 0 h 398"/>
                    <a:gd name="T44" fmla="*/ 57 w 1054"/>
                    <a:gd name="T45" fmla="*/ 0 h 398"/>
                    <a:gd name="T46" fmla="*/ 13 w 1054"/>
                    <a:gd name="T47" fmla="*/ 0 h 398"/>
                    <a:gd name="T48" fmla="*/ 11 w 1054"/>
                    <a:gd name="T49" fmla="*/ 0 h 398"/>
                    <a:gd name="T50" fmla="*/ 9 w 1054"/>
                    <a:gd name="T51" fmla="*/ 0 h 398"/>
                    <a:gd name="T52" fmla="*/ 8 w 1054"/>
                    <a:gd name="T53" fmla="*/ 0 h 398"/>
                    <a:gd name="T54" fmla="*/ 6 w 1054"/>
                    <a:gd name="T55" fmla="*/ 1 h 398"/>
                    <a:gd name="T56" fmla="*/ 5 w 1054"/>
                    <a:gd name="T57" fmla="*/ 1 h 398"/>
                    <a:gd name="T58" fmla="*/ 3 w 1054"/>
                    <a:gd name="T59" fmla="*/ 2 h 398"/>
                    <a:gd name="T60" fmla="*/ 2 w 1054"/>
                    <a:gd name="T61" fmla="*/ 3 h 398"/>
                    <a:gd name="T62" fmla="*/ 1 w 1054"/>
                    <a:gd name="T63" fmla="*/ 3 h 398"/>
                    <a:gd name="T64" fmla="*/ 1 w 1054"/>
                    <a:gd name="T65" fmla="*/ 4 h 398"/>
                    <a:gd name="T66" fmla="*/ 0 w 1054"/>
                    <a:gd name="T67" fmla="*/ 5 h 398"/>
                    <a:gd name="T68" fmla="*/ 0 w 1054"/>
                    <a:gd name="T69" fmla="*/ 6 h 398"/>
                    <a:gd name="T70" fmla="*/ 1 w 1054"/>
                    <a:gd name="T71" fmla="*/ 7 h 398"/>
                    <a:gd name="T72" fmla="*/ 1 w 1054"/>
                    <a:gd name="T73" fmla="*/ 8 h 398"/>
                    <a:gd name="T74" fmla="*/ 2 w 1054"/>
                    <a:gd name="T75" fmla="*/ 9 h 398"/>
                    <a:gd name="T76" fmla="*/ 3 w 1054"/>
                    <a:gd name="T77" fmla="*/ 10 h 398"/>
                    <a:gd name="T78" fmla="*/ 5 w 1054"/>
                    <a:gd name="T79" fmla="*/ 10 h 398"/>
                    <a:gd name="T80" fmla="*/ 6 w 1054"/>
                    <a:gd name="T81" fmla="*/ 11 h 398"/>
                    <a:gd name="T82" fmla="*/ 8 w 1054"/>
                    <a:gd name="T83" fmla="*/ 11 h 398"/>
                    <a:gd name="T84" fmla="*/ 9 w 1054"/>
                    <a:gd name="T85" fmla="*/ 12 h 398"/>
                    <a:gd name="T86" fmla="*/ 11 w 1054"/>
                    <a:gd name="T87" fmla="*/ 12 h 398"/>
                    <a:gd name="T88" fmla="*/ 13 w 1054"/>
                    <a:gd name="T89" fmla="*/ 12 h 398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w 1054"/>
                    <a:gd name="T136" fmla="*/ 0 h 398"/>
                    <a:gd name="T137" fmla="*/ 1054 w 1054"/>
                    <a:gd name="T138" fmla="*/ 398 h 398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T135" t="T136" r="T137" b="T138"/>
                  <a:pathLst>
                    <a:path w="1054" h="398">
                      <a:moveTo>
                        <a:pt x="198" y="397"/>
                      </a:moveTo>
                      <a:lnTo>
                        <a:pt x="855" y="397"/>
                      </a:lnTo>
                      <a:lnTo>
                        <a:pt x="884" y="395"/>
                      </a:lnTo>
                      <a:lnTo>
                        <a:pt x="914" y="388"/>
                      </a:lnTo>
                      <a:lnTo>
                        <a:pt x="941" y="376"/>
                      </a:lnTo>
                      <a:lnTo>
                        <a:pt x="967" y="362"/>
                      </a:lnTo>
                      <a:lnTo>
                        <a:pt x="990" y="343"/>
                      </a:lnTo>
                      <a:lnTo>
                        <a:pt x="1010" y="321"/>
                      </a:lnTo>
                      <a:lnTo>
                        <a:pt x="1027" y="297"/>
                      </a:lnTo>
                      <a:lnTo>
                        <a:pt x="1039" y="270"/>
                      </a:lnTo>
                      <a:lnTo>
                        <a:pt x="1048" y="242"/>
                      </a:lnTo>
                      <a:lnTo>
                        <a:pt x="1053" y="213"/>
                      </a:lnTo>
                      <a:lnTo>
                        <a:pt x="1053" y="184"/>
                      </a:lnTo>
                      <a:lnTo>
                        <a:pt x="1048" y="155"/>
                      </a:lnTo>
                      <a:lnTo>
                        <a:pt x="1039" y="127"/>
                      </a:lnTo>
                      <a:lnTo>
                        <a:pt x="1027" y="100"/>
                      </a:lnTo>
                      <a:lnTo>
                        <a:pt x="1010" y="76"/>
                      </a:lnTo>
                      <a:lnTo>
                        <a:pt x="990" y="54"/>
                      </a:lnTo>
                      <a:lnTo>
                        <a:pt x="967" y="35"/>
                      </a:lnTo>
                      <a:lnTo>
                        <a:pt x="941" y="21"/>
                      </a:lnTo>
                      <a:lnTo>
                        <a:pt x="914" y="9"/>
                      </a:lnTo>
                      <a:lnTo>
                        <a:pt x="884" y="2"/>
                      </a:lnTo>
                      <a:lnTo>
                        <a:pt x="855" y="0"/>
                      </a:lnTo>
                      <a:lnTo>
                        <a:pt x="198" y="0"/>
                      </a:lnTo>
                      <a:lnTo>
                        <a:pt x="167" y="2"/>
                      </a:lnTo>
                      <a:lnTo>
                        <a:pt x="138" y="9"/>
                      </a:lnTo>
                      <a:lnTo>
                        <a:pt x="112" y="21"/>
                      </a:lnTo>
                      <a:lnTo>
                        <a:pt x="86" y="35"/>
                      </a:lnTo>
                      <a:lnTo>
                        <a:pt x="63" y="54"/>
                      </a:lnTo>
                      <a:lnTo>
                        <a:pt x="43" y="76"/>
                      </a:lnTo>
                      <a:lnTo>
                        <a:pt x="26" y="100"/>
                      </a:lnTo>
                      <a:lnTo>
                        <a:pt x="14" y="127"/>
                      </a:lnTo>
                      <a:lnTo>
                        <a:pt x="5" y="155"/>
                      </a:lnTo>
                      <a:lnTo>
                        <a:pt x="0" y="184"/>
                      </a:lnTo>
                      <a:lnTo>
                        <a:pt x="0" y="213"/>
                      </a:lnTo>
                      <a:lnTo>
                        <a:pt x="5" y="242"/>
                      </a:lnTo>
                      <a:lnTo>
                        <a:pt x="14" y="270"/>
                      </a:lnTo>
                      <a:lnTo>
                        <a:pt x="26" y="297"/>
                      </a:lnTo>
                      <a:lnTo>
                        <a:pt x="43" y="321"/>
                      </a:lnTo>
                      <a:lnTo>
                        <a:pt x="63" y="343"/>
                      </a:lnTo>
                      <a:lnTo>
                        <a:pt x="86" y="362"/>
                      </a:lnTo>
                      <a:lnTo>
                        <a:pt x="112" y="376"/>
                      </a:lnTo>
                      <a:lnTo>
                        <a:pt x="138" y="388"/>
                      </a:lnTo>
                      <a:lnTo>
                        <a:pt x="167" y="395"/>
                      </a:lnTo>
                      <a:lnTo>
                        <a:pt x="198" y="397"/>
                      </a:lnTo>
                    </a:path>
                  </a:pathLst>
                </a:custGeom>
                <a:solidFill>
                  <a:schemeClr val="bg1"/>
                </a:solidFill>
                <a:ln w="12700" cap="rnd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626" name="Rectangle 17">
                  <a:extLst>
                    <a:ext uri="{FF2B5EF4-FFF2-40B4-BE49-F238E27FC236}">
                      <a16:creationId xmlns:a16="http://schemas.microsoft.com/office/drawing/2014/main" id="{CAB870E3-6C45-10FC-3D51-10A5CB23AD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6" y="2688"/>
                  <a:ext cx="328" cy="18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101600" tIns="50800" rIns="101600" bIns="50800">
                  <a:spAutoFit/>
                </a:bodyPr>
                <a:lstStyle>
                  <a:lvl1pPr defTabSz="1106488">
                    <a:spcBef>
                      <a:spcPct val="20000"/>
                    </a:spcBef>
                    <a:buClr>
                      <a:schemeClr val="bg2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defTabSz="1106488">
                    <a:spcBef>
                      <a:spcPct val="20000"/>
                    </a:spcBef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  <a:buChar char="¨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defTabSz="1106488">
                    <a:spcBef>
                      <a:spcPct val="20000"/>
                    </a:spcBef>
                    <a:buClr>
                      <a:schemeClr val="bg2"/>
                    </a:buClr>
                    <a:buSzPct val="65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defTabSz="1106488">
                    <a:spcBef>
                      <a:spcPct val="20000"/>
                    </a:spcBef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¨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defTabSz="1106488">
                    <a:spcBef>
                      <a:spcPct val="20000"/>
                    </a:spcBef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defTabSz="1106488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defTabSz="1106488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defTabSz="1106488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defTabSz="1106488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bg2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GB" altLang="en-US" sz="1200" b="1"/>
                    <a:t>End</a:t>
                  </a:r>
                </a:p>
              </p:txBody>
            </p:sp>
          </p:grpSp>
          <p:sp>
            <p:nvSpPr>
              <p:cNvPr id="25615" name="Rectangle 18">
                <a:extLst>
                  <a:ext uri="{FF2B5EF4-FFF2-40B4-BE49-F238E27FC236}">
                    <a16:creationId xmlns:a16="http://schemas.microsoft.com/office/drawing/2014/main" id="{AC489B28-AF6A-239D-54AA-40895E6A48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" y="2330"/>
                <a:ext cx="1306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01600" tIns="50800" rIns="101600" bIns="50800">
                <a:spAutoFit/>
              </a:bodyPr>
              <a:lstStyle>
                <a:lvl1pPr defTabSz="1106488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1106488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1106488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1106488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1106488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11064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11064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11064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11064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1400"/>
                  <a:t>current_number &lt;= 10?</a:t>
                </a:r>
              </a:p>
            </p:txBody>
          </p:sp>
          <p:sp>
            <p:nvSpPr>
              <p:cNvPr id="25616" name="Rectangle 20">
                <a:extLst>
                  <a:ext uri="{FF2B5EF4-FFF2-40B4-BE49-F238E27FC236}">
                    <a16:creationId xmlns:a16="http://schemas.microsoft.com/office/drawing/2014/main" id="{3E096482-DF77-A1C1-1718-50ECB1FCA5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6" y="2186"/>
                <a:ext cx="299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01600" tIns="50800" rIns="101600" bIns="50800">
                <a:spAutoFit/>
              </a:bodyPr>
              <a:lstStyle>
                <a:lvl1pPr defTabSz="1106488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1106488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1106488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1106488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1106488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11064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11064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11064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11064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1400"/>
                  <a:t>NO</a:t>
                </a:r>
              </a:p>
            </p:txBody>
          </p:sp>
          <p:sp>
            <p:nvSpPr>
              <p:cNvPr id="25617" name="Rectangle 21">
                <a:extLst>
                  <a:ext uri="{FF2B5EF4-FFF2-40B4-BE49-F238E27FC236}">
                    <a16:creationId xmlns:a16="http://schemas.microsoft.com/office/drawing/2014/main" id="{54C5BBA3-9BF4-B153-BB2C-76C50B5A7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2714"/>
                <a:ext cx="356" cy="2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101600" tIns="50800" rIns="101600" bIns="50800">
                <a:spAutoFit/>
              </a:bodyPr>
              <a:lstStyle>
                <a:lvl1pPr defTabSz="1106488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1106488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1106488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1106488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1106488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11064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11064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11064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110648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1400"/>
                  <a:t>YES</a:t>
                </a:r>
              </a:p>
            </p:txBody>
          </p:sp>
          <p:sp>
            <p:nvSpPr>
              <p:cNvPr id="25618" name="Rectangle 24">
                <a:extLst>
                  <a:ext uri="{FF2B5EF4-FFF2-40B4-BE49-F238E27FC236}">
                    <a16:creationId xmlns:a16="http://schemas.microsoft.com/office/drawing/2014/main" id="{80B6B7DF-14BF-0219-4DD6-AF160250E1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1562"/>
                <a:ext cx="1737" cy="33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8" tIns="44450" rIns="90488" bIns="44450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1400"/>
                  <a:t>sum = 0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1400"/>
                  <a:t>current_number = 1</a:t>
                </a:r>
              </a:p>
            </p:txBody>
          </p:sp>
          <p:sp>
            <p:nvSpPr>
              <p:cNvPr id="25619" name="Line 25">
                <a:extLst>
                  <a:ext uri="{FF2B5EF4-FFF2-40B4-BE49-F238E27FC236}">
                    <a16:creationId xmlns:a16="http://schemas.microsoft.com/office/drawing/2014/main" id="{CE75F0BD-889E-7B11-C3A0-262D9DFA9B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00" y="2714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20" name="Rectangle 26">
                <a:extLst>
                  <a:ext uri="{FF2B5EF4-FFF2-40B4-BE49-F238E27FC236}">
                    <a16:creationId xmlns:a16="http://schemas.microsoft.com/office/drawing/2014/main" id="{DCAAB0E2-4B3F-02EC-5D33-54F83E39C2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2906"/>
                <a:ext cx="1920" cy="336"/>
              </a:xfrm>
              <a:prstGeom prst="rect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lIns="90488" tIns="44450" rIns="90488" bIns="44450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1400"/>
                  <a:t>sum = sum + current_number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1400"/>
                  <a:t>current_number = current_number + 1</a:t>
                </a:r>
              </a:p>
            </p:txBody>
          </p:sp>
          <p:sp>
            <p:nvSpPr>
              <p:cNvPr id="25621" name="Line 28">
                <a:extLst>
                  <a:ext uri="{FF2B5EF4-FFF2-40B4-BE49-F238E27FC236}">
                    <a16:creationId xmlns:a16="http://schemas.microsoft.com/office/drawing/2014/main" id="{5EB5964A-49D7-4EDD-DB08-D106C07043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00" y="2016"/>
                <a:ext cx="12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22" name="Line 29">
                <a:extLst>
                  <a:ext uri="{FF2B5EF4-FFF2-40B4-BE49-F238E27FC236}">
                    <a16:creationId xmlns:a16="http://schemas.microsoft.com/office/drawing/2014/main" id="{D4DF7D13-1410-EE01-ABD7-45605517D1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426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23" name="AutoShape 30">
                <a:extLst>
                  <a:ext uri="{FF2B5EF4-FFF2-40B4-BE49-F238E27FC236}">
                    <a16:creationId xmlns:a16="http://schemas.microsoft.com/office/drawing/2014/main" id="{B8AEB0C8-2674-61AB-280E-78DA7A58C0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2330"/>
                <a:ext cx="1296" cy="275"/>
              </a:xfrm>
              <a:prstGeom prst="parallelogram">
                <a:avLst>
                  <a:gd name="adj" fmla="val 117753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46050" tIns="74612" rIns="146050" bIns="74612" anchor="ctr"/>
              <a:lstStyle>
                <a:lvl1pPr defTabSz="2293938">
                  <a:spcBef>
                    <a:spcPct val="20000"/>
                  </a:spcBef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2293938"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2293938">
                  <a:spcBef>
                    <a:spcPct val="20000"/>
                  </a:spcBef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2293938">
                  <a:spcBef>
                    <a:spcPct val="20000"/>
                  </a:spcBef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2293938">
                  <a:spcBef>
                    <a:spcPct val="20000"/>
                  </a:spcBef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229393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229393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229393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2293938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GB" altLang="en-US" sz="1400"/>
                  <a:t>print sum</a:t>
                </a:r>
              </a:p>
            </p:txBody>
          </p:sp>
          <p:sp>
            <p:nvSpPr>
              <p:cNvPr id="25624" name="Line 31">
                <a:extLst>
                  <a:ext uri="{FF2B5EF4-FFF2-40B4-BE49-F238E27FC236}">
                    <a16:creationId xmlns:a16="http://schemas.microsoft.com/office/drawing/2014/main" id="{890FAE4E-48BF-238C-6FB6-31D9B0589D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2" y="2618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732D83F7-7746-7E12-94E5-5B5C23B4BE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Exercise 1 – for your practice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D91D6BB1-E2CD-192B-4BE9-B5D3D5D845D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981200"/>
            <a:ext cx="7848600" cy="3886200"/>
          </a:xfrm>
        </p:spPr>
        <p:txBody>
          <a:bodyPr/>
          <a:lstStyle/>
          <a:p>
            <a:pPr eaLnBrk="1" hangingPunct="1"/>
            <a:r>
              <a:rPr lang="en-US" altLang="en-US" dirty="0"/>
              <a:t>Write an algorithm and draw a flowchart that will calculate the roots of a quadratic equation 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 Hint: </a:t>
            </a:r>
            <a:r>
              <a:rPr lang="en-US" altLang="en-US" b="1" dirty="0"/>
              <a:t>d</a:t>
            </a:r>
            <a:r>
              <a:rPr lang="en-US" altLang="en-US" dirty="0"/>
              <a:t> = sqrt (               ), and the roots are:  </a:t>
            </a:r>
            <a:r>
              <a:rPr lang="en-US" altLang="en-US" b="1" i="1" dirty="0"/>
              <a:t>x</a:t>
            </a:r>
            <a:r>
              <a:rPr lang="en-US" altLang="en-US" b="1" dirty="0"/>
              <a:t>1</a:t>
            </a:r>
            <a:r>
              <a:rPr lang="en-US" altLang="en-US" dirty="0"/>
              <a:t> = (–</a:t>
            </a:r>
            <a:r>
              <a:rPr lang="en-US" altLang="en-US" i="1" dirty="0"/>
              <a:t>b</a:t>
            </a:r>
            <a:r>
              <a:rPr lang="en-US" altLang="en-US" dirty="0"/>
              <a:t> + </a:t>
            </a:r>
            <a:r>
              <a:rPr lang="en-US" altLang="en-US" i="1" dirty="0"/>
              <a:t>d</a:t>
            </a:r>
            <a:r>
              <a:rPr lang="en-US" altLang="en-US" dirty="0"/>
              <a:t>)/2</a:t>
            </a:r>
            <a:r>
              <a:rPr lang="en-US" altLang="en-US" i="1" dirty="0"/>
              <a:t>a</a:t>
            </a:r>
            <a:r>
              <a:rPr lang="en-US" altLang="en-US" dirty="0"/>
              <a:t>   and </a:t>
            </a:r>
            <a:r>
              <a:rPr lang="en-US" altLang="en-US" b="1" i="1" dirty="0"/>
              <a:t>x</a:t>
            </a:r>
            <a:r>
              <a:rPr lang="en-US" altLang="en-US" b="1" dirty="0"/>
              <a:t>2</a:t>
            </a:r>
            <a:r>
              <a:rPr lang="en-US" altLang="en-US" dirty="0"/>
              <a:t> = (–</a:t>
            </a:r>
            <a:r>
              <a:rPr lang="en-US" altLang="en-US" i="1" dirty="0"/>
              <a:t>b</a:t>
            </a:r>
            <a:r>
              <a:rPr lang="en-US" altLang="en-US" dirty="0"/>
              <a:t> – </a:t>
            </a:r>
            <a:r>
              <a:rPr lang="en-US" altLang="en-US" i="1" dirty="0"/>
              <a:t>d</a:t>
            </a:r>
            <a:r>
              <a:rPr lang="en-US" altLang="en-US" dirty="0"/>
              <a:t>)/2</a:t>
            </a:r>
            <a:r>
              <a:rPr lang="en-US" altLang="en-US" i="1" dirty="0"/>
              <a:t>a</a:t>
            </a:r>
          </a:p>
        </p:txBody>
      </p:sp>
      <p:graphicFrame>
        <p:nvGraphicFramePr>
          <p:cNvPr id="26628" name="Object 6">
            <a:extLst>
              <a:ext uri="{FF2B5EF4-FFF2-40B4-BE49-F238E27FC236}">
                <a16:creationId xmlns:a16="http://schemas.microsoft.com/office/drawing/2014/main" id="{D503777B-4FD5-0F0F-782C-06C86C7F5767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2438400" y="2895600"/>
          <a:ext cx="2209800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65200" imgH="203200" progId="Equation.DSMT4">
                  <p:embed/>
                </p:oleObj>
              </mc:Choice>
              <mc:Fallback>
                <p:oleObj name="Equation" r:id="rId2" imgW="965200" imgH="203200" progId="Equation.DSMT4">
                  <p:embed/>
                  <p:pic>
                    <p:nvPicPr>
                      <p:cNvPr id="26628" name="Object 6">
                        <a:extLst>
                          <a:ext uri="{FF2B5EF4-FFF2-40B4-BE49-F238E27FC236}">
                            <a16:creationId xmlns:a16="http://schemas.microsoft.com/office/drawing/2014/main" id="{D503777B-4FD5-0F0F-782C-06C86C7F57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895600"/>
                        <a:ext cx="2209800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9" name="Rectangle 9">
            <a:extLst>
              <a:ext uri="{FF2B5EF4-FFF2-40B4-BE49-F238E27FC236}">
                <a16:creationId xmlns:a16="http://schemas.microsoft.com/office/drawing/2014/main" id="{BE1EAFAE-F1A2-4EC7-47DD-444FFF76AC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43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graphicFrame>
        <p:nvGraphicFramePr>
          <p:cNvPr id="26630" name="Object 12">
            <a:extLst>
              <a:ext uri="{FF2B5EF4-FFF2-40B4-BE49-F238E27FC236}">
                <a16:creationId xmlns:a16="http://schemas.microsoft.com/office/drawing/2014/main" id="{7F89A6F6-9650-E4CB-EF5F-8163444DD9B0}"/>
              </a:ext>
            </a:extLst>
          </p:cNvPr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592300575"/>
              </p:ext>
            </p:extLst>
          </p:nvPr>
        </p:nvGraphicFramePr>
        <p:xfrm>
          <a:off x="4412109" y="3369041"/>
          <a:ext cx="1344613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45626" imgH="203024" progId="Equation.DSMT4">
                  <p:embed/>
                </p:oleObj>
              </mc:Choice>
              <mc:Fallback>
                <p:oleObj name="Equation" r:id="rId4" imgW="545626" imgH="203024" progId="Equation.DSMT4">
                  <p:embed/>
                  <p:pic>
                    <p:nvPicPr>
                      <p:cNvPr id="26630" name="Object 12">
                        <a:extLst>
                          <a:ext uri="{FF2B5EF4-FFF2-40B4-BE49-F238E27FC236}">
                            <a16:creationId xmlns:a16="http://schemas.microsoft.com/office/drawing/2014/main" id="{7F89A6F6-9650-E4CB-EF5F-8163444DD9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2109" y="3369041"/>
                        <a:ext cx="1344613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768839" y="285728"/>
            <a:ext cx="8756317" cy="785818"/>
          </a:xfrm>
          <a:noFill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algn="ctr"/>
            <a:r>
              <a:rPr lang="en-IN" sz="3200" dirty="0">
                <a:solidFill>
                  <a:schemeClr val="tx1"/>
                </a:solidFill>
              </a:rPr>
              <a:t>CHARACTERISTICS  OF ALGORITHM</a:t>
            </a:r>
          </a:p>
        </p:txBody>
      </p:sp>
      <p:sp>
        <p:nvSpPr>
          <p:cNvPr id="7" name="Rectangle 6"/>
          <p:cNvSpPr/>
          <p:nvPr/>
        </p:nvSpPr>
        <p:spPr>
          <a:xfrm>
            <a:off x="2238348" y="1142986"/>
            <a:ext cx="8215370" cy="2653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Donald Ervin Knuth has given a list of five </a:t>
            </a:r>
            <a:r>
              <a:rPr lang="en-IN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Xtics</a:t>
            </a:r>
            <a:r>
              <a:rPr lang="en-I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for an algorithm, these are:</a:t>
            </a:r>
          </a:p>
          <a:p>
            <a:pPr marL="514350" indent="-514350" algn="just">
              <a:lnSpc>
                <a:spcPct val="150000"/>
              </a:lnSpc>
              <a:buAutoNum type="arabicParenR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FINITENESS</a:t>
            </a:r>
          </a:p>
          <a:p>
            <a:pPr marL="514350" indent="-514350" algn="just">
              <a:lnSpc>
                <a:spcPct val="150000"/>
              </a:lnSpc>
              <a:buAutoNum type="arabicParenR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DEFINITENESS</a:t>
            </a:r>
          </a:p>
          <a:p>
            <a:pPr marL="514350" indent="-514350" algn="just">
              <a:lnSpc>
                <a:spcPct val="150000"/>
              </a:lnSpc>
              <a:buAutoNum type="arabicParenR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  <a:p>
            <a:pPr marL="514350" indent="-514350" algn="just">
              <a:lnSpc>
                <a:spcPct val="150000"/>
              </a:lnSpc>
              <a:buAutoNum type="arabicParenR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marL="514350" indent="-514350" algn="just">
              <a:lnSpc>
                <a:spcPct val="150000"/>
              </a:lnSpc>
              <a:buAutoNum type="arabicParenR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EFFECTIVENESS</a:t>
            </a:r>
            <a:endParaRPr lang="en-I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2D239-3B37-6CE6-5C24-8C52BC9D8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what makes a good algorithm?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87B8C-0D88-0B1D-5CD6-6F3A9BFEC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Algorithms are generally measured by 2 standards:</a:t>
            </a:r>
          </a:p>
          <a:p>
            <a:r>
              <a:rPr lang="en-US" dirty="0"/>
              <a:t>Correctness – an algorithm is always correct</a:t>
            </a:r>
          </a:p>
          <a:p>
            <a:pPr lvl="1"/>
            <a:r>
              <a:rPr lang="en-US" dirty="0"/>
              <a:t>use a formal proof of correctness</a:t>
            </a:r>
          </a:p>
          <a:p>
            <a:r>
              <a:rPr lang="en-US" dirty="0"/>
              <a:t>Efficiency – How much resources does it use (mostly we are concerned with time and space)</a:t>
            </a:r>
          </a:p>
          <a:p>
            <a:pPr lvl="1"/>
            <a:r>
              <a:rPr lang="en-US" dirty="0"/>
              <a:t>We use quantitative resource analysis (formal runtime analysis)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0654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1C10-C30B-4FD7-346C-B8A8248F1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design of an algorithm?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263C9-92F3-13B8-D9BB-922F87536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416" y="1651079"/>
            <a:ext cx="10515600" cy="4351338"/>
          </a:xfrm>
        </p:spPr>
        <p:txBody>
          <a:bodyPr/>
          <a:lstStyle/>
          <a:p>
            <a:r>
              <a:rPr lang="en-US" dirty="0"/>
              <a:t>In design one is defining a systematic solution to a problem</a:t>
            </a:r>
          </a:p>
          <a:p>
            <a:pPr lvl="1"/>
            <a:r>
              <a:rPr lang="en-US" dirty="0"/>
              <a:t>A step-by-step procedure that can be followed to solve a problem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What are the main concerns?       </a:t>
            </a:r>
          </a:p>
          <a:p>
            <a:pPr lvl="7"/>
            <a:r>
              <a:rPr lang="en-US" sz="2400" dirty="0"/>
              <a:t>What data structures should we use? </a:t>
            </a:r>
            <a:r>
              <a:rPr lang="en-US" sz="2000" dirty="0"/>
              <a:t>(More in module 8)</a:t>
            </a:r>
          </a:p>
          <a:p>
            <a:pPr lvl="7"/>
            <a:r>
              <a:rPr lang="en-US" sz="2400" dirty="0"/>
              <a:t>What strategy/ approach can help solve the problem?</a:t>
            </a:r>
            <a:r>
              <a:rPr lang="en-US" dirty="0"/>
              <a:t>	Brute force, greedy, divide and conquer or dynamic programming	</a:t>
            </a:r>
          </a:p>
          <a:p>
            <a:pPr marL="2286000" lvl="5" indent="0">
              <a:buNone/>
            </a:pPr>
            <a:r>
              <a:rPr lang="en-US" dirty="0"/>
              <a:t>		- we should have an idea of what they are, but more in modules 5-7</a:t>
            </a:r>
          </a:p>
          <a:p>
            <a:endParaRPr lang="en-US" dirty="0"/>
          </a:p>
        </p:txBody>
      </p:sp>
      <p:pic>
        <p:nvPicPr>
          <p:cNvPr id="2050" name="Picture 2" descr="Thinking Cartoon Stock Illustrations – 115,440 Thinking ...">
            <a:extLst>
              <a:ext uri="{FF2B5EF4-FFF2-40B4-BE49-F238E27FC236}">
                <a16:creationId xmlns:a16="http://schemas.microsoft.com/office/drawing/2014/main" id="{2E8ED067-1E8D-A2F4-4A1A-E71B5D57C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260" y="2564904"/>
            <a:ext cx="19431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17273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A9FB3-612B-A83E-5488-1EDC78AD2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data structure should we use?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B17FA-31C7-F9EC-15A5-1DC1455B6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None/>
            </a:pPr>
            <a:r>
              <a:rPr lang="en-US" b="1" i="0" dirty="0">
                <a:solidFill>
                  <a:srgbClr val="373A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Choosing the Right Data Structure: (more in Module 8)</a:t>
            </a:r>
          </a:p>
          <a:p>
            <a:pPr algn="l"/>
            <a:r>
              <a:rPr lang="en-US" b="0" i="0" dirty="0">
                <a:solidFill>
                  <a:srgbClr val="373A3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Queues, Stacks, Binary Search Trees, Red-Black Trees, and AVL Trees</a:t>
            </a:r>
          </a:p>
          <a:p>
            <a:endParaRPr lang="en-US" dirty="0"/>
          </a:p>
          <a:p>
            <a:pPr marL="0" indent="0" algn="l">
              <a:buNone/>
            </a:pPr>
            <a:r>
              <a:rPr lang="en-US" b="0" i="0" dirty="0">
                <a:solidFill>
                  <a:srgbClr val="212529"/>
                </a:solidFill>
                <a:effectLst/>
                <a:latin typeface="Poppins" panose="00000500000000000000" pitchFamily="2" charset="0"/>
              </a:rPr>
              <a:t>Discuss which structure is </a:t>
            </a:r>
            <a:r>
              <a:rPr lang="en-US" b="1" i="0" dirty="0">
                <a:solidFill>
                  <a:srgbClr val="212529"/>
                </a:solidFill>
                <a:effectLst/>
                <a:latin typeface="Poppins" panose="00000500000000000000" pitchFamily="2" charset="0"/>
              </a:rPr>
              <a:t>better suited</a:t>
            </a:r>
            <a:r>
              <a:rPr lang="en-US" b="0" i="0" dirty="0">
                <a:solidFill>
                  <a:srgbClr val="212529"/>
                </a:solidFill>
                <a:effectLst/>
                <a:latin typeface="Poppins" panose="00000500000000000000" pitchFamily="2" charset="0"/>
              </a:rPr>
              <a:t> for specific problems like: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12529"/>
                </a:solidFill>
                <a:effectLst/>
                <a:latin typeface="Poppins" panose="00000500000000000000" pitchFamily="2" charset="0"/>
              </a:rPr>
              <a:t>Searching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12529"/>
                </a:solidFill>
                <a:effectLst/>
                <a:latin typeface="Poppins" panose="00000500000000000000" pitchFamily="2" charset="0"/>
              </a:rPr>
              <a:t>Insertion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12529"/>
                </a:solidFill>
                <a:effectLst/>
                <a:latin typeface="Poppins" panose="00000500000000000000" pitchFamily="2" charset="0"/>
              </a:rPr>
              <a:t>Deletion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12529"/>
                </a:solidFill>
                <a:effectLst/>
                <a:latin typeface="Poppins" panose="00000500000000000000" pitchFamily="2" charset="0"/>
              </a:rPr>
              <a:t>Balancing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0576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EA462-2E59-3C5D-FE2F-AC64C159B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788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1D35"/>
                </a:solidFill>
                <a:latin typeface="Google Sans"/>
              </a:rPr>
              <a:t>Design Strategies - 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Brute Force Algorithms:</a:t>
            </a:r>
            <a:b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FDEFD-4054-402C-FAED-6C1255EC1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274320" indent="0" algn="just" fontAlgn="ctr">
              <a:lnSpc>
                <a:spcPct val="15000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Approach:</a:t>
            </a:r>
            <a:r>
              <a:rPr lang="en-US" sz="2400" b="0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Examines every possible solution to a problem. </a:t>
            </a:r>
            <a:endParaRPr lang="en-US" sz="2400" b="0" i="0" dirty="0">
              <a:solidFill>
                <a:srgbClr val="0B57D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indent="0" algn="just" fontAlgn="ctr">
              <a:lnSpc>
                <a:spcPct val="15000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</a:t>
            </a:r>
            <a:r>
              <a:rPr lang="en-US" sz="2400" b="0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Typically straightforward to implement, but computationally expensive. </a:t>
            </a:r>
            <a:endParaRPr lang="en-US" sz="2400" b="0" i="0" dirty="0">
              <a:solidFill>
                <a:srgbClr val="0B57D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indent="0" algn="just" fontAlgn="ctr">
              <a:lnSpc>
                <a:spcPct val="15000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</a:t>
            </a:r>
            <a:r>
              <a:rPr lang="en-US" sz="2400" b="0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Often proportional to the size of the search space, which can grow exponentially with the input. </a:t>
            </a:r>
            <a:endParaRPr lang="en-US" sz="2400" b="0" i="0" dirty="0">
              <a:solidFill>
                <a:srgbClr val="0B57D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indent="0" algn="just" fontAlgn="ctr">
              <a:lnSpc>
                <a:spcPct val="15000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Guaranteed Solution:</a:t>
            </a:r>
            <a:r>
              <a:rPr lang="en-US" sz="2400" b="0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If a solution exists, a brute force algorithm will eventually find it. </a:t>
            </a:r>
            <a:endParaRPr lang="en-US" sz="2400" b="0" i="0" dirty="0">
              <a:solidFill>
                <a:srgbClr val="0B57D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74320" indent="0" algn="just">
              <a:lnSpc>
                <a:spcPct val="150000"/>
              </a:lnSpc>
              <a:spcBef>
                <a:spcPts val="75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400" b="0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Finding the maximum element in an array by comparing all elements.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0878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1DDDF-421E-5320-770D-AEEE612D4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901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1D35"/>
                </a:solidFill>
                <a:latin typeface="Google Sans"/>
              </a:rPr>
              <a:t>Design Strategies - </a:t>
            </a:r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Greedy Algorithms:</a:t>
            </a:r>
            <a:b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1AB98-988C-31E0-DDF5-7EEED2211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4144"/>
            <a:ext cx="10515600" cy="4872819"/>
          </a:xfrm>
        </p:spPr>
        <p:txBody>
          <a:bodyPr>
            <a:normAutofit fontScale="40000" lnSpcReduction="20000"/>
          </a:bodyPr>
          <a:lstStyle/>
          <a:p>
            <a:pPr indent="0" algn="l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5100" b="1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Approach:</a:t>
            </a:r>
            <a:endParaRPr lang="en-US" sz="5100" b="0" i="0" dirty="0">
              <a:solidFill>
                <a:srgbClr val="001D3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l" font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5100" b="0" i="0" dirty="0">
                <a:solidFill>
                  <a:srgbClr val="545D7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Makes locally optimal choices at each step, hoping to find a globally optimal solution. </a:t>
            </a:r>
            <a:endParaRPr lang="en-US" sz="5100" b="0" i="0" dirty="0">
              <a:solidFill>
                <a:srgbClr val="0B57D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l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5100" b="1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</a:t>
            </a:r>
            <a:endParaRPr lang="en-US" sz="5100" b="0" i="0" dirty="0">
              <a:solidFill>
                <a:srgbClr val="001D3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l" font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5100" b="0" i="0" dirty="0">
                <a:solidFill>
                  <a:srgbClr val="545D7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 be faster than brute force algorithms, especially for certain problems. </a:t>
            </a:r>
            <a:endParaRPr lang="en-US" sz="5100" b="0" i="0" dirty="0">
              <a:solidFill>
                <a:srgbClr val="0B57D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l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5100" b="1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</a:t>
            </a:r>
            <a:endParaRPr lang="en-US" sz="5100" b="0" i="0" dirty="0">
              <a:solidFill>
                <a:srgbClr val="001D3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l" font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5100" b="0" i="0" dirty="0">
                <a:solidFill>
                  <a:srgbClr val="545D7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Varies depending on the problem, but often has a lower time complexity than brute force. </a:t>
            </a:r>
            <a:endParaRPr lang="en-US" sz="5100" b="0" i="0" dirty="0">
              <a:solidFill>
                <a:srgbClr val="0B57D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l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5100" b="1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Guaranteed Solution:</a:t>
            </a:r>
            <a:endParaRPr lang="en-US" sz="5100" b="0" i="0" dirty="0">
              <a:solidFill>
                <a:srgbClr val="001D3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l" fontAlgn="ctr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5100" b="0" i="0" dirty="0">
                <a:solidFill>
                  <a:srgbClr val="545D7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always guaranteed to find the optimal solution for all problems. </a:t>
            </a:r>
            <a:endParaRPr lang="en-US" sz="5100" b="0" i="0" dirty="0">
              <a:solidFill>
                <a:srgbClr val="0B57D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l">
              <a:lnSpc>
                <a:spcPct val="120000"/>
              </a:lnSpc>
              <a:spcBef>
                <a:spcPts val="60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5100" b="1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sz="5100" b="0" i="0" dirty="0">
              <a:solidFill>
                <a:srgbClr val="001D3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l">
              <a:lnSpc>
                <a:spcPct val="120000"/>
              </a:lnSpc>
              <a:spcBef>
                <a:spcPts val="60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5100" b="0" i="0" dirty="0">
                <a:solidFill>
                  <a:srgbClr val="545D7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Making change with the fewest coins by always choosing the largest denomination possible.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3188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E8B4A-44AF-19D8-1A24-4D94984C6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33891"/>
          </a:xfrm>
        </p:spPr>
        <p:txBody>
          <a:bodyPr/>
          <a:lstStyle/>
          <a:p>
            <a:r>
              <a:rPr lang="en-US" dirty="0">
                <a:solidFill>
                  <a:srgbClr val="001D35"/>
                </a:solidFill>
                <a:latin typeface="Google Sans"/>
              </a:rPr>
              <a:t>Design Strategies - </a:t>
            </a:r>
            <a:r>
              <a:rPr lang="en-US" dirty="0"/>
              <a:t>Divide and Conquer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F259DEF-00F5-79BC-74C0-5CD995F23C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58978"/>
            <a:ext cx="10224541" cy="3871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88872" rIns="0" bIns="179331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Steps: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 Divide: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algorithm first divides the original problem into smaller,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non-overlapping subproblems.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 Conquer: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subproblem is then solved recursively, or if small enough, solved directly.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 Combine: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Finally, the solutions to the subproblems are combined to produce the solution to the original problem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effectLst/>
                <a:latin typeface="Google Sans"/>
              </a:rPr>
              <a:t>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2090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C527C-2E7D-FEA2-A6E9-A3A9EDFAC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Divide and conquer  - example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9C6F81F-FA29-6AD7-90C5-AB84D90001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59912"/>
            <a:ext cx="9520003" cy="3779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88872" rIns="0" bIns="179331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Consider sorting a list of numbers. A divide and conquer approach, like merge sort, would: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Divide: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Split the list into two smaller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sublists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Conquer: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Recursively sort each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sublist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Merge the two sorted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sublists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into a single sorted list.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lang="en-US" altLang="en-US" dirty="0">
              <a:solidFill>
                <a:srgbClr val="001D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1D3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460702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3FFBB-6401-0490-00FE-9303684AF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1D35"/>
                </a:solidFill>
                <a:latin typeface="Google Sans"/>
              </a:rPr>
              <a:t>Design Strategies - </a:t>
            </a:r>
            <a:r>
              <a:rPr lang="en-US" dirty="0"/>
              <a:t>Dynamic Programming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1174CE8-F094-B828-6E24-349A67CF5B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26836"/>
            <a:ext cx="10794167" cy="45489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88872" rIns="0" bIns="179331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Dynamic Programming Works: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 Define Subproblems: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the smaller,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overlapping subproblems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that make up the larger problem.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 Build a Table or Cache: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a data structure (like a table, dictionary, or array) to store the solutions to these subproblems.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 Solve Subproblems: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 the solutions to the subproblems, typically starting with the smallest and working towards the larger ones.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 Retrieve Solutions: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a larger subproblem (or the overall problem) needs a solution, look up the solution in the table or cache instead of recalculating it.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 Combine Solutions: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Combine the solutions to the subproblems to find the optimal solution to the original problem.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2075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E5D8A-1364-B125-503C-46E40F5FE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  <a:t>Examples of Problems Solved with Dynamic Programming: (covered in Module 5 &amp; 6)</a:t>
            </a:r>
            <a:b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Google Sans"/>
              </a:rPr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FB38EEB-CCAE-417E-371D-4105C2A25D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2065390"/>
            <a:ext cx="11064498" cy="38718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88872" rIns="0" bIns="179331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Fibonacci Sequence: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Calculating the nth Fibonacci number efficiently.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Knapsack Problem: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Determining the most valuable subset of items that can be placed in a knapsack with a limited weight capacity.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Shortest Path Problems: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Finding the shortest path between two points in a graph (e.g., Bellman-Ford algorithm).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Longest Increasing Subsequence: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Finding the longest increasing subsequence within a given sequence.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Edit Distance: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Calculating the minimum number of edits (insertions, deletions, substitutions) required to transform one string into another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31238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84DE7-F4CA-BCFC-2334-6A56EEBAF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Analysis of algorithm?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6DBEF-9378-405A-1240-E5A6AFEE9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Evaluating the performance and efficiency of an algorithm</a:t>
            </a:r>
          </a:p>
          <a:p>
            <a:r>
              <a:rPr lang="en-US" dirty="0"/>
              <a:t>How does the algorithm scale with input size in terms of time and space?</a:t>
            </a:r>
          </a:p>
          <a:p>
            <a:r>
              <a:rPr lang="en-US" dirty="0"/>
              <a:t>So for analysis the focus is on</a:t>
            </a:r>
            <a:r>
              <a:rPr lang="en-US" b="1" dirty="0"/>
              <a:t> complexity</a:t>
            </a:r>
            <a:r>
              <a:rPr lang="en-US" dirty="0"/>
              <a:t>!</a:t>
            </a:r>
          </a:p>
          <a:p>
            <a:r>
              <a:rPr lang="en-US" b="1" dirty="0"/>
              <a:t>Time complexity </a:t>
            </a:r>
            <a:r>
              <a:rPr lang="en-US" dirty="0"/>
              <a:t>– How  running time of an algorithm changes with the size of the input</a:t>
            </a:r>
          </a:p>
          <a:p>
            <a:r>
              <a:rPr lang="en-US" b="1" dirty="0"/>
              <a:t>Space complexity </a:t>
            </a:r>
            <a:r>
              <a:rPr lang="en-US" dirty="0"/>
              <a:t>– How the amount of memory an algorithm uses changes with the size of the input</a:t>
            </a:r>
          </a:p>
        </p:txBody>
      </p:sp>
    </p:spTree>
    <p:extLst>
      <p:ext uri="{BB962C8B-B14F-4D97-AF65-F5344CB8AC3E}">
        <p14:creationId xmlns:p14="http://schemas.microsoft.com/office/powerpoint/2010/main" val="27967017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62175-1327-C466-4619-10E5A9B24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complexities – Big O notation used</a:t>
            </a:r>
          </a:p>
        </p:txBody>
      </p:sp>
      <p:pic>
        <p:nvPicPr>
          <p:cNvPr id="28674" name="Picture 2" descr="Big O Notation: What Is It?. Note that when evaluating the… | by Mohit  Varikuti | Towards AI">
            <a:extLst>
              <a:ext uri="{FF2B5EF4-FFF2-40B4-BE49-F238E27FC236}">
                <a16:creationId xmlns:a16="http://schemas.microsoft.com/office/drawing/2014/main" id="{12DDDDD2-089F-84E3-DAC9-BB7C789C68D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5644" y="1573967"/>
            <a:ext cx="8347746" cy="5239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97097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DF709-4E42-02F4-B4BD-3C897BC26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determine the complexity of an algorithm?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6B581-CD45-3F58-5FD0-EB9C9EFF7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Priori</a:t>
            </a:r>
            <a:r>
              <a:rPr lang="en-US" dirty="0"/>
              <a:t> Vs Posteriori?</a:t>
            </a:r>
          </a:p>
          <a:p>
            <a:r>
              <a:rPr lang="en-US" dirty="0"/>
              <a:t>We use </a:t>
            </a:r>
            <a:r>
              <a:rPr lang="en-US" dirty="0" err="1"/>
              <a:t>cpu</a:t>
            </a:r>
            <a:r>
              <a:rPr lang="en-US" dirty="0"/>
              <a:t> computations and main memory space required</a:t>
            </a:r>
          </a:p>
          <a:p>
            <a:r>
              <a:rPr lang="en-US" dirty="0"/>
              <a:t>CPU computations are instructions executed by the </a:t>
            </a:r>
            <a:r>
              <a:rPr lang="en-US" dirty="0" err="1"/>
              <a:t>cpu</a:t>
            </a:r>
            <a:r>
              <a:rPr lang="en-US" dirty="0"/>
              <a:t> (runtime functions)</a:t>
            </a:r>
          </a:p>
          <a:p>
            <a:r>
              <a:rPr lang="en-US" dirty="0"/>
              <a:t>Runtime functions are non-negative and non-decreasing</a:t>
            </a:r>
          </a:p>
        </p:txBody>
      </p:sp>
    </p:spTree>
    <p:extLst>
      <p:ext uri="{BB962C8B-B14F-4D97-AF65-F5344CB8AC3E}">
        <p14:creationId xmlns:p14="http://schemas.microsoft.com/office/powerpoint/2010/main" val="7565783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E76CE-FE50-32A4-43C6-0644EC685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the runtime function is given?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162A4E-5B78-DE1D-0D32-6071478F2A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Assume you are given the runtime function as;</a:t>
                </a:r>
              </a:p>
              <a:p>
                <a:pPr marL="914400" lvl="2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What is its time complexity?</a:t>
                </a:r>
              </a:p>
              <a:p>
                <a:pPr lvl="2"/>
                <a:r>
                  <a:rPr lang="en-US" dirty="0"/>
                  <a:t>Drop lower order terms</a:t>
                </a:r>
              </a:p>
              <a:p>
                <a:pPr lvl="2"/>
                <a:r>
                  <a:rPr lang="en-US" dirty="0"/>
                  <a:t>Drop the constant multiplier</a:t>
                </a:r>
              </a:p>
              <a:p>
                <a:pPr lvl="1">
                  <a:buFont typeface="Wingdings" panose="05000000000000000000" pitchFamily="2" charset="2"/>
                  <a:buChar char="ü"/>
                </a:pPr>
                <a:r>
                  <a:rPr lang="en-US" dirty="0"/>
                  <a:t>Thus </a:t>
                </a:r>
                <a:r>
                  <a:rPr lang="en-US" i="1" dirty="0"/>
                  <a:t>O(n^2)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162A4E-5B78-DE1D-0D32-6071478F2A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3341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60932-2D28-6564-3FC0-82ADDCC1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2C78DC-9FDD-D8C0-EF80-3C21AD3317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What are the complexities of the following functions:</a:t>
                </a:r>
              </a:p>
              <a:p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6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+2?</m:t>
                    </m:r>
                  </m:oMath>
                </a14:m>
                <a:r>
                  <a:rPr lang="en-US" b="0" dirty="0"/>
                  <a:t> </a:t>
                </a:r>
                <a:r>
                  <a:rPr lang="en-US" dirty="0"/>
                  <a:t>~ 6n^3  ~O(n^3)</a:t>
                </a:r>
                <a:endParaRPr lang="en-US" b="0" i="1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(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2 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−5)</m:t>
                        </m:r>
                      </m:e>
                    </m:func>
                  </m:oMath>
                </a14:m>
                <a:r>
                  <a:rPr lang="en-US" b="0" dirty="0"/>
                  <a:t>  ~ log 3n^2 = 2log 3n~ O(log n) </a:t>
                </a:r>
                <a:endParaRPr lang="en-US" b="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−4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+3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dirty="0"/>
                  <a:t> ~(2n^2)^6 ~ X n^12 ~ O(n^12)</a:t>
                </a:r>
                <a:endParaRPr lang="en-US" i="1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i="1" dirty="0"/>
                  <a:t> = n/2 +1/2 ~ O (n)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= (n^2 +n)/2 ~ O(n^2)</a:t>
                </a:r>
                <a:endParaRPr lang="en-US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2C78DC-9FDD-D8C0-EF80-3C21AD3317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42486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71C67-47CB-DFC7-D3EE-6F1DFF514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the function is not given?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408D6-3DB0-717B-72E7-42B406C57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12841"/>
          </a:xfrm>
        </p:spPr>
        <p:txBody>
          <a:bodyPr/>
          <a:lstStyle/>
          <a:p>
            <a:r>
              <a:rPr lang="en-US" dirty="0"/>
              <a:t>Estimation is done using total </a:t>
            </a:r>
            <a:r>
              <a:rPr lang="en-US" dirty="0" err="1"/>
              <a:t>cpu</a:t>
            </a:r>
            <a:r>
              <a:rPr lang="en-US" dirty="0"/>
              <a:t> computations!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5E70B0-110F-37FC-B1A3-7B9FA0D02001}"/>
              </a:ext>
            </a:extLst>
          </p:cNvPr>
          <p:cNvSpPr txBox="1"/>
          <p:nvPr/>
        </p:nvSpPr>
        <p:spPr>
          <a:xfrm>
            <a:off x="838200" y="2668249"/>
            <a:ext cx="550264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0" indent="0">
              <a:buNone/>
            </a:pPr>
            <a:r>
              <a:rPr lang="en-US" b="0" i="0" dirty="0">
                <a:solidFill>
                  <a:srgbClr val="242424"/>
                </a:solidFill>
                <a:effectLst/>
                <a:latin typeface="source-code-pro"/>
              </a:rPr>
              <a:t>function 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code-pro"/>
              </a:rPr>
              <a:t>isPrime</a:t>
            </a:r>
            <a:r>
              <a:rPr lang="en-US" b="0" i="0" dirty="0">
                <a:solidFill>
                  <a:srgbClr val="242424"/>
                </a:solidFill>
                <a:effectLst/>
                <a:latin typeface="source-code-pro"/>
              </a:rPr>
              <a:t>(n)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242424"/>
                </a:solidFill>
                <a:effectLst/>
                <a:latin typeface="source-code-pro"/>
              </a:rPr>
              <a:t> {</a:t>
            </a:r>
            <a:br>
              <a:rPr lang="en-US" dirty="0"/>
            </a:br>
            <a:r>
              <a:rPr lang="en-US" dirty="0"/>
              <a:t>     </a:t>
            </a:r>
            <a:r>
              <a:rPr lang="en-US" b="0" i="0" dirty="0">
                <a:solidFill>
                  <a:srgbClr val="242424"/>
                </a:solidFill>
                <a:effectLst/>
                <a:latin typeface="source-code-pro"/>
              </a:rPr>
              <a:t>for (let 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code-pro"/>
              </a:rPr>
              <a:t>i</a:t>
            </a:r>
            <a:r>
              <a:rPr lang="en-US" b="0" i="0" dirty="0">
                <a:solidFill>
                  <a:srgbClr val="242424"/>
                </a:solidFill>
                <a:effectLst/>
                <a:latin typeface="source-code-pro"/>
              </a:rPr>
              <a:t> = 2; 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code-pro"/>
              </a:rPr>
              <a:t>i</a:t>
            </a:r>
            <a:r>
              <a:rPr lang="en-US" b="0" i="0" dirty="0">
                <a:solidFill>
                  <a:srgbClr val="242424"/>
                </a:solidFill>
                <a:effectLst/>
                <a:latin typeface="source-code-pro"/>
              </a:rPr>
              <a:t> &lt; n; ++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code-pro"/>
              </a:rPr>
              <a:t>i</a:t>
            </a:r>
            <a:r>
              <a:rPr lang="en-US" b="0" i="0" dirty="0">
                <a:solidFill>
                  <a:srgbClr val="242424"/>
                </a:solidFill>
                <a:effectLst/>
                <a:latin typeface="source-code-pro"/>
              </a:rPr>
              <a:t>)  //</a:t>
            </a:r>
            <a:r>
              <a:rPr lang="en-US" b="0" i="1" dirty="0">
                <a:solidFill>
                  <a:srgbClr val="242424"/>
                </a:solidFill>
                <a:effectLst/>
                <a:latin typeface="source-code-pro"/>
              </a:rPr>
              <a:t>1+n-2+n-2+n-2 ~ 3n-5 = O(n)</a:t>
            </a:r>
          </a:p>
          <a:p>
            <a:pPr marL="0" indent="0">
              <a:buNone/>
            </a:pPr>
            <a:endParaRPr lang="en-US" b="0" i="0" dirty="0">
              <a:solidFill>
                <a:srgbClr val="242424"/>
              </a:solidFill>
              <a:effectLst/>
              <a:latin typeface="source-code-pro"/>
            </a:endParaRPr>
          </a:p>
          <a:p>
            <a:pPr marL="0" indent="0">
              <a:buNone/>
            </a:pPr>
            <a:r>
              <a:rPr lang="en-US" b="0" i="0" dirty="0">
                <a:solidFill>
                  <a:srgbClr val="242424"/>
                </a:solidFill>
                <a:effectLst/>
                <a:latin typeface="source-code-pro"/>
              </a:rPr>
              <a:t>     {</a:t>
            </a:r>
            <a:br>
              <a:rPr lang="en-US" dirty="0"/>
            </a:br>
            <a:r>
              <a:rPr lang="en-US" dirty="0"/>
              <a:t>     </a:t>
            </a:r>
            <a:r>
              <a:rPr lang="en-US" b="0" i="0" dirty="0">
                <a:solidFill>
                  <a:srgbClr val="242424"/>
                </a:solidFill>
                <a:effectLst/>
                <a:latin typeface="source-code-pro"/>
              </a:rPr>
              <a:t>if (n % 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code-pro"/>
              </a:rPr>
              <a:t>i</a:t>
            </a:r>
            <a:r>
              <a:rPr lang="en-US" b="0" i="0" dirty="0">
                <a:solidFill>
                  <a:srgbClr val="242424"/>
                </a:solidFill>
                <a:effectLst/>
                <a:latin typeface="source-code-pro"/>
              </a:rPr>
              <a:t> === 0) {</a:t>
            </a:r>
            <a:br>
              <a:rPr lang="en-US" dirty="0"/>
            </a:br>
            <a:r>
              <a:rPr lang="en-US" dirty="0"/>
              <a:t>           </a:t>
            </a:r>
            <a:r>
              <a:rPr lang="en-US" b="0" i="0" dirty="0">
                <a:solidFill>
                  <a:srgbClr val="242424"/>
                </a:solidFill>
                <a:effectLst/>
                <a:latin typeface="source-code-pro"/>
              </a:rPr>
              <a:t>return false;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b="0" i="0" dirty="0">
                <a:solidFill>
                  <a:srgbClr val="242424"/>
                </a:solidFill>
                <a:effectLst/>
                <a:latin typeface="source-code-pro"/>
              </a:rPr>
              <a:t>}</a:t>
            </a:r>
            <a:br>
              <a:rPr lang="en-US" dirty="0"/>
            </a:br>
            <a:r>
              <a:rPr lang="en-US" dirty="0"/>
              <a:t>      </a:t>
            </a:r>
            <a:r>
              <a:rPr lang="en-US" b="0" i="0" dirty="0">
                <a:solidFill>
                  <a:srgbClr val="242424"/>
                </a:solidFill>
                <a:effectLst/>
                <a:latin typeface="source-code-pro"/>
              </a:rPr>
              <a:t>}</a:t>
            </a:r>
            <a:br>
              <a:rPr lang="en-US" dirty="0"/>
            </a:br>
            <a:r>
              <a:rPr lang="en-US" b="0" i="0" dirty="0">
                <a:solidFill>
                  <a:srgbClr val="242424"/>
                </a:solidFill>
                <a:effectLst/>
                <a:latin typeface="source-code-pro"/>
              </a:rPr>
              <a:t>return true;</a:t>
            </a:r>
            <a:br>
              <a:rPr lang="en-US" dirty="0"/>
            </a:br>
            <a:r>
              <a:rPr lang="en-US" b="0" i="0" dirty="0">
                <a:solidFill>
                  <a:srgbClr val="242424"/>
                </a:solidFill>
                <a:effectLst/>
                <a:latin typeface="source-code-pro"/>
              </a:rPr>
              <a:t>}</a:t>
            </a:r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10577C-1E20-5117-9FA1-E1CD7317CE34}"/>
              </a:ext>
            </a:extLst>
          </p:cNvPr>
          <p:cNvSpPr txBox="1"/>
          <p:nvPr/>
        </p:nvSpPr>
        <p:spPr>
          <a:xfrm>
            <a:off x="6340839" y="2668249"/>
            <a:ext cx="501296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function </a:t>
            </a:r>
            <a:r>
              <a:rPr lang="en-US" dirty="0" err="1">
                <a:solidFill>
                  <a:srgbClr val="FF0000"/>
                </a:solidFill>
              </a:rPr>
              <a:t>isPrime</a:t>
            </a:r>
            <a:r>
              <a:rPr lang="en-US" dirty="0">
                <a:solidFill>
                  <a:srgbClr val="FF0000"/>
                </a:solidFill>
              </a:rPr>
              <a:t>(n)</a:t>
            </a:r>
          </a:p>
          <a:p>
            <a:r>
              <a:rPr lang="en-US" dirty="0">
                <a:solidFill>
                  <a:srgbClr val="FF0000"/>
                </a:solidFill>
              </a:rPr>
              <a:t> {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         for (let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= 2;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&lt;= </a:t>
            </a:r>
            <a:r>
              <a:rPr lang="en-US" dirty="0" err="1">
                <a:solidFill>
                  <a:srgbClr val="FF0000"/>
                </a:solidFill>
              </a:rPr>
              <a:t>Math.sqrt</a:t>
            </a:r>
            <a:r>
              <a:rPr lang="en-US" dirty="0">
                <a:solidFill>
                  <a:srgbClr val="FF0000"/>
                </a:solidFill>
              </a:rPr>
              <a:t>(n); ++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) </a:t>
            </a:r>
          </a:p>
          <a:p>
            <a:r>
              <a:rPr lang="en-US" dirty="0">
                <a:solidFill>
                  <a:srgbClr val="FF0000"/>
                </a:solidFill>
              </a:rPr>
              <a:t>         {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                if (n %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 === 0) {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                      return false;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                }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           }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   return true;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b="0" i="0" dirty="0">
                <a:solidFill>
                  <a:srgbClr val="242424"/>
                </a:solidFill>
                <a:effectLst/>
                <a:latin typeface="source-code-pro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70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CF8B7-D5EC-5321-E338-00861F726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the function is not given?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297DE-C95B-8091-1151-8E5C6ABC0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404016" cy="4351338"/>
          </a:xfrm>
        </p:spPr>
        <p:txBody>
          <a:bodyPr/>
          <a:lstStyle/>
          <a:p>
            <a:endParaRPr lang="nn-NO" b="0" i="0" dirty="0">
              <a:solidFill>
                <a:srgbClr val="242424"/>
              </a:solidFill>
              <a:effectLst/>
              <a:latin typeface="source-code-pro"/>
            </a:endParaRPr>
          </a:p>
          <a:p>
            <a:pPr marL="0" indent="0">
              <a:buNone/>
            </a:pPr>
            <a:r>
              <a:rPr lang="nn-NO" b="0" i="0" dirty="0">
                <a:solidFill>
                  <a:srgbClr val="242424"/>
                </a:solidFill>
                <a:effectLst/>
                <a:latin typeface="source-code-pro"/>
              </a:rPr>
              <a:t>for (let i = 0; i &lt; n; ++i) </a:t>
            </a:r>
          </a:p>
          <a:p>
            <a:pPr marL="0" indent="0">
              <a:buNone/>
            </a:pPr>
            <a:r>
              <a:rPr lang="nn-NO" b="0" i="0" dirty="0">
                <a:solidFill>
                  <a:srgbClr val="242424"/>
                </a:solidFill>
                <a:effectLst/>
                <a:latin typeface="source-code-pro"/>
              </a:rPr>
              <a:t>{</a:t>
            </a:r>
            <a:br>
              <a:rPr lang="nn-NO" dirty="0"/>
            </a:br>
            <a:r>
              <a:rPr lang="nn-NO" dirty="0"/>
              <a:t>       statement</a:t>
            </a:r>
            <a:r>
              <a:rPr lang="nn-NO" b="0" i="0" dirty="0">
                <a:solidFill>
                  <a:srgbClr val="242424"/>
                </a:solidFill>
                <a:effectLst/>
                <a:latin typeface="source-code-pro"/>
              </a:rPr>
              <a:t>;</a:t>
            </a:r>
            <a:br>
              <a:rPr lang="nn-NO" dirty="0"/>
            </a:br>
            <a:r>
              <a:rPr lang="nn-NO" b="0" i="0" dirty="0">
                <a:solidFill>
                  <a:srgbClr val="242424"/>
                </a:solidFill>
                <a:effectLst/>
                <a:latin typeface="source-code-pro"/>
              </a:rPr>
              <a:t>}</a:t>
            </a:r>
          </a:p>
          <a:p>
            <a:pPr marL="0" indent="0">
              <a:buNone/>
            </a:pPr>
            <a:endParaRPr lang="nn-NO" dirty="0">
              <a:solidFill>
                <a:srgbClr val="242424"/>
              </a:solidFill>
              <a:latin typeface="source-code-pro"/>
            </a:endParaRPr>
          </a:p>
          <a:p>
            <a:pPr marL="0" indent="0">
              <a:buNone/>
            </a:pPr>
            <a:r>
              <a:rPr lang="nn-NO" i="1" dirty="0">
                <a:solidFill>
                  <a:srgbClr val="242424"/>
                </a:solidFill>
                <a:latin typeface="source-code-pro"/>
              </a:rPr>
              <a:t>1+n+1+n +n = 3n+2 = O(n)</a:t>
            </a:r>
            <a:endParaRPr lang="en-US" i="1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27E9124-3651-955F-466B-223F5505E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1449" y="1558058"/>
            <a:ext cx="7150309" cy="410007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42830" rIns="0" bIns="14283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find_max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max_value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[0]   //1time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for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range(1,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)): // //n+1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if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&gt;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max_value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//n times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max_value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 //less than 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max_value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1+n+1+n +n + 1= 3n+3 = O(n)</a:t>
            </a:r>
          </a:p>
        </p:txBody>
      </p:sp>
    </p:spTree>
    <p:extLst>
      <p:ext uri="{BB962C8B-B14F-4D97-AF65-F5344CB8AC3E}">
        <p14:creationId xmlns:p14="http://schemas.microsoft.com/office/powerpoint/2010/main" val="31337423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4E830-7844-22E2-6376-6FFEF23E2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if the function is not given?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95455C-FB54-1872-8798-303B804DB8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57859" y="1367523"/>
            <a:ext cx="6257144" cy="344264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42830" rIns="0" bIns="14283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print_all_pairs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range(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)): //n times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j in range(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)): //n t</a:t>
            </a: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		print(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],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[j])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O(n^2)</a:t>
            </a:r>
            <a:endParaRPr kumimoji="0" lang="en-US" altLang="en-US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81184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8B791-6EE8-F19C-45CE-3CF541FAD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Exercises…what is the complexity?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C34A8-E9EA-3991-A0DD-1707F90F4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While ( </a:t>
            </a:r>
            <a:r>
              <a:rPr lang="en-US" dirty="0" err="1"/>
              <a:t>i</a:t>
            </a:r>
            <a:r>
              <a:rPr lang="en-US" dirty="0"/>
              <a:t> &lt; n)         for 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&lt;</a:t>
            </a:r>
            <a:r>
              <a:rPr lang="en-US" dirty="0" err="1"/>
              <a:t>n;i</a:t>
            </a:r>
            <a:r>
              <a:rPr lang="en-US" dirty="0"/>
              <a:t>++)</a:t>
            </a:r>
          </a:p>
          <a:p>
            <a:pPr marL="457200" lvl="1" indent="0">
              <a:buNone/>
            </a:pPr>
            <a:r>
              <a:rPr lang="en-US" dirty="0"/>
              <a:t>{ statements;             { statements;</a:t>
            </a:r>
          </a:p>
          <a:p>
            <a:pPr marL="457200" lvl="1" indent="0">
              <a:buNone/>
            </a:pPr>
            <a:r>
              <a:rPr lang="en-US" dirty="0"/>
              <a:t>  </a:t>
            </a:r>
            <a:r>
              <a:rPr lang="en-US" dirty="0" err="1"/>
              <a:t>i</a:t>
            </a:r>
            <a:r>
              <a:rPr lang="en-US" dirty="0"/>
              <a:t>++                              }</a:t>
            </a:r>
          </a:p>
          <a:p>
            <a:pPr marL="457200" lvl="1" indent="0">
              <a:buNone/>
            </a:pPr>
            <a:r>
              <a:rPr lang="en-US" dirty="0"/>
              <a:t>}</a:t>
            </a:r>
          </a:p>
          <a:p>
            <a:r>
              <a:rPr lang="en-US" dirty="0">
                <a:solidFill>
                  <a:srgbClr val="FF0000"/>
                </a:solidFill>
              </a:rPr>
              <a:t>For (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=1;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&lt;n; 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=</a:t>
            </a:r>
            <a:r>
              <a:rPr lang="en-US" dirty="0" err="1">
                <a:solidFill>
                  <a:srgbClr val="FF0000"/>
                </a:solidFill>
              </a:rPr>
              <a:t>i</a:t>
            </a:r>
            <a:r>
              <a:rPr lang="en-US" dirty="0">
                <a:solidFill>
                  <a:srgbClr val="FF0000"/>
                </a:solidFill>
              </a:rPr>
              <a:t>*2)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{ 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  statements;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5494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EF225-2024-68B0-F072-A23876B07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complexity for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CF951-3858-589C-6E71-92ECF6D29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Insertion sort algorithm?</a:t>
            </a:r>
          </a:p>
          <a:p>
            <a:r>
              <a:rPr lang="en-US" dirty="0"/>
              <a:t>Bubble sort algorithm?</a:t>
            </a:r>
          </a:p>
          <a:p>
            <a:pPr marL="0" indent="0">
              <a:buNone/>
            </a:pPr>
            <a:r>
              <a:rPr lang="en-US" dirty="0"/>
              <a:t>An algorithm </a:t>
            </a:r>
            <a:r>
              <a:rPr lang="en-US" b="1" dirty="0"/>
              <a:t>that has a recursive </a:t>
            </a:r>
            <a:r>
              <a:rPr lang="en-US" b="1" dirty="0" err="1"/>
              <a:t>fn</a:t>
            </a:r>
            <a:r>
              <a:rPr lang="en-US" dirty="0"/>
              <a:t>?</a:t>
            </a:r>
          </a:p>
          <a:p>
            <a:r>
              <a:rPr lang="en-US" dirty="0"/>
              <a:t>Quicksort algorithm?</a:t>
            </a:r>
          </a:p>
          <a:p>
            <a:r>
              <a:rPr lang="en-US" dirty="0"/>
              <a:t>Binary search algorithm?.....guess</a:t>
            </a:r>
          </a:p>
          <a:p>
            <a:r>
              <a:rPr lang="en-US" dirty="0"/>
              <a:t>Merge sort algorithm?.....guess</a:t>
            </a:r>
          </a:p>
        </p:txBody>
      </p:sp>
    </p:spTree>
    <p:extLst>
      <p:ext uri="{BB962C8B-B14F-4D97-AF65-F5344CB8AC3E}">
        <p14:creationId xmlns:p14="http://schemas.microsoft.com/office/powerpoint/2010/main" val="28670325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13D9A-5AE1-9C7B-7950-FA08FC69D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BF594-4F53-933E-A328-E8D6D0957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See slides on Insertion sort for;</a:t>
            </a:r>
          </a:p>
          <a:p>
            <a:r>
              <a:rPr lang="en-US" dirty="0"/>
              <a:t>How does it work?</a:t>
            </a:r>
          </a:p>
          <a:p>
            <a:r>
              <a:rPr lang="en-US" dirty="0"/>
              <a:t>Illustrative example</a:t>
            </a:r>
          </a:p>
          <a:p>
            <a:r>
              <a:rPr lang="en-US" dirty="0"/>
              <a:t>Time / space Complexity?</a:t>
            </a:r>
          </a:p>
        </p:txBody>
      </p:sp>
    </p:spTree>
    <p:extLst>
      <p:ext uri="{BB962C8B-B14F-4D97-AF65-F5344CB8AC3E}">
        <p14:creationId xmlns:p14="http://schemas.microsoft.com/office/powerpoint/2010/main" val="22245845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5F57A-003D-A3EA-3C5D-0F0AA320A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Bubble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C7484-D16C-CBC4-9685-0C86D8F7D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See slides on bubble sort for;</a:t>
            </a:r>
          </a:p>
          <a:p>
            <a:r>
              <a:rPr lang="en-US" dirty="0"/>
              <a:t>How does it work?</a:t>
            </a:r>
          </a:p>
          <a:p>
            <a:r>
              <a:rPr lang="en-US" dirty="0"/>
              <a:t>Illustrative example</a:t>
            </a:r>
          </a:p>
          <a:p>
            <a:r>
              <a:rPr lang="en-US" dirty="0"/>
              <a:t>Time / space Complexity?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7567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18698-46D5-32F9-47D3-4D8DF1985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3C92F-10E8-2AC2-2D70-024DFE0B8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See slides </a:t>
            </a:r>
            <a:r>
              <a:rPr lang="en-US"/>
              <a:t>on Quick sort for;</a:t>
            </a:r>
          </a:p>
          <a:p>
            <a:r>
              <a:rPr lang="en-US" dirty="0"/>
              <a:t>How does it work?</a:t>
            </a:r>
          </a:p>
          <a:p>
            <a:r>
              <a:rPr lang="en-US" dirty="0"/>
              <a:t>Illustrative example</a:t>
            </a:r>
          </a:p>
          <a:p>
            <a:r>
              <a:rPr lang="en-US" dirty="0"/>
              <a:t>Time / space Complexity?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5293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3A803-C4AA-49D4-23A0-75052217D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E1BAD-9714-D672-CF72-38502B37C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See slides on binary search for;</a:t>
            </a:r>
          </a:p>
          <a:p>
            <a:r>
              <a:rPr lang="en-US" dirty="0"/>
              <a:t>How does it work?</a:t>
            </a:r>
          </a:p>
          <a:p>
            <a:r>
              <a:rPr lang="en-US" dirty="0"/>
              <a:t>Illustrative example</a:t>
            </a:r>
          </a:p>
          <a:p>
            <a:r>
              <a:rPr lang="en-US" dirty="0"/>
              <a:t>Time / space Complexity?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4343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D1975-2017-55E3-F780-439FA0949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Merge Sort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D6A98-A5B6-31CE-F271-321D4DE9E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See slides on merge sort for;</a:t>
            </a:r>
          </a:p>
          <a:p>
            <a:r>
              <a:rPr lang="en-US" dirty="0"/>
              <a:t>How does it work?</a:t>
            </a:r>
          </a:p>
          <a:p>
            <a:r>
              <a:rPr lang="en-US" dirty="0"/>
              <a:t>Illustrative example</a:t>
            </a:r>
          </a:p>
          <a:p>
            <a:r>
              <a:rPr lang="en-US" dirty="0"/>
              <a:t>Time / space Complexity?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4445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7AB19-8801-2C49-3C68-8F4524098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  <a:latin typeface="Arial" panose="020B0604020202020204" pitchFamily="34" charset="0"/>
              </a:rPr>
              <a:t>Asymptotic Notation</a:t>
            </a:r>
            <a:br>
              <a:rPr lang="en-US" dirty="0">
                <a:effectLst/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ECC72-635E-987E-7574-7E2B66A18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 rtl="0">
              <a:spcBef>
                <a:spcPts val="75"/>
              </a:spcBef>
              <a:buNone/>
            </a:pP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•When we look at a large enough input n, we’re studying the asymptotic efficiency</a:t>
            </a:r>
          </a:p>
          <a:p>
            <a:pPr algn="just" rtl="0">
              <a:spcBef>
                <a:spcPts val="75"/>
              </a:spcBef>
              <a:buNone/>
            </a:pP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Concerned with the running time as the input increases without bound</a:t>
            </a:r>
          </a:p>
          <a:p>
            <a:pPr algn="just" rtl="0">
              <a:spcBef>
                <a:spcPts val="75"/>
              </a:spcBef>
              <a:buNone/>
            </a:pPr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Usually, an algorithm that is asymptotically more efficient is the best choice (except for small n)</a:t>
            </a:r>
          </a:p>
          <a:p>
            <a:pPr algn="just">
              <a:spcBef>
                <a:spcPts val="75"/>
              </a:spcBef>
            </a:pPr>
            <a:r>
              <a:rPr lang="en-US" dirty="0"/>
              <a:t>Asymptotic notation is a shorthand used to give a quick measure of the behavior of a function f (n) as n grows large. It is normally used to refer to a set of functions</a:t>
            </a:r>
          </a:p>
          <a:p>
            <a:pPr algn="just" rtl="0">
              <a:spcBef>
                <a:spcPts val="75"/>
              </a:spcBef>
              <a:buNone/>
            </a:pP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1765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9087E-82F2-EE05-A3D7-0126E2BCA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58941"/>
          </a:xfrm>
        </p:spPr>
        <p:txBody>
          <a:bodyPr/>
          <a:lstStyle/>
          <a:p>
            <a:r>
              <a:rPr lang="en-US" dirty="0"/>
              <a:t>Asymptotic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81163C-A647-B9D1-0D8E-D019360E40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24066"/>
                <a:ext cx="10515600" cy="475289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Big O is the most frequently used asymptotic notation. It is used to give an </a:t>
                </a:r>
                <a:r>
                  <a:rPr lang="en-US" b="1" i="1" dirty="0"/>
                  <a:t>upper bound </a:t>
                </a:r>
                <a:r>
                  <a:rPr lang="en-US" dirty="0"/>
                  <a:t>on the growth of a function, such as the running time of an algorithm – </a:t>
                </a:r>
                <a:r>
                  <a:rPr lang="en-US" i="1" dirty="0"/>
                  <a:t>O(g(n)) </a:t>
                </a:r>
                <a:r>
                  <a:rPr lang="en-US" dirty="0"/>
                  <a:t>is all functions that grow asymptotically </a:t>
                </a:r>
                <a:r>
                  <a:rPr lang="en-US" b="1" dirty="0"/>
                  <a:t>no faster </a:t>
                </a:r>
                <a:r>
                  <a:rPr lang="en-US" dirty="0"/>
                  <a:t>than g(n) as n gets large.</a:t>
                </a:r>
              </a:p>
              <a:p>
                <a:r>
                  <a:rPr lang="en-US" dirty="0"/>
                  <a:t>if the running time of your algorithm on inputs of size n is T (n), and you want to say it is </a:t>
                </a:r>
                <a:r>
                  <a:rPr lang="en-US" b="1" i="1" dirty="0"/>
                  <a:t>at least </a:t>
                </a:r>
                <a:r>
                  <a:rPr lang="en-US" dirty="0"/>
                  <a:t>quadratic, say T (n) = </a:t>
                </a:r>
                <a:r>
                  <a:rPr lang="el-GR" i="1" dirty="0"/>
                  <a:t>Ω</a:t>
                </a:r>
                <a:r>
                  <a:rPr lang="en-US" i="1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i="1" dirty="0"/>
                  <a:t>  </a:t>
                </a:r>
                <a:r>
                  <a:rPr lang="en-US" dirty="0"/>
                  <a:t>that is </a:t>
                </a:r>
                <a:r>
                  <a:rPr lang="en-US" i="1" dirty="0"/>
                  <a:t>T(n) grows </a:t>
                </a:r>
                <a:r>
                  <a:rPr lang="en-US" b="1" i="1" dirty="0"/>
                  <a:t>no slower </a:t>
                </a:r>
                <a:r>
                  <a:rPr lang="en-US" i="1" dirty="0"/>
                  <a:t>than g(n)</a:t>
                </a:r>
              </a:p>
              <a:p>
                <a:r>
                  <a:rPr lang="en-US" dirty="0"/>
                  <a:t>The statement f (n) = </a:t>
                </a:r>
                <a:r>
                  <a:rPr lang="el-GR" dirty="0"/>
                  <a:t>Θ</a:t>
                </a:r>
                <a:r>
                  <a:rPr lang="en-US" dirty="0"/>
                  <a:t> g(n) can be paraphrased intuitively as “f and g </a:t>
                </a:r>
                <a:r>
                  <a:rPr lang="en-US" b="1" i="1" dirty="0"/>
                  <a:t>are equal </a:t>
                </a:r>
                <a:r>
                  <a:rPr lang="en-US" dirty="0"/>
                  <a:t>to within a constant factor.” </a:t>
                </a:r>
              </a:p>
              <a:p>
                <a:endParaRPr lang="en-US" i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81163C-A647-B9D1-0D8E-D019360E40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4066"/>
                <a:ext cx="10515600" cy="4752897"/>
              </a:xfrm>
              <a:blipFill>
                <a:blip r:embed="rId2"/>
                <a:stretch>
                  <a:fillRect l="-1043" t="-2182" r="-19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98870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80BAA-4F90-6742-41C8-9CB380631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Formally – Big Oh (O(n)) – “upper bound”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D89B9-E84B-C7F6-E6F3-CC83F8C14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a given function g(n), we denote by O(g(n)) the set of functions. O(g(n)) = { f(n): there exist positive constants c and n0, such that  0 ≤ f(n)≤ c x g(n) for all n ≥ n0}</a:t>
            </a:r>
          </a:p>
          <a:p>
            <a:endParaRPr lang="en-US" dirty="0"/>
          </a:p>
          <a:p>
            <a:r>
              <a:rPr lang="en-US" dirty="0" err="1"/>
              <a:t>i.e.f</a:t>
            </a:r>
            <a:r>
              <a:rPr lang="en-US" dirty="0"/>
              <a:t>(n) is O(g(n) </a:t>
            </a:r>
            <a:r>
              <a:rPr lang="en-US" dirty="0" err="1"/>
              <a:t>iff</a:t>
            </a:r>
            <a:r>
              <a:rPr lang="en-US" dirty="0"/>
              <a:t> f(n) ≤ c*g(n)   for n ≥ n0 </a:t>
            </a:r>
          </a:p>
        </p:txBody>
      </p:sp>
    </p:spTree>
    <p:extLst>
      <p:ext uri="{BB962C8B-B14F-4D97-AF65-F5344CB8AC3E}">
        <p14:creationId xmlns:p14="http://schemas.microsoft.com/office/powerpoint/2010/main" val="186371991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4C701-2CCD-C1DB-84BE-532EA380D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Oh (O(n)) – “upper bound”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D6A2261-F4B9-8996-5201-EF3F22788C0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3790" y="1614850"/>
            <a:ext cx="8691755" cy="4878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51505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8763A-B847-E393-1D97-0756D060B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Ω – Big Omega “Lower bound”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E8B79-06A5-E469-BD05-09845164C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a given function g(n), we denote by Ω(g(n)) the set of functions. Ω (g(n)) = { f(n): there exist positive constants c and n0 such that 0 ≤ c x g(n) ≤ f(n) for all n ≥ n0 }.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69673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35210-31F5-2AF6-D781-8DFBAF3F7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Ω – Big Omega – Lower bound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A3DDBEA-2DCF-182D-F109-331F5B022AA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8977" y="1749454"/>
            <a:ext cx="7396889" cy="5105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132195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A319D-4CCD-E325-C778-15D3A484B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Θ – Big Theta “Tight bound”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40EB8-D4C2-59E5-E62F-704C49419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given function g(n), we denote Θ(g(n)) as the following set of functions. Θ(g(n)) = {f(n): there exist positive constants c1, c2 and n0 such that 0 ≤ c1×g(n) ≤ f(n) ≤ c2×g(n) for all n ≥ n0} </a:t>
            </a:r>
          </a:p>
          <a:p>
            <a:pPr algn="just">
              <a:spcBef>
                <a:spcPts val="75"/>
              </a:spcBef>
            </a:pPr>
            <a:r>
              <a:rPr lang="en-US" sz="3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means that g(n) and f(n) have the same running time; are off by just a constant</a:t>
            </a:r>
          </a:p>
          <a:p>
            <a:pPr algn="just">
              <a:spcBef>
                <a:spcPts val="75"/>
              </a:spcBef>
            </a:pPr>
            <a:r>
              <a:rPr lang="en-US" sz="3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"Sandwiched" for sufficiently large n</a:t>
            </a:r>
          </a:p>
          <a:p>
            <a:pPr algn="just">
              <a:spcBef>
                <a:spcPts val="75"/>
              </a:spcBef>
            </a:pPr>
            <a:r>
              <a:rPr lang="en-US" sz="3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 say g(n) is an asymptotically tight bound for f(n)</a:t>
            </a:r>
          </a:p>
          <a:p>
            <a:pPr>
              <a:buNone/>
            </a:pPr>
            <a:b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59361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A8A87-5D5E-D716-50AC-04EFE45E9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Θ – Big Theta – tight bound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843CBD6-4FB6-34EE-B39C-BE0B6B31657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3239" y="1844273"/>
            <a:ext cx="6880486" cy="464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851341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9D7F6-0C62-C108-0D07-B9E680BF3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A52CE-8654-DCD6-F077-C986EC53D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f(n) = 2n^2 + 3n + 4, </a:t>
            </a:r>
          </a:p>
          <a:p>
            <a:pPr marL="0" indent="0">
              <a:buNone/>
            </a:pPr>
            <a:r>
              <a:rPr lang="pt-BR" dirty="0"/>
              <a:t>	2n^2 + 3n + 4 ≤ 2n^2 + 3n^2 + 4n^2 </a:t>
            </a:r>
          </a:p>
          <a:p>
            <a:pPr marL="0" indent="0">
              <a:buNone/>
            </a:pPr>
            <a:r>
              <a:rPr lang="pt-BR" dirty="0"/>
              <a:t>	2n^2 + 3n + 4 ≤ 9n^2 </a:t>
            </a:r>
          </a:p>
          <a:p>
            <a:pPr marL="0" indent="0">
              <a:buNone/>
            </a:pPr>
            <a:r>
              <a:rPr lang="pt-BR" dirty="0"/>
              <a:t>	f(n) = O (n^2) also, </a:t>
            </a:r>
          </a:p>
          <a:p>
            <a:r>
              <a:rPr lang="pt-BR" dirty="0"/>
              <a:t>2n^2 + 3n + 4 ≥ 1 * n^2 </a:t>
            </a:r>
          </a:p>
          <a:p>
            <a:pPr marL="0" indent="0">
              <a:buNone/>
            </a:pPr>
            <a:r>
              <a:rPr lang="pt-BR" dirty="0"/>
              <a:t>	f(n) = Ω (n^2) </a:t>
            </a:r>
          </a:p>
          <a:p>
            <a:r>
              <a:rPr lang="pt-BR" dirty="0"/>
              <a:t>=&gt; 1 * n2 ≤ 2n^2 + 3n + 4 ≤ 9n^2  ∀  n ≥ 1 Here, c1=1, c2 = 9, n0=1, g(n)= n^2 </a:t>
            </a:r>
          </a:p>
          <a:p>
            <a:r>
              <a:rPr lang="pt-BR" dirty="0"/>
              <a:t>=&gt; f(n) = Θ(n^2)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90282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4454B-A7A3-D188-B1A0-B0BBA1BB5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2B95F-10D0-1DD4-BFF3-BF641F39C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Prove that f(n) = 4n^2 + 6n + 3 is </a:t>
            </a:r>
            <a:r>
              <a:rPr lang="pt-BR" dirty="0"/>
              <a:t>Θ(n^2) </a:t>
            </a:r>
          </a:p>
          <a:p>
            <a:pPr marL="0" indent="0">
              <a:buNone/>
            </a:pPr>
            <a:r>
              <a:rPr lang="pt-BR" dirty="0"/>
              <a:t>You need to prove the two bounds: </a:t>
            </a:r>
            <a:r>
              <a:rPr lang="en-US" dirty="0"/>
              <a:t>Ω(g(n)) and O (g(n))</a:t>
            </a:r>
          </a:p>
          <a:p>
            <a:pPr marL="0" indent="0">
              <a:buNone/>
            </a:pPr>
            <a:r>
              <a:rPr lang="en-US" b="1" dirty="0" err="1"/>
              <a:t>Soln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en-US" dirty="0"/>
              <a:t>4n^2+6n+3 &lt;= 4n^2 + 6n^2 + 3n^2 =13n^2 </a:t>
            </a:r>
            <a:r>
              <a:rPr lang="en-US" dirty="0">
                <a:sym typeface="Wingdings" panose="05000000000000000000" pitchFamily="2" charset="2"/>
              </a:rPr>
              <a:t> f(n) = O(n^2)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4n^2 + 6n + 3 &gt;= n^2  f(n) = </a:t>
            </a:r>
            <a:r>
              <a:rPr lang="pt-BR" dirty="0"/>
              <a:t> </a:t>
            </a:r>
            <a:r>
              <a:rPr lang="en-US" dirty="0"/>
              <a:t>Ω(n^2) </a:t>
            </a:r>
          </a:p>
          <a:p>
            <a:pPr marL="0" indent="0">
              <a:buNone/>
            </a:pPr>
            <a:r>
              <a:rPr lang="en-US" dirty="0"/>
              <a:t>n^2 &lt;= f(n) &lt;= 13n^2 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is </a:t>
            </a:r>
            <a:r>
              <a:rPr lang="pt-BR" dirty="0"/>
              <a:t>Θ(n^2)  c1=1, c2=13, n0=1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3277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7F666-9CD2-9524-E4F4-33DEC9C31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DDF2C-DD7B-3971-FADA-B0DF85D8D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f(n) = n^2 log n + n we can show that: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 n^2 log n ≤ n^2 log n + n ≤ 10 n^2 log n 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Ω (n^2 log n)  Θ(n^2 log n)   O(n^2 log n)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6540147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C906F-FF98-93FE-B1DA-F030CA43A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C4571D-B871-A9DF-BD85-954964FCC6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How would you prove;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f(n) = 6n^3 + 3n^2 – 14n + 2 is </a:t>
                </a:r>
                <a:r>
                  <a:rPr lang="pt-BR" dirty="0"/>
                  <a:t>Θ(n^3)?</a:t>
                </a:r>
              </a:p>
              <a:p>
                <a:pPr marL="0" indent="0">
                  <a:buNone/>
                </a:pPr>
                <a:endParaRPr lang="pt-BR" dirty="0"/>
              </a:p>
              <a:p>
                <a:r>
                  <a:rPr lang="en-US" b="0" dirty="0"/>
                  <a:t>f(n)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−4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+3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dirty="0"/>
                  <a:t> is </a:t>
                </a:r>
                <a:r>
                  <a:rPr lang="pt-BR" dirty="0"/>
                  <a:t>Θ</a:t>
                </a:r>
                <a:r>
                  <a:rPr lang="en-US" dirty="0"/>
                  <a:t>(n^12)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Given f(n) = n! , what are the bounds? i.e. O(n), </a:t>
                </a:r>
                <a:r>
                  <a:rPr lang="pt-BR" dirty="0"/>
                  <a:t>Ω (n) and Θ(n)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C4571D-B871-A9DF-BD85-954964FCC6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024307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2C19E-C167-282F-E8B5-282840E20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Recurrence </a:t>
            </a:r>
            <a:r>
              <a:rPr lang="en-US" b="1" dirty="0" err="1"/>
              <a:t>Defn</a:t>
            </a:r>
            <a:r>
              <a:rPr lang="en-US" b="1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149A2-0D49-1E14-DFFB-B179F93DF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recurrence relation for the sequence a0, a1, a2 …..an is an equation that relates an to certain of its predecessors</a:t>
            </a:r>
          </a:p>
          <a:p>
            <a:pPr marL="0" indent="0">
              <a:buNone/>
            </a:pPr>
            <a:r>
              <a:rPr lang="en-US" dirty="0"/>
              <a:t>   For example a</a:t>
            </a:r>
            <a:r>
              <a:rPr lang="en-US" sz="2400" dirty="0"/>
              <a:t>n</a:t>
            </a:r>
            <a:r>
              <a:rPr lang="en-US" dirty="0"/>
              <a:t> = a</a:t>
            </a:r>
            <a:r>
              <a:rPr lang="en-US" sz="2400" dirty="0"/>
              <a:t>n-1</a:t>
            </a:r>
            <a:r>
              <a:rPr lang="en-US" dirty="0"/>
              <a:t> + c</a:t>
            </a:r>
          </a:p>
          <a:p>
            <a:pPr marL="0" indent="0">
              <a:buNone/>
            </a:pPr>
            <a:r>
              <a:rPr lang="en-US" b="1" dirty="0"/>
              <a:t>Note</a:t>
            </a:r>
            <a:r>
              <a:rPr lang="en-US" dirty="0"/>
              <a:t>: For a given sequence a</a:t>
            </a:r>
            <a:r>
              <a:rPr lang="en-US" sz="2400" dirty="0"/>
              <a:t>0</a:t>
            </a:r>
            <a:r>
              <a:rPr lang="en-US" dirty="0"/>
              <a:t>, a</a:t>
            </a:r>
            <a:r>
              <a:rPr lang="en-US" sz="2400" dirty="0"/>
              <a:t>1</a:t>
            </a:r>
            <a:r>
              <a:rPr lang="en-US" dirty="0"/>
              <a:t>…….,a</a:t>
            </a:r>
            <a:r>
              <a:rPr lang="en-US" sz="2400" dirty="0"/>
              <a:t>n</a:t>
            </a:r>
            <a:r>
              <a:rPr lang="en-US" dirty="0"/>
              <a:t> initial conditions are explicitly given values for a finite number of the number of the sequence…this are referred as the </a:t>
            </a:r>
            <a:r>
              <a:rPr lang="en-US" b="1" i="1" dirty="0"/>
              <a:t>base cases.</a:t>
            </a:r>
          </a:p>
        </p:txBody>
      </p:sp>
    </p:spTree>
    <p:extLst>
      <p:ext uri="{BB962C8B-B14F-4D97-AF65-F5344CB8AC3E}">
        <p14:creationId xmlns:p14="http://schemas.microsoft.com/office/powerpoint/2010/main" val="113526319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DAB0F-EEDC-A7AB-AD7E-1E1544F5D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Recurrence </a:t>
            </a:r>
            <a:r>
              <a:rPr lang="en-US" b="1" dirty="0" err="1"/>
              <a:t>Defn</a:t>
            </a:r>
            <a:r>
              <a:rPr lang="en-US" b="1" dirty="0"/>
              <a:t> cont’d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6015BD-BB1C-2F4E-A858-6756FBDBC3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Given a recursive function T(n);</a:t>
                </a:r>
              </a:p>
              <a:p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                             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&amp;2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&gt;1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dirty="0"/>
                  <a:t>  </a:t>
                </a:r>
              </a:p>
              <a:p>
                <a:pPr marL="0" indent="0">
                  <a:buNone/>
                </a:pPr>
                <a:r>
                  <a:rPr lang="en-US" dirty="0"/>
                  <a:t>The portion of the problem that does not contain T is called the base case. The portion that contains T is the recurrence or recursive part.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6015BD-BB1C-2F4E-A858-6756FBDBC3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893051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FA06A-7CFE-8FF7-25EA-1A91B0B5D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Recurrence 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6DF56-13FE-0617-E6A0-1D6047489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9016"/>
            <a:ext cx="10515600" cy="4677947"/>
          </a:xfrm>
        </p:spPr>
        <p:txBody>
          <a:bodyPr/>
          <a:lstStyle/>
          <a:p>
            <a:pPr algn="just"/>
            <a:r>
              <a:rPr lang="en-US" sz="2400" b="0" i="0" dirty="0">
                <a:solidFill>
                  <a:srgbClr val="212529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recurrence relation is a mathematical formula that recursively defines a sequence. In the context of algorithm analysis, it often expresses the time complexity of recursive algorithms. For example: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AutoShape 6" descr="Linear Recurrence Relation">
            <a:extLst>
              <a:ext uri="{FF2B5EF4-FFF2-40B4-BE49-F238E27FC236}">
                <a16:creationId xmlns:a16="http://schemas.microsoft.com/office/drawing/2014/main" id="{B598851F-2526-82E8-CD3F-A59A936143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BCE79F-9C6A-FC2D-B944-AF1D3514D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790" y="2638270"/>
            <a:ext cx="8154649" cy="424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49148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E5040-CD64-7816-948B-2BC9480DB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Forming recurrence relations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56B4A3-0BE6-F49A-63BC-A0E8C1980C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Consider the Fibonacci sequence: </a:t>
                </a:r>
              </a:p>
              <a:p>
                <a:pPr marL="0" indent="0" algn="ctr">
                  <a:buNone/>
                </a:pPr>
                <a:r>
                  <a:rPr lang="en-US" dirty="0"/>
                  <a:t>f(n) = f(n-1) + f(n-2) for n&gt;=3 where f(1) = 1, f(2) =1</a:t>
                </a:r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Its recurrence relation is thus: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1,                                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=1,2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−2),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≥3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dirty="0"/>
                  <a:t> 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56B4A3-0BE6-F49A-63BC-A0E8C1980C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650770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1742C-6DBA-EEDD-CBC8-BD2C31DB5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Forming recurrence relations 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6331D-96DB-0CA7-7448-44BA13CCD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35779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What if you are given the following method;</a:t>
            </a:r>
          </a:p>
          <a:p>
            <a:pPr marL="457200" lvl="1" indent="0">
              <a:buNone/>
            </a:pPr>
            <a:r>
              <a:rPr lang="en-US" dirty="0"/>
              <a:t>void f(int n){</a:t>
            </a:r>
          </a:p>
          <a:p>
            <a:pPr marL="457200" lvl="1" indent="0">
              <a:buNone/>
            </a:pPr>
            <a:r>
              <a:rPr lang="en-US" dirty="0"/>
              <a:t>      	if (n &gt; 0) {</a:t>
            </a:r>
          </a:p>
          <a:p>
            <a:pPr marL="457200" lvl="1" indent="0">
              <a:buNone/>
            </a:pPr>
            <a:r>
              <a:rPr lang="en-US" dirty="0"/>
              <a:t>		</a:t>
            </a:r>
            <a:r>
              <a:rPr lang="en-US" dirty="0" err="1"/>
              <a:t>cout</a:t>
            </a:r>
            <a:r>
              <a:rPr lang="en-US" dirty="0"/>
              <a:t> &lt;&lt;n;</a:t>
            </a:r>
          </a:p>
          <a:p>
            <a:pPr marL="457200" lvl="1" indent="0">
              <a:buNone/>
            </a:pPr>
            <a:r>
              <a:rPr lang="en-US" dirty="0"/>
              <a:t>		f(n-1);</a:t>
            </a:r>
          </a:p>
          <a:p>
            <a:pPr marL="457200" lvl="1" indent="0">
              <a:buNone/>
            </a:pPr>
            <a:r>
              <a:rPr lang="en-US" dirty="0"/>
              <a:t>	}</a:t>
            </a:r>
          </a:p>
          <a:p>
            <a:pPr marL="457200" lvl="1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The base is reached when n =0, where the method does a single comparison. Otherwise, when n &gt; 0 the method performs 2 basic operations and calls itself using 1 recursive call with parameter n-1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06162F7-0A46-8AE7-5D6F-6794C9D1757F}"/>
                  </a:ext>
                </a:extLst>
              </p:cNvPr>
              <p:cNvSpPr txBox="1"/>
              <p:nvPr/>
            </p:nvSpPr>
            <p:spPr>
              <a:xfrm>
                <a:off x="8085221" y="2406316"/>
                <a:ext cx="3801979" cy="18181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𝑇h𝑒𝑟𝑒𝑓𝑜𝑟𝑒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𝑡h𝑒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𝑟𝑒𝑐𝑢𝑢𝑟𝑒𝑛𝑐𝑒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𝑟𝑒𝑙𝑎𝑡𝑖𝑜𝑛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𝑐𝑎𝑛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𝑝𝑟𝑒𝑠𝑒𝑎𝑛𝑡𝑒𝑑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𝑎𝑠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;</a:t>
                </a:r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                             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      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&gt;0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dirty="0"/>
                  <a:t> 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06162F7-0A46-8AE7-5D6F-6794C9D17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5221" y="2406316"/>
                <a:ext cx="3801979" cy="1818190"/>
              </a:xfrm>
              <a:prstGeom prst="rect">
                <a:avLst/>
              </a:prstGeom>
              <a:blipFill>
                <a:blip r:embed="rId2"/>
                <a:stretch>
                  <a:fillRect l="-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25022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351B7-031C-05EE-EC24-98C29F104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Forming recurrence relations 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54B3A-DB64-FC57-3653-248BE6E9A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the following method, what is its recurrence relation? </a:t>
            </a:r>
          </a:p>
          <a:p>
            <a:pPr marL="0" indent="0">
              <a:buNone/>
            </a:pPr>
            <a:r>
              <a:rPr lang="en-US" dirty="0"/>
              <a:t>int g(int n){</a:t>
            </a:r>
          </a:p>
          <a:p>
            <a:pPr marL="0" indent="0">
              <a:buNone/>
            </a:pPr>
            <a:r>
              <a:rPr lang="en-US" dirty="0"/>
              <a:t>	if (n==1)</a:t>
            </a:r>
          </a:p>
          <a:p>
            <a:pPr marL="0" indent="0">
              <a:buNone/>
            </a:pPr>
            <a:r>
              <a:rPr lang="en-US" dirty="0"/>
              <a:t>		return 2;</a:t>
            </a:r>
          </a:p>
          <a:p>
            <a:pPr marL="0" indent="0">
              <a:buNone/>
            </a:pPr>
            <a:r>
              <a:rPr lang="en-US" dirty="0"/>
              <a:t>	else</a:t>
            </a:r>
          </a:p>
          <a:p>
            <a:pPr marL="0" indent="0">
              <a:buNone/>
            </a:pPr>
            <a:r>
              <a:rPr lang="en-US" dirty="0"/>
              <a:t>		return g(n/2) + g(n/2) +5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7A567F1-4FD4-D913-7653-D7448C7E4D38}"/>
                  </a:ext>
                </a:extLst>
              </p:cNvPr>
              <p:cNvSpPr txBox="1"/>
              <p:nvPr/>
            </p:nvSpPr>
            <p:spPr>
              <a:xfrm>
                <a:off x="7443537" y="2743200"/>
                <a:ext cx="4331368" cy="12536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                             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&amp;2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          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&gt;1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dirty="0"/>
                  <a:t> 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7A567F1-4FD4-D913-7653-D7448C7E4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3537" y="2743200"/>
                <a:ext cx="4331368" cy="12536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46142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F13DC-1EFC-5056-5B9E-E261CA9AE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 general recurrence 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B1A2A-3619-66AB-4392-38F745229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40705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Recurse(A[1…n]){</a:t>
            </a:r>
          </a:p>
          <a:p>
            <a:pPr marL="0" indent="0">
              <a:buNone/>
            </a:pPr>
            <a:r>
              <a:rPr lang="en-US" dirty="0"/>
              <a:t>	if n &lt;= 1 </a:t>
            </a:r>
          </a:p>
          <a:p>
            <a:pPr marL="0" indent="0">
              <a:buNone/>
            </a:pPr>
            <a:r>
              <a:rPr lang="en-US" dirty="0"/>
              <a:t>		return A</a:t>
            </a:r>
          </a:p>
          <a:p>
            <a:pPr marL="0" indent="0">
              <a:buNone/>
            </a:pPr>
            <a:r>
              <a:rPr lang="en-US" dirty="0"/>
              <a:t>	if n&gt;1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do_something</a:t>
            </a:r>
            <a:r>
              <a:rPr lang="en-US" dirty="0"/>
              <a:t> A</a:t>
            </a:r>
          </a:p>
          <a:p>
            <a:pPr marL="0" indent="0">
              <a:buNone/>
            </a:pPr>
            <a:r>
              <a:rPr lang="en-US" dirty="0"/>
              <a:t>		A1 = extract (A)</a:t>
            </a:r>
          </a:p>
          <a:p>
            <a:pPr marL="0" indent="0">
              <a:buNone/>
            </a:pPr>
            <a:r>
              <a:rPr lang="en-US" dirty="0"/>
              <a:t>		A2 = extract (A)</a:t>
            </a:r>
          </a:p>
          <a:p>
            <a:pPr marL="0" indent="0">
              <a:buNone/>
            </a:pPr>
            <a:r>
              <a:rPr lang="en-US" dirty="0"/>
              <a:t>		B1 = recurse (A1)</a:t>
            </a:r>
          </a:p>
          <a:p>
            <a:pPr marL="0" indent="0">
              <a:buNone/>
            </a:pPr>
            <a:r>
              <a:rPr lang="en-US" dirty="0"/>
              <a:t>		B2 = recurse (A2)</a:t>
            </a:r>
          </a:p>
          <a:p>
            <a:pPr marL="0" indent="0">
              <a:buNone/>
            </a:pPr>
            <a:r>
              <a:rPr lang="en-US" dirty="0"/>
              <a:t>		 B = rebuild (B1, B2)</a:t>
            </a:r>
          </a:p>
          <a:p>
            <a:pPr marL="0" indent="0">
              <a:buNone/>
            </a:pPr>
            <a:r>
              <a:rPr lang="en-US" dirty="0"/>
              <a:t>		return B</a:t>
            </a:r>
          </a:p>
          <a:p>
            <a:pPr marL="0" indent="0">
              <a:buNone/>
            </a:pPr>
            <a:r>
              <a:rPr lang="en-US" dirty="0"/>
              <a:t>	end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ABE24B-E398-CFF3-FF90-9145F935C8BD}"/>
              </a:ext>
            </a:extLst>
          </p:cNvPr>
          <p:cNvSpPr txBox="1"/>
          <p:nvPr/>
        </p:nvSpPr>
        <p:spPr>
          <a:xfrm>
            <a:off x="6673516" y="1941095"/>
            <a:ext cx="46802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Assuming all other functions do a constant amount of work at each iteration what is the recurrence formula for the given relation?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Further, assume extract returns half of the original array!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1887B8-D432-709C-3808-4A4C6C52FD41}"/>
                  </a:ext>
                </a:extLst>
              </p:cNvPr>
              <p:cNvSpPr txBox="1"/>
              <p:nvPr/>
            </p:nvSpPr>
            <p:spPr>
              <a:xfrm>
                <a:off x="6673516" y="4249419"/>
                <a:ext cx="5069305" cy="12536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                             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&amp;2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            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&gt;1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dirty="0"/>
                  <a:t> 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1887B8-D432-709C-3808-4A4C6C52FD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3516" y="4249419"/>
                <a:ext cx="5069305" cy="12536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031070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0FA2D-BC4F-9B4E-C4FB-F8BC12636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B3FE0-2822-9255-3ED8-B787F99B2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 the recurrence relations for the sorting algorithms that use recursive functions….discussed in previous lecture</a:t>
            </a:r>
          </a:p>
        </p:txBody>
      </p:sp>
    </p:spTree>
    <p:extLst>
      <p:ext uri="{BB962C8B-B14F-4D97-AF65-F5344CB8AC3E}">
        <p14:creationId xmlns:p14="http://schemas.microsoft.com/office/powerpoint/2010/main" val="412828304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73AF8-E481-2999-302F-F7C193D25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Solving recurrences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0FF88-F8E1-D002-F219-6360084E7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methods can be used to solve recurrence relations;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 method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method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Recursion tree method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Master theorem method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22249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AAD64-ECC1-F79D-16D1-358C0C013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Recursion tree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83A5C-E90A-EDEB-0E39-B64119936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Recursive analysis considers the shape of the recursion tree created by the recursive call structures!  And then approximates the total cost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i="1" dirty="0"/>
              <a:t>See examples on pdf file</a:t>
            </a:r>
          </a:p>
        </p:txBody>
      </p:sp>
    </p:spTree>
    <p:extLst>
      <p:ext uri="{BB962C8B-B14F-4D97-AF65-F5344CB8AC3E}">
        <p14:creationId xmlns:p14="http://schemas.microsoft.com/office/powerpoint/2010/main" val="38684900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D73ED-1117-FF9E-02F0-CD5998F08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Master Theorem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FF6E5F-A059-E849-C374-DCCE67A581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This was developed to estimate the complexity for divide &amp; conquer algorithms of the form: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                             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𝑎𝑇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den>
                                </m:f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^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      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dirty="0"/>
                  <a:t>  </a:t>
                </a:r>
              </a:p>
              <a:p>
                <a:r>
                  <a:rPr lang="en-US" dirty="0"/>
                  <a:t>T(n) has the following bounds:</a:t>
                </a:r>
              </a:p>
              <a:p>
                <a:pPr lvl="1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 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func>
                  </m:oMath>
                </a14:m>
                <a:r>
                  <a:rPr lang="en-US" dirty="0"/>
                  <a:t> then T(n) ∈ </a:t>
                </a:r>
                <a:r>
                  <a:rPr lang="pt-BR" dirty="0"/>
                  <a:t>Θ(n ^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func>
                  </m:oMath>
                </a14:m>
                <a:r>
                  <a:rPr lang="pt-BR" dirty="0"/>
                  <a:t> ) //linear</a:t>
                </a:r>
                <a:endParaRPr lang="en-US" dirty="0"/>
              </a:p>
              <a:p>
                <a:pPr lvl="1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func>
                  </m:oMath>
                </a14:m>
                <a:r>
                  <a:rPr lang="en-US" dirty="0"/>
                  <a:t> then T(n) ∈ </a:t>
                </a:r>
                <a:r>
                  <a:rPr lang="pt-BR" dirty="0"/>
                  <a:t>Θ(n ^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func>
                  </m:oMath>
                </a14:m>
                <a:r>
                  <a:rPr lang="pt-BR" dirty="0"/>
                  <a:t>  log n)  //nlogn</a:t>
                </a:r>
                <a:endParaRPr lang="en-US" dirty="0"/>
              </a:p>
              <a:p>
                <a:pPr lvl="1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 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func>
                  </m:oMath>
                </a14:m>
                <a:r>
                  <a:rPr lang="en-US" dirty="0"/>
                  <a:t> then T(n) ∈ </a:t>
                </a:r>
                <a:r>
                  <a:rPr lang="pt-BR" dirty="0"/>
                  <a:t>Θ(n ^d) //exponential</a:t>
                </a:r>
                <a:endParaRPr lang="en-US" dirty="0"/>
              </a:p>
              <a:p>
                <a:pPr lvl="1">
                  <a:buFont typeface="Wingdings" panose="05000000000000000000" pitchFamily="2" charset="2"/>
                  <a:buChar char="ü"/>
                </a:pPr>
                <a:endParaRPr lang="en-US" dirty="0"/>
              </a:p>
              <a:p>
                <a:pPr lvl="1">
                  <a:buFont typeface="Wingdings" panose="05000000000000000000" pitchFamily="2" charset="2"/>
                  <a:buChar char="ü"/>
                </a:pP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2FF6E5F-A059-E849-C374-DCCE67A581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540711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46FF0-5945-9536-4A01-6F2FAA392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CEF499-7328-E8AC-4CC5-E48940FE42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 (n) = 2 T (n/2) + </a:t>
                </a:r>
                <a:r>
                  <a:rPr lang="en-US" dirty="0" err="1"/>
                  <a:t>cn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Here a = 2 b = 2 d = 1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func>
                  </m:oMath>
                </a14:m>
                <a:r>
                  <a:rPr lang="en-US" dirty="0"/>
                  <a:t>  = 1 Hence case 2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Exercise</a:t>
                </a:r>
                <a:r>
                  <a:rPr lang="en-US" dirty="0"/>
                  <a:t>: What happens if you;</a:t>
                </a:r>
              </a:p>
              <a:p>
                <a:r>
                  <a:rPr lang="en-US" dirty="0"/>
                  <a:t>Change d = 2 and a = b = 2?</a:t>
                </a:r>
              </a:p>
              <a:p>
                <a:r>
                  <a:rPr lang="en-US" dirty="0"/>
                  <a:t>Change d = 0 and a = b = 2?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CEF499-7328-E8AC-4CC5-E48940FE42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4553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1875</TotalTime>
  <Words>4172</Words>
  <Application>Microsoft Office PowerPoint</Application>
  <PresentationFormat>Widescreen</PresentationFormat>
  <Paragraphs>494</Paragraphs>
  <Slides>72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72</vt:i4>
      </vt:variant>
    </vt:vector>
  </HeadingPairs>
  <TitlesOfParts>
    <vt:vector size="86" baseType="lpstr">
      <vt:lpstr>Arial</vt:lpstr>
      <vt:lpstr>Arial Black</vt:lpstr>
      <vt:lpstr>Calibri</vt:lpstr>
      <vt:lpstr>Calibri Light</vt:lpstr>
      <vt:lpstr>Cambria Math</vt:lpstr>
      <vt:lpstr>Google Sans</vt:lpstr>
      <vt:lpstr>Poppins</vt:lpstr>
      <vt:lpstr>source-code-pro</vt:lpstr>
      <vt:lpstr>Symbol</vt:lpstr>
      <vt:lpstr>Times New Roman</vt:lpstr>
      <vt:lpstr>Wingdings</vt:lpstr>
      <vt:lpstr>Office Theme</vt:lpstr>
      <vt:lpstr>Visio</vt:lpstr>
      <vt:lpstr>Equation</vt:lpstr>
      <vt:lpstr>Design and Analysis of Algorithms</vt:lpstr>
      <vt:lpstr>Introductory concepts</vt:lpstr>
      <vt:lpstr>How to state/represent an algorithm: Pseudocode</vt:lpstr>
      <vt:lpstr>Pseudocode &amp; Algorithm</vt:lpstr>
      <vt:lpstr>Pseudocode &amp; Algorithm</vt:lpstr>
      <vt:lpstr>Pseudocode &amp; Algorithm</vt:lpstr>
      <vt:lpstr>Algorithm cont’d - Flowcharts</vt:lpstr>
      <vt:lpstr>The Flowchart</vt:lpstr>
      <vt:lpstr>Flowchart Symbols </vt:lpstr>
      <vt:lpstr>Example 1</vt:lpstr>
      <vt:lpstr>Example 2</vt:lpstr>
      <vt:lpstr>Example 2</vt:lpstr>
      <vt:lpstr>Example 3 </vt:lpstr>
      <vt:lpstr>Example 3</vt:lpstr>
      <vt:lpstr>Flowcharts</vt:lpstr>
      <vt:lpstr>Flowchart Symbols</vt:lpstr>
      <vt:lpstr>Flowchart Symbols cont…</vt:lpstr>
      <vt:lpstr>Flowchart – sequence control structure</vt:lpstr>
      <vt:lpstr>Flowchart – selection control structure</vt:lpstr>
      <vt:lpstr>Flowchart – repetition/loop control structure</vt:lpstr>
      <vt:lpstr>Flowchart – example </vt:lpstr>
      <vt:lpstr>Flowchart – example </vt:lpstr>
      <vt:lpstr>Exercise 1 – for your practice</vt:lpstr>
      <vt:lpstr>CHARACTERISTICS  OF ALGORITHM</vt:lpstr>
      <vt:lpstr>But what makes a good algorithm?</vt:lpstr>
      <vt:lpstr>What is a design of an algorithm?</vt:lpstr>
      <vt:lpstr>What data structure should we use?</vt:lpstr>
      <vt:lpstr>Design Strategies - Brute Force Algorithms: </vt:lpstr>
      <vt:lpstr>Design Strategies - Greedy Algorithms: </vt:lpstr>
      <vt:lpstr>Design Strategies - Divide and Conquer</vt:lpstr>
      <vt:lpstr>Divide and conquer  - example</vt:lpstr>
      <vt:lpstr>Design Strategies - Dynamic Programming</vt:lpstr>
      <vt:lpstr>Examples of Problems Solved with Dynamic Programming: (covered in Module 5 &amp; 6) </vt:lpstr>
      <vt:lpstr>What is Analysis of algorithm?</vt:lpstr>
      <vt:lpstr>Common complexities – Big O notation used</vt:lpstr>
      <vt:lpstr>How do we determine the complexity of an algorithm?</vt:lpstr>
      <vt:lpstr>What if the runtime function is given?</vt:lpstr>
      <vt:lpstr>Other examples</vt:lpstr>
      <vt:lpstr>What if the function is not given?</vt:lpstr>
      <vt:lpstr>What if the function is not given?</vt:lpstr>
      <vt:lpstr>What if the function is not given?</vt:lpstr>
      <vt:lpstr>Exercises…what is the complexity?</vt:lpstr>
      <vt:lpstr>What is the complexity for</vt:lpstr>
      <vt:lpstr>Insertion sort</vt:lpstr>
      <vt:lpstr>Bubble sort</vt:lpstr>
      <vt:lpstr>Quick sort</vt:lpstr>
      <vt:lpstr>Binary search</vt:lpstr>
      <vt:lpstr>Merge Sort</vt:lpstr>
      <vt:lpstr>Asymptotic Notation </vt:lpstr>
      <vt:lpstr>Asymptotic notation</vt:lpstr>
      <vt:lpstr>Formally – Big Oh (O(n)) – “upper bound”</vt:lpstr>
      <vt:lpstr>Big Oh (O(n)) – “upper bound”</vt:lpstr>
      <vt:lpstr>Big Ω – Big Omega “Lower bound”</vt:lpstr>
      <vt:lpstr>Big Ω – Big Omega – Lower bound</vt:lpstr>
      <vt:lpstr>Big Θ – Big Theta “Tight bound” </vt:lpstr>
      <vt:lpstr>Big Θ – Big Theta – tight bound</vt:lpstr>
      <vt:lpstr>Example 1</vt:lpstr>
      <vt:lpstr>Example 2</vt:lpstr>
      <vt:lpstr>Example 3</vt:lpstr>
      <vt:lpstr>Exercise </vt:lpstr>
      <vt:lpstr>Recurrence Defn </vt:lpstr>
      <vt:lpstr>Recurrence Defn cont’d</vt:lpstr>
      <vt:lpstr>Recurrence cont’d</vt:lpstr>
      <vt:lpstr>Forming recurrence relations</vt:lpstr>
      <vt:lpstr>Forming recurrence relations cont’d</vt:lpstr>
      <vt:lpstr>Forming recurrence relations cont’d</vt:lpstr>
      <vt:lpstr>A general recurrence relation</vt:lpstr>
      <vt:lpstr>Exercises</vt:lpstr>
      <vt:lpstr>Solving recurrences</vt:lpstr>
      <vt:lpstr>Recursion tree method</vt:lpstr>
      <vt:lpstr>Master Theorem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richie</dc:creator>
  <cp:lastModifiedBy>richie</cp:lastModifiedBy>
  <cp:revision>20</cp:revision>
  <dcterms:created xsi:type="dcterms:W3CDTF">2025-05-05T10:05:53Z</dcterms:created>
  <dcterms:modified xsi:type="dcterms:W3CDTF">2025-10-06T17:29:36Z</dcterms:modified>
</cp:coreProperties>
</file>