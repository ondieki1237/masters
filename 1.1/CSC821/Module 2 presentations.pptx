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A8CC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365760"/>
            <a:ext cx="164592" cy="164592"/>
          </a:xfrm>
          <a:prstGeom prst="ellipse">
            <a:avLst/>
          </a:prstGeom>
          <a:solidFill>
            <a:srgbClr val="1A56B0"/>
          </a:solidFill>
          <a:ln/>
        </p:spPr>
      </p:sp>
      <p:sp>
        <p:nvSpPr>
          <p:cNvPr id="4" name="Shape 2"/>
          <p:cNvSpPr/>
          <p:nvPr/>
        </p:nvSpPr>
        <p:spPr>
          <a:xfrm>
            <a:off x="7498080" y="365760"/>
            <a:ext cx="164592" cy="164592"/>
          </a:xfrm>
          <a:prstGeom prst="ellipse">
            <a:avLst/>
          </a:prstGeom>
          <a:solidFill>
            <a:srgbClr val="1A56B0"/>
          </a:solidFill>
          <a:ln/>
        </p:spPr>
      </p:sp>
      <p:sp>
        <p:nvSpPr>
          <p:cNvPr id="5" name="Shape 3"/>
          <p:cNvSpPr/>
          <p:nvPr/>
        </p:nvSpPr>
        <p:spPr>
          <a:xfrm>
            <a:off x="8138160" y="365760"/>
            <a:ext cx="164592" cy="164592"/>
          </a:xfrm>
          <a:prstGeom prst="ellipse">
            <a:avLst/>
          </a:prstGeom>
          <a:solidFill>
            <a:srgbClr val="1A56B0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0" y="1005840"/>
            <a:ext cx="164592" cy="164592"/>
          </a:xfrm>
          <a:prstGeom prst="ellipse">
            <a:avLst/>
          </a:prstGeom>
          <a:solidFill>
            <a:srgbClr val="1A56B0"/>
          </a:solidFill>
          <a:ln/>
        </p:spPr>
      </p:sp>
      <p:sp>
        <p:nvSpPr>
          <p:cNvPr id="7" name="Shape 5"/>
          <p:cNvSpPr/>
          <p:nvPr/>
        </p:nvSpPr>
        <p:spPr>
          <a:xfrm>
            <a:off x="7498080" y="1005840"/>
            <a:ext cx="164592" cy="164592"/>
          </a:xfrm>
          <a:prstGeom prst="ellipse">
            <a:avLst/>
          </a:prstGeom>
          <a:solidFill>
            <a:srgbClr val="1A56B0"/>
          </a:solidFill>
          <a:ln/>
        </p:spPr>
      </p:sp>
      <p:sp>
        <p:nvSpPr>
          <p:cNvPr id="8" name="Shape 6"/>
          <p:cNvSpPr/>
          <p:nvPr/>
        </p:nvSpPr>
        <p:spPr>
          <a:xfrm>
            <a:off x="8138160" y="1005840"/>
            <a:ext cx="164592" cy="164592"/>
          </a:xfrm>
          <a:prstGeom prst="ellipse">
            <a:avLst/>
          </a:prstGeom>
          <a:solidFill>
            <a:srgbClr val="1A56B0"/>
          </a:solidFill>
          <a:ln/>
        </p:spPr>
      </p:sp>
      <p:sp>
        <p:nvSpPr>
          <p:cNvPr id="9" name="Shape 7"/>
          <p:cNvSpPr/>
          <p:nvPr/>
        </p:nvSpPr>
        <p:spPr>
          <a:xfrm>
            <a:off x="7040880" y="448056"/>
            <a:ext cx="1188720" cy="0"/>
          </a:xfrm>
          <a:prstGeom prst="line">
            <a:avLst/>
          </a:prstGeom>
          <a:noFill/>
          <a:ln w="19050">
            <a:solidFill>
              <a:srgbClr val="1A56B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040880" y="1088136"/>
            <a:ext cx="1188720" cy="0"/>
          </a:xfrm>
          <a:prstGeom prst="line">
            <a:avLst/>
          </a:prstGeom>
          <a:noFill/>
          <a:ln w="19050">
            <a:solidFill>
              <a:srgbClr val="1A56B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00584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Designing and Analyzing Algorithms</a:t>
            </a:r>
            <a:endParaRPr lang="en-US" sz="4200" dirty="0"/>
          </a:p>
        </p:txBody>
      </p:sp>
      <p:sp>
        <p:nvSpPr>
          <p:cNvPr id="12" name="Shape 10"/>
          <p:cNvSpPr/>
          <p:nvPr/>
        </p:nvSpPr>
        <p:spPr>
          <a:xfrm>
            <a:off x="1097280" y="2176272"/>
            <a:ext cx="6949440" cy="475488"/>
          </a:xfrm>
          <a:prstGeom prst="rect">
            <a:avLst/>
          </a:prstGeom>
          <a:solidFill>
            <a:srgbClr val="1A56B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097280" y="2176272"/>
            <a:ext cx="6949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 Artificial Intelligence  —  Group 2 Presentation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57200" y="276148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B0B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Open University of Kenya  |  January 2026 Cohort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218688"/>
            <a:ext cx="1874520" cy="475488"/>
          </a:xfrm>
          <a:prstGeom prst="roundRect">
            <a:avLst>
              <a:gd name="adj" fmla="val 15385"/>
            </a:avLst>
          </a:prstGeom>
          <a:solidFill>
            <a:srgbClr val="00A8CC">
              <a:alpha val="7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218688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&amp; Conquer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651760" y="3218688"/>
            <a:ext cx="1874520" cy="475488"/>
          </a:xfrm>
          <a:prstGeom prst="roundRect">
            <a:avLst>
              <a:gd name="adj" fmla="val 15385"/>
            </a:avLst>
          </a:prstGeom>
          <a:solidFill>
            <a:srgbClr val="00A8CC">
              <a:alpha val="7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2651760" y="3218688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754880" y="3218688"/>
            <a:ext cx="1874520" cy="475488"/>
          </a:xfrm>
          <a:prstGeom prst="roundRect">
            <a:avLst>
              <a:gd name="adj" fmla="val 15385"/>
            </a:avLst>
          </a:prstGeom>
          <a:solidFill>
            <a:srgbClr val="00A8CC">
              <a:alpha val="7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4754880" y="3218688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Programming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858000" y="3218688"/>
            <a:ext cx="1874520" cy="475488"/>
          </a:xfrm>
          <a:prstGeom prst="roundRect">
            <a:avLst>
              <a:gd name="adj" fmla="val 15385"/>
            </a:avLst>
          </a:prstGeom>
          <a:solidFill>
            <a:srgbClr val="00A8CC">
              <a:alpha val="7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0" y="3218688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O Notation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274320" y="466344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0B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Design &amp; Analysis  |  MSc Artificial Intelligence  |  The Open University of Kenya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A8CC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868680"/>
          </a:xfrm>
          <a:prstGeom prst="rect">
            <a:avLst/>
          </a:prstGeom>
          <a:solidFill>
            <a:srgbClr val="0A152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595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Group 2 — Presenting Team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B0B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 Artificial Intelligence  ·  The Open University of Kenya  ·  January 2026 Cohort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4206240" cy="475488"/>
          </a:xfrm>
          <a:prstGeom prst="rect">
            <a:avLst/>
          </a:prstGeom>
          <a:solidFill>
            <a:srgbClr val="0F2340"/>
          </a:solidFill>
          <a:ln/>
        </p:spPr>
      </p:sp>
      <p:sp>
        <p:nvSpPr>
          <p:cNvPr id="7" name="Shape 5"/>
          <p:cNvSpPr/>
          <p:nvPr/>
        </p:nvSpPr>
        <p:spPr>
          <a:xfrm>
            <a:off x="365760" y="1005840"/>
            <a:ext cx="347472" cy="475488"/>
          </a:xfrm>
          <a:prstGeom prst="rect">
            <a:avLst/>
          </a:prstGeom>
          <a:solidFill>
            <a:srgbClr val="00A8CC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005840"/>
            <a:ext cx="3474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68096" y="1024128"/>
            <a:ext cx="37673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Peter Mwendwa Mutua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1517904"/>
            <a:ext cx="4206240" cy="475488"/>
          </a:xfrm>
          <a:prstGeom prst="rect">
            <a:avLst/>
          </a:prstGeom>
          <a:solidFill>
            <a:srgbClr val="122848"/>
          </a:solidFill>
          <a:ln/>
        </p:spPr>
      </p:sp>
      <p:sp>
        <p:nvSpPr>
          <p:cNvPr id="11" name="Shape 9"/>
          <p:cNvSpPr/>
          <p:nvPr/>
        </p:nvSpPr>
        <p:spPr>
          <a:xfrm>
            <a:off x="365760" y="1517904"/>
            <a:ext cx="347472" cy="475488"/>
          </a:xfrm>
          <a:prstGeom prst="rect">
            <a:avLst/>
          </a:prstGeom>
          <a:solidFill>
            <a:srgbClr val="00A8CC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1517904"/>
            <a:ext cx="3474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68096" y="1536192"/>
            <a:ext cx="37673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James Wathika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5760" y="2029968"/>
            <a:ext cx="4206240" cy="475488"/>
          </a:xfrm>
          <a:prstGeom prst="rect">
            <a:avLst/>
          </a:prstGeom>
          <a:solidFill>
            <a:srgbClr val="0F2340"/>
          </a:solidFill>
          <a:ln/>
        </p:spPr>
      </p:sp>
      <p:sp>
        <p:nvSpPr>
          <p:cNvPr id="15" name="Shape 13"/>
          <p:cNvSpPr/>
          <p:nvPr/>
        </p:nvSpPr>
        <p:spPr>
          <a:xfrm>
            <a:off x="365760" y="2029968"/>
            <a:ext cx="347472" cy="475488"/>
          </a:xfrm>
          <a:prstGeom prst="rect">
            <a:avLst/>
          </a:prstGeom>
          <a:solidFill>
            <a:srgbClr val="00A8CC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2029968"/>
            <a:ext cx="3474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68096" y="2048256"/>
            <a:ext cx="37673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Kelly Lyton Ateku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5760" y="2542032"/>
            <a:ext cx="4206240" cy="475488"/>
          </a:xfrm>
          <a:prstGeom prst="rect">
            <a:avLst/>
          </a:prstGeom>
          <a:solidFill>
            <a:srgbClr val="122848"/>
          </a:solidFill>
          <a:ln/>
        </p:spPr>
      </p:sp>
      <p:sp>
        <p:nvSpPr>
          <p:cNvPr id="19" name="Shape 17"/>
          <p:cNvSpPr/>
          <p:nvPr/>
        </p:nvSpPr>
        <p:spPr>
          <a:xfrm>
            <a:off x="365760" y="2542032"/>
            <a:ext cx="347472" cy="475488"/>
          </a:xfrm>
          <a:prstGeom prst="rect">
            <a:avLst/>
          </a:prstGeom>
          <a:solidFill>
            <a:srgbClr val="00A8CC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2542032"/>
            <a:ext cx="3474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68096" y="2560320"/>
            <a:ext cx="37673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Maxwel Cheruiyot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65760" y="3054096"/>
            <a:ext cx="4206240" cy="475488"/>
          </a:xfrm>
          <a:prstGeom prst="rect">
            <a:avLst/>
          </a:prstGeom>
          <a:solidFill>
            <a:srgbClr val="0F2340"/>
          </a:solidFill>
          <a:ln/>
        </p:spPr>
      </p:sp>
      <p:sp>
        <p:nvSpPr>
          <p:cNvPr id="23" name="Shape 21"/>
          <p:cNvSpPr/>
          <p:nvPr/>
        </p:nvSpPr>
        <p:spPr>
          <a:xfrm>
            <a:off x="365760" y="3054096"/>
            <a:ext cx="347472" cy="475488"/>
          </a:xfrm>
          <a:prstGeom prst="rect">
            <a:avLst/>
          </a:prstGeom>
          <a:solidFill>
            <a:srgbClr val="00A8CC"/>
          </a:solidFill>
          <a:ln/>
        </p:spPr>
      </p:sp>
      <p:sp>
        <p:nvSpPr>
          <p:cNvPr id="24" name="Text 22"/>
          <p:cNvSpPr/>
          <p:nvPr/>
        </p:nvSpPr>
        <p:spPr>
          <a:xfrm>
            <a:off x="365760" y="3054096"/>
            <a:ext cx="3474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68096" y="3072384"/>
            <a:ext cx="37673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Charles Wangwe Owino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65760" y="3566160"/>
            <a:ext cx="4206240" cy="475488"/>
          </a:xfrm>
          <a:prstGeom prst="rect">
            <a:avLst/>
          </a:prstGeom>
          <a:solidFill>
            <a:srgbClr val="122848"/>
          </a:solidFill>
          <a:ln/>
        </p:spPr>
      </p:sp>
      <p:sp>
        <p:nvSpPr>
          <p:cNvPr id="27" name="Shape 25"/>
          <p:cNvSpPr/>
          <p:nvPr/>
        </p:nvSpPr>
        <p:spPr>
          <a:xfrm>
            <a:off x="365760" y="3566160"/>
            <a:ext cx="347472" cy="475488"/>
          </a:xfrm>
          <a:prstGeom prst="rect">
            <a:avLst/>
          </a:prstGeom>
          <a:solidFill>
            <a:srgbClr val="00A8CC"/>
          </a:solidFill>
          <a:ln/>
        </p:spPr>
      </p:sp>
      <p:sp>
        <p:nvSpPr>
          <p:cNvPr id="28" name="Text 26"/>
          <p:cNvSpPr/>
          <p:nvPr/>
        </p:nvSpPr>
        <p:spPr>
          <a:xfrm>
            <a:off x="365760" y="3566160"/>
            <a:ext cx="3474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68096" y="3584448"/>
            <a:ext cx="37673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Abraham Kemboi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365760" y="4078224"/>
            <a:ext cx="4206240" cy="475488"/>
          </a:xfrm>
          <a:prstGeom prst="rect">
            <a:avLst/>
          </a:prstGeom>
          <a:solidFill>
            <a:srgbClr val="0F2340"/>
          </a:solidFill>
          <a:ln/>
        </p:spPr>
      </p:sp>
      <p:sp>
        <p:nvSpPr>
          <p:cNvPr id="31" name="Shape 29"/>
          <p:cNvSpPr/>
          <p:nvPr/>
        </p:nvSpPr>
        <p:spPr>
          <a:xfrm>
            <a:off x="365760" y="4078224"/>
            <a:ext cx="347472" cy="475488"/>
          </a:xfrm>
          <a:prstGeom prst="rect">
            <a:avLst/>
          </a:prstGeom>
          <a:solidFill>
            <a:srgbClr val="00A8CC"/>
          </a:solidFill>
          <a:ln/>
        </p:spPr>
      </p:sp>
      <p:sp>
        <p:nvSpPr>
          <p:cNvPr id="32" name="Text 30"/>
          <p:cNvSpPr/>
          <p:nvPr/>
        </p:nvSpPr>
        <p:spPr>
          <a:xfrm>
            <a:off x="365760" y="4078224"/>
            <a:ext cx="3474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68096" y="4096512"/>
            <a:ext cx="37673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Francis Obondi Abongo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800600" y="1005840"/>
            <a:ext cx="4206240" cy="475488"/>
          </a:xfrm>
          <a:prstGeom prst="rect">
            <a:avLst/>
          </a:prstGeom>
          <a:solidFill>
            <a:srgbClr val="0F2340"/>
          </a:solidFill>
          <a:ln/>
        </p:spPr>
      </p:sp>
      <p:sp>
        <p:nvSpPr>
          <p:cNvPr id="35" name="Shape 33"/>
          <p:cNvSpPr/>
          <p:nvPr/>
        </p:nvSpPr>
        <p:spPr>
          <a:xfrm>
            <a:off x="4800600" y="1005840"/>
            <a:ext cx="347472" cy="475488"/>
          </a:xfrm>
          <a:prstGeom prst="rect">
            <a:avLst/>
          </a:prstGeom>
          <a:solidFill>
            <a:srgbClr val="00A8CC"/>
          </a:solidFill>
          <a:ln/>
        </p:spPr>
      </p:sp>
      <p:sp>
        <p:nvSpPr>
          <p:cNvPr id="36" name="Text 34"/>
          <p:cNvSpPr/>
          <p:nvPr/>
        </p:nvSpPr>
        <p:spPr>
          <a:xfrm>
            <a:off x="4800600" y="1005840"/>
            <a:ext cx="3474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202936" y="1024128"/>
            <a:ext cx="37673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Mathew Kipkoros Kibet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4800600" y="1517904"/>
            <a:ext cx="4206240" cy="475488"/>
          </a:xfrm>
          <a:prstGeom prst="rect">
            <a:avLst/>
          </a:prstGeom>
          <a:solidFill>
            <a:srgbClr val="122848"/>
          </a:solidFill>
          <a:ln/>
        </p:spPr>
      </p:sp>
      <p:sp>
        <p:nvSpPr>
          <p:cNvPr id="39" name="Shape 37"/>
          <p:cNvSpPr/>
          <p:nvPr/>
        </p:nvSpPr>
        <p:spPr>
          <a:xfrm>
            <a:off x="4800600" y="1517904"/>
            <a:ext cx="347472" cy="475488"/>
          </a:xfrm>
          <a:prstGeom prst="rect">
            <a:avLst/>
          </a:prstGeom>
          <a:solidFill>
            <a:srgbClr val="00A8CC"/>
          </a:solidFill>
          <a:ln/>
        </p:spPr>
      </p:sp>
      <p:sp>
        <p:nvSpPr>
          <p:cNvPr id="40" name="Text 38"/>
          <p:cNvSpPr/>
          <p:nvPr/>
        </p:nvSpPr>
        <p:spPr>
          <a:xfrm>
            <a:off x="4800600" y="1517904"/>
            <a:ext cx="3474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202936" y="1536192"/>
            <a:ext cx="37673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Lorna Stacey Mutunga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4800600" y="2029968"/>
            <a:ext cx="4206240" cy="475488"/>
          </a:xfrm>
          <a:prstGeom prst="rect">
            <a:avLst/>
          </a:prstGeom>
          <a:solidFill>
            <a:srgbClr val="0F2340"/>
          </a:solidFill>
          <a:ln/>
        </p:spPr>
      </p:sp>
      <p:sp>
        <p:nvSpPr>
          <p:cNvPr id="43" name="Shape 41"/>
          <p:cNvSpPr/>
          <p:nvPr/>
        </p:nvSpPr>
        <p:spPr>
          <a:xfrm>
            <a:off x="4800600" y="2029968"/>
            <a:ext cx="347472" cy="475488"/>
          </a:xfrm>
          <a:prstGeom prst="rect">
            <a:avLst/>
          </a:prstGeom>
          <a:solidFill>
            <a:srgbClr val="00A8CC"/>
          </a:solidFill>
          <a:ln/>
        </p:spPr>
      </p:sp>
      <p:sp>
        <p:nvSpPr>
          <p:cNvPr id="44" name="Text 42"/>
          <p:cNvSpPr/>
          <p:nvPr/>
        </p:nvSpPr>
        <p:spPr>
          <a:xfrm>
            <a:off x="4800600" y="2029968"/>
            <a:ext cx="3474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202936" y="2048256"/>
            <a:ext cx="37673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Festus Wanjohi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4800600" y="2542032"/>
            <a:ext cx="4206240" cy="475488"/>
          </a:xfrm>
          <a:prstGeom prst="rect">
            <a:avLst/>
          </a:prstGeom>
          <a:solidFill>
            <a:srgbClr val="122848"/>
          </a:solidFill>
          <a:ln/>
        </p:spPr>
      </p:sp>
      <p:sp>
        <p:nvSpPr>
          <p:cNvPr id="47" name="Shape 45"/>
          <p:cNvSpPr/>
          <p:nvPr/>
        </p:nvSpPr>
        <p:spPr>
          <a:xfrm>
            <a:off x="4800600" y="2542032"/>
            <a:ext cx="347472" cy="475488"/>
          </a:xfrm>
          <a:prstGeom prst="rect">
            <a:avLst/>
          </a:prstGeom>
          <a:solidFill>
            <a:srgbClr val="00A8CC"/>
          </a:solidFill>
          <a:ln/>
        </p:spPr>
      </p:sp>
      <p:sp>
        <p:nvSpPr>
          <p:cNvPr id="48" name="Text 46"/>
          <p:cNvSpPr/>
          <p:nvPr/>
        </p:nvSpPr>
        <p:spPr>
          <a:xfrm>
            <a:off x="4800600" y="2542032"/>
            <a:ext cx="3474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202936" y="2560320"/>
            <a:ext cx="37673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Dominic Munyao Mule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4800600" y="3054096"/>
            <a:ext cx="4206240" cy="475488"/>
          </a:xfrm>
          <a:prstGeom prst="rect">
            <a:avLst/>
          </a:prstGeom>
          <a:solidFill>
            <a:srgbClr val="0F2340"/>
          </a:solidFill>
          <a:ln/>
        </p:spPr>
      </p:sp>
      <p:sp>
        <p:nvSpPr>
          <p:cNvPr id="51" name="Shape 49"/>
          <p:cNvSpPr/>
          <p:nvPr/>
        </p:nvSpPr>
        <p:spPr>
          <a:xfrm>
            <a:off x="4800600" y="3054096"/>
            <a:ext cx="347472" cy="475488"/>
          </a:xfrm>
          <a:prstGeom prst="rect">
            <a:avLst/>
          </a:prstGeom>
          <a:solidFill>
            <a:srgbClr val="00A8CC"/>
          </a:solidFill>
          <a:ln/>
        </p:spPr>
      </p:sp>
      <p:sp>
        <p:nvSpPr>
          <p:cNvPr id="52" name="Text 50"/>
          <p:cNvSpPr/>
          <p:nvPr/>
        </p:nvSpPr>
        <p:spPr>
          <a:xfrm>
            <a:off x="4800600" y="3054096"/>
            <a:ext cx="3474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5202936" y="3072384"/>
            <a:ext cx="37673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 Njambi Kiburio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>
            <a:off x="4800600" y="3566160"/>
            <a:ext cx="4206240" cy="475488"/>
          </a:xfrm>
          <a:prstGeom prst="rect">
            <a:avLst/>
          </a:prstGeom>
          <a:solidFill>
            <a:srgbClr val="122848"/>
          </a:solidFill>
          <a:ln/>
        </p:spPr>
      </p:sp>
      <p:sp>
        <p:nvSpPr>
          <p:cNvPr id="55" name="Shape 53"/>
          <p:cNvSpPr/>
          <p:nvPr/>
        </p:nvSpPr>
        <p:spPr>
          <a:xfrm>
            <a:off x="4800600" y="3566160"/>
            <a:ext cx="347472" cy="475488"/>
          </a:xfrm>
          <a:prstGeom prst="rect">
            <a:avLst/>
          </a:prstGeom>
          <a:solidFill>
            <a:srgbClr val="00A8CC"/>
          </a:solidFill>
          <a:ln/>
        </p:spPr>
      </p:sp>
      <p:sp>
        <p:nvSpPr>
          <p:cNvPr id="56" name="Text 54"/>
          <p:cNvSpPr/>
          <p:nvPr/>
        </p:nvSpPr>
        <p:spPr>
          <a:xfrm>
            <a:off x="4800600" y="3566160"/>
            <a:ext cx="3474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5202936" y="3584448"/>
            <a:ext cx="37673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Hagee Tonui</a:t>
            </a:r>
            <a:endParaRPr lang="en-US" sz="1300" dirty="0"/>
          </a:p>
        </p:txBody>
      </p:sp>
      <p:sp>
        <p:nvSpPr>
          <p:cNvPr id="58" name="Shape 56"/>
          <p:cNvSpPr/>
          <p:nvPr/>
        </p:nvSpPr>
        <p:spPr>
          <a:xfrm>
            <a:off x="4800600" y="4078224"/>
            <a:ext cx="4206240" cy="475488"/>
          </a:xfrm>
          <a:prstGeom prst="rect">
            <a:avLst/>
          </a:prstGeom>
          <a:solidFill>
            <a:srgbClr val="0F2340"/>
          </a:solidFill>
          <a:ln/>
        </p:spPr>
      </p:sp>
      <p:sp>
        <p:nvSpPr>
          <p:cNvPr id="59" name="Shape 57"/>
          <p:cNvSpPr/>
          <p:nvPr/>
        </p:nvSpPr>
        <p:spPr>
          <a:xfrm>
            <a:off x="4800600" y="4078224"/>
            <a:ext cx="347472" cy="475488"/>
          </a:xfrm>
          <a:prstGeom prst="rect">
            <a:avLst/>
          </a:prstGeom>
          <a:solidFill>
            <a:srgbClr val="00A8CC"/>
          </a:solidFill>
          <a:ln/>
        </p:spPr>
      </p:sp>
      <p:sp>
        <p:nvSpPr>
          <p:cNvPr id="60" name="Text 58"/>
          <p:cNvSpPr/>
          <p:nvPr/>
        </p:nvSpPr>
        <p:spPr>
          <a:xfrm>
            <a:off x="4800600" y="4078224"/>
            <a:ext cx="3474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5202936" y="4096512"/>
            <a:ext cx="37673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Joseph Mutemi</a:t>
            </a:r>
            <a:endParaRPr lang="en-US" sz="1300" dirty="0"/>
          </a:p>
        </p:txBody>
      </p:sp>
      <p:sp>
        <p:nvSpPr>
          <p:cNvPr id="62" name="Shape 60"/>
          <p:cNvSpPr/>
          <p:nvPr/>
        </p:nvSpPr>
        <p:spPr>
          <a:xfrm>
            <a:off x="164592" y="4846320"/>
            <a:ext cx="8979408" cy="297180"/>
          </a:xfrm>
          <a:prstGeom prst="rect">
            <a:avLst/>
          </a:prstGeom>
          <a:solidFill>
            <a:srgbClr val="0A1528"/>
          </a:solidFill>
          <a:ln/>
        </p:spPr>
      </p:sp>
      <p:sp>
        <p:nvSpPr>
          <p:cNvPr id="63" name="Text 61"/>
          <p:cNvSpPr/>
          <p:nvPr/>
        </p:nvSpPr>
        <p:spPr>
          <a:xfrm>
            <a:off x="365760" y="4846320"/>
            <a:ext cx="850392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0B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Design &amp; Analysis  |  MSc Artificial Intelligence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777240"/>
          </a:xfrm>
          <a:prstGeom prst="rect">
            <a:avLst/>
          </a:prstGeom>
          <a:solidFill>
            <a:srgbClr val="00A8CC"/>
          </a:solidFill>
          <a:ln/>
        </p:spPr>
      </p:sp>
      <p:sp>
        <p:nvSpPr>
          <p:cNvPr id="4" name="Text 2"/>
          <p:cNvSpPr/>
          <p:nvPr/>
        </p:nvSpPr>
        <p:spPr>
          <a:xfrm>
            <a:off x="347472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We'll Cover Today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0B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Design &amp; Analysis  |  MSc Artificial Intelligence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41148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960120"/>
            <a:ext cx="502920" cy="1097280"/>
          </a:xfrm>
          <a:prstGeom prst="rect">
            <a:avLst/>
          </a:prstGeom>
          <a:solidFill>
            <a:srgbClr val="1A56B0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960120"/>
            <a:ext cx="502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60120" y="960120"/>
            <a:ext cx="3429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Algorithms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2240280"/>
            <a:ext cx="41148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2240280"/>
            <a:ext cx="502920" cy="1097280"/>
          </a:xfrm>
          <a:prstGeom prst="rect">
            <a:avLst/>
          </a:prstGeom>
          <a:solidFill>
            <a:srgbClr val="1A56B0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2240280"/>
            <a:ext cx="502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60120" y="2240280"/>
            <a:ext cx="3429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Design vs Analysis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365760" y="3520440"/>
            <a:ext cx="41148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3520440"/>
            <a:ext cx="502920" cy="1097280"/>
          </a:xfrm>
          <a:prstGeom prst="rect">
            <a:avLst/>
          </a:prstGeom>
          <a:solidFill>
            <a:srgbClr val="1A56B0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3520440"/>
            <a:ext cx="502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60120" y="3520440"/>
            <a:ext cx="3429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Strategies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846320" y="960120"/>
            <a:ext cx="41148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46320" y="960120"/>
            <a:ext cx="502920" cy="1097280"/>
          </a:xfrm>
          <a:prstGeom prst="rect">
            <a:avLst/>
          </a:prstGeom>
          <a:solidFill>
            <a:srgbClr val="1A56B0"/>
          </a:solidFill>
          <a:ln/>
        </p:spPr>
      </p:sp>
      <p:sp>
        <p:nvSpPr>
          <p:cNvPr id="21" name="Text 19"/>
          <p:cNvSpPr/>
          <p:nvPr/>
        </p:nvSpPr>
        <p:spPr>
          <a:xfrm>
            <a:off x="4846320" y="960120"/>
            <a:ext cx="502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440680" y="960120"/>
            <a:ext cx="3429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&amp; Space Complexity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846320" y="2240280"/>
            <a:ext cx="41148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46320" y="2240280"/>
            <a:ext cx="502920" cy="1097280"/>
          </a:xfrm>
          <a:prstGeom prst="rect">
            <a:avLst/>
          </a:prstGeom>
          <a:solidFill>
            <a:srgbClr val="1A56B0"/>
          </a:solidFill>
          <a:ln/>
        </p:spPr>
      </p:sp>
      <p:sp>
        <p:nvSpPr>
          <p:cNvPr id="25" name="Text 23"/>
          <p:cNvSpPr/>
          <p:nvPr/>
        </p:nvSpPr>
        <p:spPr>
          <a:xfrm>
            <a:off x="4846320" y="2240280"/>
            <a:ext cx="502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440680" y="2240280"/>
            <a:ext cx="3429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O Notation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4846320" y="3520440"/>
            <a:ext cx="41148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846320" y="3520440"/>
            <a:ext cx="502920" cy="1097280"/>
          </a:xfrm>
          <a:prstGeom prst="rect">
            <a:avLst/>
          </a:prstGeom>
          <a:solidFill>
            <a:srgbClr val="1A56B0"/>
          </a:solidFill>
          <a:ln/>
        </p:spPr>
      </p:sp>
      <p:sp>
        <p:nvSpPr>
          <p:cNvPr id="29" name="Text 27"/>
          <p:cNvSpPr/>
          <p:nvPr/>
        </p:nvSpPr>
        <p:spPr>
          <a:xfrm>
            <a:off x="4846320" y="3520440"/>
            <a:ext cx="502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5440680" y="3520440"/>
            <a:ext cx="3429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Examples &amp; Summary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56B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A8CC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148840"/>
            <a:ext cx="8229600" cy="54864"/>
          </a:xfrm>
          <a:prstGeom prst="rect">
            <a:avLst/>
          </a:prstGeom>
          <a:solidFill>
            <a:srgbClr val="00A8CC">
              <a:alpha val="5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4864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0" b="1" dirty="0">
                <a:solidFill>
                  <a:srgbClr val="FFFFFF">
                    <a:alpha val="80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9000" dirty="0"/>
          </a:p>
        </p:txBody>
      </p:sp>
      <p:sp>
        <p:nvSpPr>
          <p:cNvPr id="5" name="Text 3"/>
          <p:cNvSpPr/>
          <p:nvPr/>
        </p:nvSpPr>
        <p:spPr>
          <a:xfrm>
            <a:off x="2194560" y="100584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Introduction to Algorithms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2194560" y="1965960"/>
            <a:ext cx="6583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they are, why they matter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777240"/>
          </a:xfrm>
          <a:prstGeom prst="rect">
            <a:avLst/>
          </a:prstGeom>
          <a:solidFill>
            <a:srgbClr val="00A8CC"/>
          </a:solidFill>
          <a:ln/>
        </p:spPr>
      </p:sp>
      <p:sp>
        <p:nvSpPr>
          <p:cNvPr id="4" name="Text 2"/>
          <p:cNvSpPr/>
          <p:nvPr/>
        </p:nvSpPr>
        <p:spPr>
          <a:xfrm>
            <a:off x="347472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an Algorithm?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0B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Design &amp; Analysis  |  MSc Artificial Intelligence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914400"/>
            <a:ext cx="402336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914400"/>
            <a:ext cx="4023360" cy="45720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9144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Definition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02920" y="1417320"/>
            <a:ext cx="374904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step-by-step procedure to solve a problem.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Properties: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Input  —  zero or more inputs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Output  —  at least one output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Definiteness  —  clear, unambiguous steps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Finiteness  —  terminates in finite time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Effectiveness  —  each step is doable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54880" y="914400"/>
            <a:ext cx="4023360" cy="1645920"/>
          </a:xfrm>
          <a:prstGeom prst="rect">
            <a:avLst/>
          </a:prstGeom>
          <a:solidFill>
            <a:srgbClr val="00A8CC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46320" y="9601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Real-World Analogy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46320" y="137160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recipe is an algorithm: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Gather ingredients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Follow each step in order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Produce the final dish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754880" y="2788920"/>
            <a:ext cx="402336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2788920"/>
            <a:ext cx="4023360" cy="411480"/>
          </a:xfrm>
          <a:prstGeom prst="rect">
            <a:avLst/>
          </a:prstGeom>
          <a:solidFill>
            <a:srgbClr val="1A56B0"/>
          </a:solidFill>
          <a:ln/>
        </p:spPr>
      </p:sp>
      <p:sp>
        <p:nvSpPr>
          <p:cNvPr id="16" name="Text 14"/>
          <p:cNvSpPr/>
          <p:nvPr/>
        </p:nvSpPr>
        <p:spPr>
          <a:xfrm>
            <a:off x="4846320" y="27889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Algorithms Matter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846320" y="3273552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Power every software application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Enable efficient data processing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Critical for AI, databases, networks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56B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A8CC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148840"/>
            <a:ext cx="8229600" cy="54864"/>
          </a:xfrm>
          <a:prstGeom prst="rect">
            <a:avLst/>
          </a:prstGeom>
          <a:solidFill>
            <a:srgbClr val="00A8CC">
              <a:alpha val="5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4864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0" b="1" dirty="0">
                <a:solidFill>
                  <a:srgbClr val="FFFFFF">
                    <a:alpha val="80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9000" dirty="0"/>
          </a:p>
        </p:txBody>
      </p:sp>
      <p:sp>
        <p:nvSpPr>
          <p:cNvPr id="5" name="Text 3"/>
          <p:cNvSpPr/>
          <p:nvPr/>
        </p:nvSpPr>
        <p:spPr>
          <a:xfrm>
            <a:off x="2194560" y="100584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Design vs Analysis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2194560" y="1965960"/>
            <a:ext cx="6583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sides of the same coin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777240"/>
          </a:xfrm>
          <a:prstGeom prst="rect">
            <a:avLst/>
          </a:prstGeom>
          <a:solidFill>
            <a:srgbClr val="00A8CC"/>
          </a:solidFill>
          <a:ln/>
        </p:spPr>
      </p:sp>
      <p:sp>
        <p:nvSpPr>
          <p:cNvPr id="4" name="Text 2"/>
          <p:cNvSpPr/>
          <p:nvPr/>
        </p:nvSpPr>
        <p:spPr>
          <a:xfrm>
            <a:off x="347472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Algorithm Design vs Algorithm Analysis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0B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Design &amp; Analysis  |  MSc Artificial Intelligence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960120"/>
            <a:ext cx="416052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960120"/>
            <a:ext cx="4160520" cy="457200"/>
          </a:xfrm>
          <a:prstGeom prst="rect">
            <a:avLst/>
          </a:prstGeom>
          <a:solidFill>
            <a:srgbClr val="1A56B0"/>
          </a:solidFill>
          <a:ln/>
        </p:spPr>
      </p:sp>
      <p:sp>
        <p:nvSpPr>
          <p:cNvPr id="9" name="Text 7"/>
          <p:cNvSpPr/>
          <p:nvPr/>
        </p:nvSpPr>
        <p:spPr>
          <a:xfrm>
            <a:off x="384048" y="9601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⚙  Algorithm DESIGN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11480" y="1508760"/>
            <a:ext cx="38404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Focus: How the algorithm works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Define the step-by-step procedure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Choose appropriate data structures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Select the strategy: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– Brute Force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– Divide and Conquer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– Greedy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– Dynamic Programming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206240" y="2331720"/>
            <a:ext cx="777240" cy="777240"/>
          </a:xfrm>
          <a:prstGeom prst="ellipse">
            <a:avLst/>
          </a:prstGeom>
          <a:solidFill>
            <a:srgbClr val="00A8CC"/>
          </a:solidFill>
          <a:ln/>
        </p:spPr>
      </p:sp>
      <p:sp>
        <p:nvSpPr>
          <p:cNvPr id="12" name="Text 10"/>
          <p:cNvSpPr/>
          <p:nvPr/>
        </p:nvSpPr>
        <p:spPr>
          <a:xfrm>
            <a:off x="4206240" y="23317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709160" y="960120"/>
            <a:ext cx="416052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09160" y="960120"/>
            <a:ext cx="4160520" cy="45720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15" name="Text 13"/>
          <p:cNvSpPr/>
          <p:nvPr/>
        </p:nvSpPr>
        <p:spPr>
          <a:xfrm>
            <a:off x="4818888" y="9601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📊  Algorithm ANALYSIS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818888" y="1508760"/>
            <a:ext cx="38404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Focus: How efficient it is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Measure Time Complexity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– How fast does it run?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Measure Space Complexity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– How much memory does it use?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 Big O Notation to classify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Compare algorithms objectively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56B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A8CC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148840"/>
            <a:ext cx="8229600" cy="54864"/>
          </a:xfrm>
          <a:prstGeom prst="rect">
            <a:avLst/>
          </a:prstGeom>
          <a:solidFill>
            <a:srgbClr val="00A8CC">
              <a:alpha val="5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4864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0" b="1" dirty="0">
                <a:solidFill>
                  <a:srgbClr val="FFFFFF">
                    <a:alpha val="80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9000" dirty="0"/>
          </a:p>
        </p:txBody>
      </p:sp>
      <p:sp>
        <p:nvSpPr>
          <p:cNvPr id="5" name="Text 3"/>
          <p:cNvSpPr/>
          <p:nvPr/>
        </p:nvSpPr>
        <p:spPr>
          <a:xfrm>
            <a:off x="2194560" y="100584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Design Strategies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2194560" y="1965960"/>
            <a:ext cx="6583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&amp; Conquer · Greedy · Dynamic Programming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777240"/>
          </a:xfrm>
          <a:prstGeom prst="rect">
            <a:avLst/>
          </a:prstGeom>
          <a:solidFill>
            <a:srgbClr val="00A8CC"/>
          </a:solidFill>
          <a:ln/>
        </p:spPr>
      </p:sp>
      <p:sp>
        <p:nvSpPr>
          <p:cNvPr id="4" name="Text 2"/>
          <p:cNvSpPr/>
          <p:nvPr/>
        </p:nvSpPr>
        <p:spPr>
          <a:xfrm>
            <a:off x="347472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Divide and Conquer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0B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Design &amp; Analysis  |  MSc Artificial Intelligence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960120"/>
            <a:ext cx="2651760" cy="2011680"/>
          </a:xfrm>
          <a:prstGeom prst="rect">
            <a:avLst/>
          </a:prstGeom>
          <a:solidFill>
            <a:srgbClr val="1A56B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" y="10058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DIVIDE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11480" y="1572768"/>
            <a:ext cx="2468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problem into smaller, similar sub-problems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971800" y="1965960"/>
            <a:ext cx="256032" cy="0"/>
          </a:xfrm>
          <a:prstGeom prst="line">
            <a:avLst/>
          </a:prstGeom>
          <a:noFill/>
          <a:ln w="25400">
            <a:solidFill>
              <a:srgbClr val="0D1B3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27832" y="960120"/>
            <a:ext cx="2651760" cy="2011680"/>
          </a:xfrm>
          <a:prstGeom prst="rect">
            <a:avLst/>
          </a:prstGeom>
          <a:solidFill>
            <a:srgbClr val="0D1B3E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27832" y="10058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CONQUER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319272" y="1572768"/>
            <a:ext cx="2468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each sub-problem recursively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879592" y="1965960"/>
            <a:ext cx="256032" cy="0"/>
          </a:xfrm>
          <a:prstGeom prst="line">
            <a:avLst/>
          </a:prstGeom>
          <a:noFill/>
          <a:ln w="25400">
            <a:solidFill>
              <a:srgbClr val="0D1B3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35624" y="960120"/>
            <a:ext cx="2651760" cy="2011680"/>
          </a:xfrm>
          <a:prstGeom prst="rect">
            <a:avLst/>
          </a:prstGeom>
          <a:solidFill>
            <a:srgbClr val="00A8CC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135624" y="10058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COMBINE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227064" y="1572768"/>
            <a:ext cx="2468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sub-solutions into the final answer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20040" y="3246120"/>
            <a:ext cx="502920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3246120"/>
            <a:ext cx="5029200" cy="384048"/>
          </a:xfrm>
          <a:prstGeom prst="rect">
            <a:avLst/>
          </a:prstGeom>
          <a:solidFill>
            <a:srgbClr val="1A56B0"/>
          </a:solidFill>
          <a:ln/>
        </p:spPr>
      </p:sp>
      <p:sp>
        <p:nvSpPr>
          <p:cNvPr id="20" name="Text 18"/>
          <p:cNvSpPr/>
          <p:nvPr/>
        </p:nvSpPr>
        <p:spPr>
          <a:xfrm>
            <a:off x="438912" y="324612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Classic Examples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38912" y="370332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Merge Sort  —  split array, sort halves, merge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Quick Sort  —  partition around pivot, recurse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Binary Search  —  halve search space each step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577840" y="3246120"/>
            <a:ext cx="3246120" cy="1508760"/>
          </a:xfrm>
          <a:prstGeom prst="rect">
            <a:avLst/>
          </a:prstGeom>
          <a:solidFill>
            <a:srgbClr val="00A8CC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669280" y="329184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When to Use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669280" y="3730752"/>
            <a:ext cx="30175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Problem breaks into similar sub-problems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Large datasets need efficient sorting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Sub-problems are independent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777240"/>
          </a:xfrm>
          <a:prstGeom prst="rect">
            <a:avLst/>
          </a:prstGeom>
          <a:solidFill>
            <a:srgbClr val="00A8CC"/>
          </a:solidFill>
          <a:ln/>
        </p:spPr>
      </p:sp>
      <p:sp>
        <p:nvSpPr>
          <p:cNvPr id="4" name="Text 2"/>
          <p:cNvSpPr/>
          <p:nvPr/>
        </p:nvSpPr>
        <p:spPr>
          <a:xfrm>
            <a:off x="347472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Greedy Algorithms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0B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Design &amp; Analysis  |  MSc Artificial Intelligence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960120"/>
            <a:ext cx="4663440" cy="1417320"/>
          </a:xfrm>
          <a:prstGeom prst="rect">
            <a:avLst/>
          </a:prstGeom>
          <a:solidFill>
            <a:srgbClr val="0D1B3E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11480" y="98755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8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Core Idea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11480" y="1389888"/>
            <a:ext cx="4389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"Make the best locally available choice at each step,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hoping to reach a global optimum."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2560320"/>
            <a:ext cx="411480" cy="411480"/>
          </a:xfrm>
          <a:prstGeom prst="ellipse">
            <a:avLst/>
          </a:prstGeom>
          <a:solidFill>
            <a:srgbClr val="00A8CC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" y="2560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77240" y="2587752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best option available now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74320" y="3246120"/>
            <a:ext cx="411480" cy="411480"/>
          </a:xfrm>
          <a:prstGeom prst="ellipse">
            <a:avLst/>
          </a:prstGeom>
          <a:solidFill>
            <a:srgbClr val="00A8CC"/>
          </a:solidFill>
          <a:ln/>
        </p:spPr>
      </p:sp>
      <p:sp>
        <p:nvSpPr>
          <p:cNvPr id="14" name="Text 12"/>
          <p:cNvSpPr/>
          <p:nvPr/>
        </p:nvSpPr>
        <p:spPr>
          <a:xfrm>
            <a:off x="274320" y="3246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77240" y="3273552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it — commit, no looking back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74320" y="3931920"/>
            <a:ext cx="411480" cy="411480"/>
          </a:xfrm>
          <a:prstGeom prst="ellipse">
            <a:avLst/>
          </a:prstGeom>
          <a:solidFill>
            <a:srgbClr val="00A8CC"/>
          </a:solidFill>
          <a:ln/>
        </p:spPr>
      </p:sp>
      <p:sp>
        <p:nvSpPr>
          <p:cNvPr id="17" name="Text 15"/>
          <p:cNvSpPr/>
          <p:nvPr/>
        </p:nvSpPr>
        <p:spPr>
          <a:xfrm>
            <a:off x="274320" y="3931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77240" y="3959352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until solution is complete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212080" y="960120"/>
            <a:ext cx="365760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212080" y="960120"/>
            <a:ext cx="109728" cy="123444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21" name="Text 19"/>
          <p:cNvSpPr/>
          <p:nvPr/>
        </p:nvSpPr>
        <p:spPr>
          <a:xfrm>
            <a:off x="5413248" y="1014984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Task Scheduling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413248" y="1435608"/>
            <a:ext cx="3337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shortest task first to minimise waiting time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212080" y="2331720"/>
            <a:ext cx="365760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212080" y="2331720"/>
            <a:ext cx="109728" cy="123444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25" name="Text 23"/>
          <p:cNvSpPr/>
          <p:nvPr/>
        </p:nvSpPr>
        <p:spPr>
          <a:xfrm>
            <a:off x="5413248" y="2386584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Minimum Spanning Tree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413248" y="2807208"/>
            <a:ext cx="3337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Prim's &amp; Kruskal's add lowest-weight edges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212080" y="3703320"/>
            <a:ext cx="365760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212080" y="3703320"/>
            <a:ext cx="109728" cy="123444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29" name="Text 27"/>
          <p:cNvSpPr/>
          <p:nvPr/>
        </p:nvSpPr>
        <p:spPr>
          <a:xfrm>
            <a:off x="5413248" y="3758184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Dijkstra's Algorithm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413248" y="4178808"/>
            <a:ext cx="3337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expand the nearest unvisited node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74320" y="459028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Greedy does NOT always give the global optimum!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777240"/>
          </a:xfrm>
          <a:prstGeom prst="rect">
            <a:avLst/>
          </a:prstGeom>
          <a:solidFill>
            <a:srgbClr val="00A8CC"/>
          </a:solidFill>
          <a:ln/>
        </p:spPr>
      </p:sp>
      <p:sp>
        <p:nvSpPr>
          <p:cNvPr id="4" name="Text 2"/>
          <p:cNvSpPr/>
          <p:nvPr/>
        </p:nvSpPr>
        <p:spPr>
          <a:xfrm>
            <a:off x="347472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Dynamic Programming (DP)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0B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Design &amp; Analysis  |  MSc Artificial Intelligence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960120"/>
            <a:ext cx="8595360" cy="640080"/>
          </a:xfrm>
          <a:prstGeom prst="rect">
            <a:avLst/>
          </a:prstGeom>
          <a:solidFill>
            <a:srgbClr val="1A56B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9601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Idea: Solve each sub-problem ONCE — store the result — reuse it later (no repeated work)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74320" y="1783080"/>
            <a:ext cx="411480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783080"/>
            <a:ext cx="4114800" cy="384048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11" name="Text 9"/>
          <p:cNvSpPr/>
          <p:nvPr/>
        </p:nvSpPr>
        <p:spPr>
          <a:xfrm>
            <a:off x="384048" y="1783080"/>
            <a:ext cx="39867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Condition 1: Overlapping Sub-problems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5760" y="2221992"/>
            <a:ext cx="3931920" cy="9052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sub-problem is solved multiple times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fib(5) needs fib(4) and fib(3); fib(4) also needs fib(3)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754880" y="1783080"/>
            <a:ext cx="411480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1783080"/>
            <a:ext cx="4114800" cy="384048"/>
          </a:xfrm>
          <a:prstGeom prst="rect">
            <a:avLst/>
          </a:prstGeom>
          <a:solidFill>
            <a:srgbClr val="1A56B0"/>
          </a:solidFill>
          <a:ln/>
        </p:spPr>
      </p:sp>
      <p:sp>
        <p:nvSpPr>
          <p:cNvPr id="15" name="Text 13"/>
          <p:cNvSpPr/>
          <p:nvPr/>
        </p:nvSpPr>
        <p:spPr>
          <a:xfrm>
            <a:off x="4864608" y="1783080"/>
            <a:ext cx="39867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Condition 2: Optimal Substructure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46320" y="2221992"/>
            <a:ext cx="3931920" cy="9052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solution is built from optimal sub-solutions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Shortest path A→C via B = shortest A→B + shortest B→C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74320" y="3383280"/>
            <a:ext cx="411480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3383280"/>
            <a:ext cx="4114800" cy="365760"/>
          </a:xfrm>
          <a:prstGeom prst="rect">
            <a:avLst/>
          </a:prstGeom>
          <a:solidFill>
            <a:srgbClr val="00A8CC"/>
          </a:solidFill>
          <a:ln/>
        </p:spPr>
      </p:sp>
      <p:sp>
        <p:nvSpPr>
          <p:cNvPr id="19" name="Text 17"/>
          <p:cNvSpPr/>
          <p:nvPr/>
        </p:nvSpPr>
        <p:spPr>
          <a:xfrm>
            <a:off x="384048" y="3383280"/>
            <a:ext cx="3895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Memoization  (Top-Down)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84048" y="3813048"/>
            <a:ext cx="389534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recursively; cache results in a table to avoid recomputation. Natural, easy to implement.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754880" y="3383280"/>
            <a:ext cx="411480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3383280"/>
            <a:ext cx="4114800" cy="36576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23" name="Text 21"/>
          <p:cNvSpPr/>
          <p:nvPr/>
        </p:nvSpPr>
        <p:spPr>
          <a:xfrm>
            <a:off x="4864608" y="3383280"/>
            <a:ext cx="3895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Tabulation  (Bottom-Up)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64608" y="3813048"/>
            <a:ext cx="389534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a table iteratively from base cases up. More space-efficient, avoids recursion overhead.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777240"/>
          </a:xfrm>
          <a:prstGeom prst="rect">
            <a:avLst/>
          </a:prstGeom>
          <a:solidFill>
            <a:srgbClr val="00A8CC"/>
          </a:solidFill>
          <a:ln/>
        </p:spPr>
      </p:sp>
      <p:sp>
        <p:nvSpPr>
          <p:cNvPr id="4" name="Text 2"/>
          <p:cNvSpPr/>
          <p:nvPr/>
        </p:nvSpPr>
        <p:spPr>
          <a:xfrm>
            <a:off x="347472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DP in Action: Fibonacci Numbers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0B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Design &amp; Analysis  |  MSc Artificial Intelligence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96012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Without DP — Repeated Work: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1325880"/>
            <a:ext cx="5394960" cy="1143000"/>
          </a:xfrm>
          <a:prstGeom prst="rect">
            <a:avLst/>
          </a:prstGeom>
          <a:solidFill>
            <a:srgbClr val="1E2D45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325880"/>
            <a:ext cx="109728" cy="1143000"/>
          </a:xfrm>
          <a:prstGeom prst="rect">
            <a:avLst/>
          </a:prstGeom>
          <a:solidFill>
            <a:srgbClr val="00A8CC"/>
          </a:solidFill>
          <a:ln/>
        </p:spPr>
      </p:sp>
      <p:sp>
        <p:nvSpPr>
          <p:cNvPr id="10" name="Text 8"/>
          <p:cNvSpPr/>
          <p:nvPr/>
        </p:nvSpPr>
        <p:spPr>
          <a:xfrm>
            <a:off x="530352" y="1325880"/>
            <a:ext cx="5193792" cy="11430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fib(n):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 &lt;= 1: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fib(n-1) + fib(n-2)   # ❌ recalculates same values!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943600" y="1115568"/>
            <a:ext cx="2743200" cy="1508760"/>
          </a:xfrm>
          <a:prstGeom prst="ellipse">
            <a:avLst/>
          </a:prstGeom>
          <a:solidFill>
            <a:srgbClr val="F39C1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0" y="1115568"/>
            <a:ext cx="27432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Time Complexity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O(2ⁿ)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Exponential!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5760" y="265176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With DP (Memoization) — Efficient: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65760" y="3017520"/>
            <a:ext cx="5394960" cy="1600200"/>
          </a:xfrm>
          <a:prstGeom prst="rect">
            <a:avLst/>
          </a:prstGeom>
          <a:solidFill>
            <a:srgbClr val="1E2D45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3017520"/>
            <a:ext cx="109728" cy="1600200"/>
          </a:xfrm>
          <a:prstGeom prst="rect">
            <a:avLst/>
          </a:prstGeom>
          <a:solidFill>
            <a:srgbClr val="00A8CC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017520"/>
            <a:ext cx="5193792" cy="16002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fib(n, memo={}):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 in memo: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memo[n]   # ✅ reuse stored result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 &lt;= 1: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memo[n] = fib(n-1, memo) + fib(n-2, memo)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memo[n]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943600" y="3017520"/>
            <a:ext cx="2743200" cy="1600200"/>
          </a:xfrm>
          <a:prstGeom prst="ellipse">
            <a:avLst/>
          </a:prstGeom>
          <a:solidFill>
            <a:srgbClr val="2ECC71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943600" y="3017520"/>
            <a:ext cx="27432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Time Complexity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O(n)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Linear!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56B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A8CC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148840"/>
            <a:ext cx="8229600" cy="54864"/>
          </a:xfrm>
          <a:prstGeom prst="rect">
            <a:avLst/>
          </a:prstGeom>
          <a:solidFill>
            <a:srgbClr val="00A8CC">
              <a:alpha val="5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4864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0" b="1" dirty="0">
                <a:solidFill>
                  <a:srgbClr val="FFFFFF">
                    <a:alpha val="80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9000" dirty="0"/>
          </a:p>
        </p:txBody>
      </p:sp>
      <p:sp>
        <p:nvSpPr>
          <p:cNvPr id="5" name="Text 3"/>
          <p:cNvSpPr/>
          <p:nvPr/>
        </p:nvSpPr>
        <p:spPr>
          <a:xfrm>
            <a:off x="2194560" y="100584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Algorithm Analysis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2194560" y="1965960"/>
            <a:ext cx="6583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Complexity · Space Complexity</a:t>
            </a:r>
            <a:endParaRPr lang="en-US" sz="1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777240"/>
          </a:xfrm>
          <a:prstGeom prst="rect">
            <a:avLst/>
          </a:prstGeom>
          <a:solidFill>
            <a:srgbClr val="00A8CC"/>
          </a:solidFill>
          <a:ln/>
        </p:spPr>
      </p:sp>
      <p:sp>
        <p:nvSpPr>
          <p:cNvPr id="4" name="Text 2"/>
          <p:cNvSpPr/>
          <p:nvPr/>
        </p:nvSpPr>
        <p:spPr>
          <a:xfrm>
            <a:off x="347472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Time Complexity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0B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Design &amp; Analysis  |  MSc Artificial Intelligence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932688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running time scale with input size n?</a:t>
            </a:r>
            <a:endParaRPr lang="en-US" sz="15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89888"/>
          <a:ext cx="8503920" cy="3337560"/>
        </p:xfrm>
        <a:graphic>
          <a:graphicData uri="http://schemas.openxmlformats.org/drawingml/2006/table">
            <a:tbl>
              <a:tblPr/>
              <a:tblGrid>
                <a:gridCol w="1005840"/>
                <a:gridCol w="1280160"/>
                <a:gridCol w="2651760"/>
                <a:gridCol w="3566160"/>
              </a:tblGrid>
              <a:tr h="5562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Growth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</a:tr>
              <a:tr h="5562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9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Constant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9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Flat — no change with 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9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Access array element by index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9EC"/>
                    </a:solidFill>
                  </a:tcPr>
                </a:tc>
              </a:tr>
              <a:tr h="5562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O(log n)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Logarithmic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Slow growth — very efficient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Binary Search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</a:tr>
              <a:tr h="5562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9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9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Proportional to input size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9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search, find_max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9EC"/>
                    </a:solidFill>
                  </a:tcPr>
                </a:tc>
              </a:tr>
              <a:tr h="5562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 log n)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Linearithmic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Efficient — common in good sorting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Merge Sort, Quick Sort (avg)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</a:tr>
              <a:tr h="5562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O(n²)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Quadratic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Grows rapidly — avoid for large 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Bubble Sort, print_all_pairs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777240"/>
          </a:xfrm>
          <a:prstGeom prst="rect">
            <a:avLst/>
          </a:prstGeom>
          <a:solidFill>
            <a:srgbClr val="00A8CC"/>
          </a:solidFill>
          <a:ln/>
        </p:spPr>
      </p:sp>
      <p:sp>
        <p:nvSpPr>
          <p:cNvPr id="4" name="Text 2"/>
          <p:cNvSpPr/>
          <p:nvPr/>
        </p:nvSpPr>
        <p:spPr>
          <a:xfrm>
            <a:off x="347472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Space Complexity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0B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Design &amp; Analysis  |  MSc Artificial Intelligence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932688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memory usage scale with input size n?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74320" y="1417320"/>
            <a:ext cx="278892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417320"/>
            <a:ext cx="2788920" cy="457200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10" name="Text 8"/>
          <p:cNvSpPr/>
          <p:nvPr/>
        </p:nvSpPr>
        <p:spPr>
          <a:xfrm>
            <a:off x="384048" y="14173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O(1)  Constant Space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84048" y="1947672"/>
            <a:ext cx="2542032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fixed number of variables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doesn't grow with 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compute_sum(n) — only uses 'total' and 'i'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0" y="1417320"/>
            <a:ext cx="278892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1417320"/>
            <a:ext cx="2788920" cy="457200"/>
          </a:xfrm>
          <a:prstGeom prst="rect">
            <a:avLst/>
          </a:prstGeom>
          <a:solidFill>
            <a:srgbClr val="1A56B0"/>
          </a:solidFill>
          <a:ln/>
        </p:spPr>
      </p:sp>
      <p:sp>
        <p:nvSpPr>
          <p:cNvPr id="14" name="Text 12"/>
          <p:cNvSpPr/>
          <p:nvPr/>
        </p:nvSpPr>
        <p:spPr>
          <a:xfrm>
            <a:off x="3310128" y="14173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O(n)  Linear Space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310128" y="1947672"/>
            <a:ext cx="2542032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grows proportionally to 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create_list(n) — stores n elements in a list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in algorithms that build data structures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26480" y="1417320"/>
            <a:ext cx="278892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1417320"/>
            <a:ext cx="2788920" cy="4572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8" name="Text 16"/>
          <p:cNvSpPr/>
          <p:nvPr/>
        </p:nvSpPr>
        <p:spPr>
          <a:xfrm>
            <a:off x="6236208" y="14173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O(n²)  Quadratic Space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236208" y="1947672"/>
            <a:ext cx="2542032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grows with square of 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2D matrix/grid of size n × 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Expensive — use only when necessary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56B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A8CC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148840"/>
            <a:ext cx="8229600" cy="54864"/>
          </a:xfrm>
          <a:prstGeom prst="rect">
            <a:avLst/>
          </a:prstGeom>
          <a:solidFill>
            <a:srgbClr val="00A8CC">
              <a:alpha val="5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4864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0" b="1" dirty="0">
                <a:solidFill>
                  <a:srgbClr val="FFFFFF">
                    <a:alpha val="80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9000" dirty="0"/>
          </a:p>
        </p:txBody>
      </p:sp>
      <p:sp>
        <p:nvSpPr>
          <p:cNvPr id="5" name="Text 3"/>
          <p:cNvSpPr/>
          <p:nvPr/>
        </p:nvSpPr>
        <p:spPr>
          <a:xfrm>
            <a:off x="2194560" y="100584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Big O Notation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2194560" y="1965960"/>
            <a:ext cx="6583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and compare algorithm efficiency</a:t>
            </a:r>
            <a:endParaRPr lang="en-US" sz="1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777240"/>
          </a:xfrm>
          <a:prstGeom prst="rect">
            <a:avLst/>
          </a:prstGeom>
          <a:solidFill>
            <a:srgbClr val="00A8CC"/>
          </a:solidFill>
          <a:ln/>
        </p:spPr>
      </p:sp>
      <p:sp>
        <p:nvSpPr>
          <p:cNvPr id="4" name="Text 2"/>
          <p:cNvSpPr/>
          <p:nvPr/>
        </p:nvSpPr>
        <p:spPr>
          <a:xfrm>
            <a:off x="347472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Big O Notation — The Big Picture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0B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Design &amp; Analysis  |  MSc Artificial Intelligence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960120"/>
            <a:ext cx="4480560" cy="3794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960120"/>
            <a:ext cx="4480560" cy="45720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9601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Big O?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11480" y="1508760"/>
            <a:ext cx="4206240" cy="3127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O describes the UPPER BOUND of an algorithm's time or space usage — the worst case.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answers: 'How does performance scale as n → ∞?'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Drop constants:  3n  →  O(n)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Drop lower terms:  n² + n  →  O(n²)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Keep only the dominant term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Compare algorithms objectively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Predict scaling behaviour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Identify bottlenecks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074920" y="96012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Efficiency Spectrum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074920" y="1435608"/>
            <a:ext cx="1417320" cy="475488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3" name="Text 11"/>
          <p:cNvSpPr/>
          <p:nvPr/>
        </p:nvSpPr>
        <p:spPr>
          <a:xfrm>
            <a:off x="5074920" y="1435608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O(1)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583680" y="1435608"/>
            <a:ext cx="2194560" cy="475488"/>
          </a:xfrm>
          <a:prstGeom prst="rect">
            <a:avLst/>
          </a:prstGeom>
          <a:solidFill>
            <a:srgbClr val="27AE60">
              <a:alpha val="25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0" y="1435608"/>
            <a:ext cx="2194560" cy="47548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074920" y="2002536"/>
            <a:ext cx="1417320" cy="475488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17" name="Text 15"/>
          <p:cNvSpPr/>
          <p:nvPr/>
        </p:nvSpPr>
        <p:spPr>
          <a:xfrm>
            <a:off x="5074920" y="2002536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O(log n)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583680" y="2002536"/>
            <a:ext cx="2194560" cy="475488"/>
          </a:xfrm>
          <a:prstGeom prst="rect">
            <a:avLst/>
          </a:prstGeom>
          <a:solidFill>
            <a:srgbClr val="2ECC71">
              <a:alpha val="25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6583680" y="2002536"/>
            <a:ext cx="2194560" cy="47548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074920" y="2569464"/>
            <a:ext cx="1417320" cy="475488"/>
          </a:xfrm>
          <a:prstGeom prst="rect">
            <a:avLst/>
          </a:prstGeom>
          <a:solidFill>
            <a:srgbClr val="F1C40F"/>
          </a:solidFill>
          <a:ln/>
        </p:spPr>
      </p:sp>
      <p:sp>
        <p:nvSpPr>
          <p:cNvPr id="21" name="Text 19"/>
          <p:cNvSpPr/>
          <p:nvPr/>
        </p:nvSpPr>
        <p:spPr>
          <a:xfrm>
            <a:off x="5074920" y="2569464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O(n)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583680" y="2569464"/>
            <a:ext cx="2194560" cy="475488"/>
          </a:xfrm>
          <a:prstGeom prst="rect">
            <a:avLst/>
          </a:prstGeom>
          <a:solidFill>
            <a:srgbClr val="F1C40F">
              <a:alpha val="25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6583680" y="2569464"/>
            <a:ext cx="2194560" cy="47548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074920" y="3136392"/>
            <a:ext cx="1417320" cy="475488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5" name="Text 23"/>
          <p:cNvSpPr/>
          <p:nvPr/>
        </p:nvSpPr>
        <p:spPr>
          <a:xfrm>
            <a:off x="5074920" y="3136392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O(n log n)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583680" y="3136392"/>
            <a:ext cx="2194560" cy="475488"/>
          </a:xfrm>
          <a:prstGeom prst="rect">
            <a:avLst/>
          </a:prstGeom>
          <a:solidFill>
            <a:srgbClr val="E67E22">
              <a:alpha val="25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6583680" y="3136392"/>
            <a:ext cx="2194560" cy="47548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074920" y="3703320"/>
            <a:ext cx="1417320" cy="475488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29" name="Text 27"/>
          <p:cNvSpPr/>
          <p:nvPr/>
        </p:nvSpPr>
        <p:spPr>
          <a:xfrm>
            <a:off x="5074920" y="3703320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O(n²)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6583680" y="3703320"/>
            <a:ext cx="2194560" cy="475488"/>
          </a:xfrm>
          <a:prstGeom prst="rect">
            <a:avLst/>
          </a:prstGeom>
          <a:solidFill>
            <a:srgbClr val="E74C3C">
              <a:alpha val="25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6583680" y="3703320"/>
            <a:ext cx="2194560" cy="47548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074920" y="4270248"/>
            <a:ext cx="1417320" cy="475488"/>
          </a:xfrm>
          <a:prstGeom prst="rect">
            <a:avLst/>
          </a:prstGeom>
          <a:solidFill>
            <a:srgbClr val="922B21"/>
          </a:solidFill>
          <a:ln/>
        </p:spPr>
      </p:sp>
      <p:sp>
        <p:nvSpPr>
          <p:cNvPr id="33" name="Text 31"/>
          <p:cNvSpPr/>
          <p:nvPr/>
        </p:nvSpPr>
        <p:spPr>
          <a:xfrm>
            <a:off x="5074920" y="4270248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O(2ⁿ)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6583680" y="4270248"/>
            <a:ext cx="2194560" cy="475488"/>
          </a:xfrm>
          <a:prstGeom prst="rect">
            <a:avLst/>
          </a:prstGeom>
          <a:solidFill>
            <a:srgbClr val="922B21">
              <a:alpha val="25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6583680" y="4270248"/>
            <a:ext cx="2194560" cy="47548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Terrible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777240"/>
          </a:xfrm>
          <a:prstGeom prst="rect">
            <a:avLst/>
          </a:prstGeom>
          <a:solidFill>
            <a:srgbClr val="00A8CC"/>
          </a:solidFill>
          <a:ln/>
        </p:spPr>
      </p:sp>
      <p:sp>
        <p:nvSpPr>
          <p:cNvPr id="4" name="Text 2"/>
          <p:cNvSpPr/>
          <p:nvPr/>
        </p:nvSpPr>
        <p:spPr>
          <a:xfrm>
            <a:off x="347472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Comparing Sorting Algorithms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0B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Design &amp; Analysis  |  MSc Artificial Intelligence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932688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Big O to choose the right algorithm for the job:</a:t>
            </a:r>
            <a:endParaRPr lang="en-US" sz="14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8503920" cy="3291840"/>
        </p:xfrm>
        <a:graphic>
          <a:graphicData uri="http://schemas.openxmlformats.org/drawingml/2006/table">
            <a:tbl>
              <a:tblPr/>
              <a:tblGrid>
                <a:gridCol w="1554480"/>
                <a:gridCol w="1188720"/>
                <a:gridCol w="1463040"/>
                <a:gridCol w="1463040"/>
                <a:gridCol w="914400"/>
                <a:gridCol w="192024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Algorithm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Case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 Case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Worst Case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Strategy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Bubble Sort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O(n²)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O(n²)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Greedy / Brute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Insertion Sort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O(n²)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O(n²)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Greedy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Merge Sort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 log n)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 log n)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 log n)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Divide &amp; Conquer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Quick Sort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 log n)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 log n)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O(n²)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O(log n)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Divide &amp; Conquer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Binary Search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O(log n)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O(log n)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Divide &amp; Conquer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65760" y="461772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1A5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Merge Sort guarantees O(n log n) worst case — preferred for large datasets.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56B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A8CC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148840"/>
            <a:ext cx="8229600" cy="54864"/>
          </a:xfrm>
          <a:prstGeom prst="rect">
            <a:avLst/>
          </a:prstGeom>
          <a:solidFill>
            <a:srgbClr val="00A8CC">
              <a:alpha val="5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4864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0" b="1" dirty="0">
                <a:solidFill>
                  <a:srgbClr val="FFFFFF">
                    <a:alpha val="80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9000" dirty="0"/>
          </a:p>
        </p:txBody>
      </p:sp>
      <p:sp>
        <p:nvSpPr>
          <p:cNvPr id="5" name="Text 3"/>
          <p:cNvSpPr/>
          <p:nvPr/>
        </p:nvSpPr>
        <p:spPr>
          <a:xfrm>
            <a:off x="2194560" y="100584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Worked Examples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2194560" y="1965960"/>
            <a:ext cx="6583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Applying analysis to real code</a:t>
            </a:r>
            <a:endParaRPr lang="en-US" sz="17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777240"/>
          </a:xfrm>
          <a:prstGeom prst="rect">
            <a:avLst/>
          </a:prstGeom>
          <a:solidFill>
            <a:srgbClr val="00A8CC"/>
          </a:solidFill>
          <a:ln/>
        </p:spPr>
      </p:sp>
      <p:sp>
        <p:nvSpPr>
          <p:cNvPr id="4" name="Text 2"/>
          <p:cNvSpPr/>
          <p:nvPr/>
        </p:nvSpPr>
        <p:spPr>
          <a:xfrm>
            <a:off x="347472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Example 1: find_max — O(n)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0B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Design &amp; Analysis  |  MSc Artificial Intelligence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93268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maximum value in an unsorted array: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320" y="1353312"/>
            <a:ext cx="5394960" cy="1828800"/>
          </a:xfrm>
          <a:prstGeom prst="rect">
            <a:avLst/>
          </a:prstGeom>
          <a:solidFill>
            <a:srgbClr val="1E2D45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353312"/>
            <a:ext cx="109728" cy="1828800"/>
          </a:xfrm>
          <a:prstGeom prst="rect">
            <a:avLst/>
          </a:prstGeom>
          <a:solidFill>
            <a:srgbClr val="00A8CC"/>
          </a:solidFill>
          <a:ln/>
        </p:spPr>
      </p:sp>
      <p:sp>
        <p:nvSpPr>
          <p:cNvPr id="10" name="Text 8"/>
          <p:cNvSpPr/>
          <p:nvPr/>
        </p:nvSpPr>
        <p:spPr>
          <a:xfrm>
            <a:off x="438912" y="1353312"/>
            <a:ext cx="5193792" cy="18288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find_max(arr):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max_value = arr[0]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i in range(1, len(arr)):    # ← runs n-1 times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arr[i] &gt; max_value:        # ← basic operation: comparison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max_value = arr[i]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max_value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852160" y="1353312"/>
            <a:ext cx="297180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852160" y="1426464"/>
            <a:ext cx="411480" cy="411480"/>
          </a:xfrm>
          <a:prstGeom prst="ellipse">
            <a:avLst/>
          </a:prstGeom>
          <a:solidFill>
            <a:srgbClr val="00A8CC"/>
          </a:solidFill>
          <a:ln/>
        </p:spPr>
      </p:sp>
      <p:sp>
        <p:nvSpPr>
          <p:cNvPr id="13" name="Text 11"/>
          <p:cNvSpPr/>
          <p:nvPr/>
        </p:nvSpPr>
        <p:spPr>
          <a:xfrm>
            <a:off x="5852160" y="142646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355080" y="138074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Identify Basic Op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55080" y="16459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inside the loop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852160" y="2011680"/>
            <a:ext cx="297180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852160" y="2084832"/>
            <a:ext cx="411480" cy="411480"/>
          </a:xfrm>
          <a:prstGeom prst="ellipse">
            <a:avLst/>
          </a:prstGeom>
          <a:solidFill>
            <a:srgbClr val="00A8CC"/>
          </a:solidFill>
          <a:ln/>
        </p:spPr>
      </p:sp>
      <p:sp>
        <p:nvSpPr>
          <p:cNvPr id="18" name="Text 16"/>
          <p:cNvSpPr/>
          <p:nvPr/>
        </p:nvSpPr>
        <p:spPr>
          <a:xfrm>
            <a:off x="5852160" y="20848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355080" y="203911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Count Operations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355080" y="230428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runs n − 1 times → O(n)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852160" y="2670048"/>
            <a:ext cx="297180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852160" y="2743200"/>
            <a:ext cx="411480" cy="411480"/>
          </a:xfrm>
          <a:prstGeom prst="ellipse">
            <a:avLst/>
          </a:prstGeom>
          <a:solidFill>
            <a:srgbClr val="00A8CC"/>
          </a:solidFill>
          <a:ln/>
        </p:spPr>
      </p:sp>
      <p:sp>
        <p:nvSpPr>
          <p:cNvPr id="23" name="Text 21"/>
          <p:cNvSpPr/>
          <p:nvPr/>
        </p:nvSpPr>
        <p:spPr>
          <a:xfrm>
            <a:off x="5852160" y="2743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355080" y="26974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Big O Result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355080" y="296265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O(n)  — Linear Time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274320" y="3364992"/>
            <a:ext cx="8549640" cy="731520"/>
          </a:xfrm>
          <a:prstGeom prst="rect">
            <a:avLst/>
          </a:prstGeom>
          <a:solidFill>
            <a:srgbClr val="2ECC71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57200" y="336499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Verdict: Single loop — each element visited ONCE → Time Complexity: O(n)  |  Space Complexity: O(1)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320040" y="4251960"/>
            <a:ext cx="868680" cy="475488"/>
          </a:xfrm>
          <a:prstGeom prst="rect">
            <a:avLst/>
          </a:prstGeom>
          <a:solidFill>
            <a:srgbClr val="FFFFFF"/>
          </a:solidFill>
          <a:ln w="19050">
            <a:solidFill>
              <a:srgbClr val="0D1B3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" y="4251960"/>
            <a:ext cx="868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D1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1325880" y="4251960"/>
            <a:ext cx="868680" cy="475488"/>
          </a:xfrm>
          <a:prstGeom prst="rect">
            <a:avLst/>
          </a:prstGeom>
          <a:solidFill>
            <a:srgbClr val="FFFFFF"/>
          </a:solidFill>
          <a:ln w="19050">
            <a:solidFill>
              <a:srgbClr val="0D1B3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325880" y="4251960"/>
            <a:ext cx="868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D1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2331720" y="4251960"/>
            <a:ext cx="868680" cy="475488"/>
          </a:xfrm>
          <a:prstGeom prst="rect">
            <a:avLst/>
          </a:prstGeom>
          <a:solidFill>
            <a:srgbClr val="FFFFFF"/>
          </a:solidFill>
          <a:ln w="19050">
            <a:solidFill>
              <a:srgbClr val="0D1B3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331720" y="4251960"/>
            <a:ext cx="868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D1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3337560" y="4251960"/>
            <a:ext cx="868680" cy="475488"/>
          </a:xfrm>
          <a:prstGeom prst="rect">
            <a:avLst/>
          </a:prstGeom>
          <a:solidFill>
            <a:srgbClr val="2ECC71"/>
          </a:solidFill>
          <a:ln w="19050">
            <a:solidFill>
              <a:srgbClr val="0D1B3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337560" y="4251960"/>
            <a:ext cx="868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4343400" y="4251960"/>
            <a:ext cx="868680" cy="475488"/>
          </a:xfrm>
          <a:prstGeom prst="rect">
            <a:avLst/>
          </a:prstGeom>
          <a:solidFill>
            <a:srgbClr val="FFFFFF"/>
          </a:solidFill>
          <a:ln w="19050">
            <a:solidFill>
              <a:srgbClr val="0D1B3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343400" y="4251960"/>
            <a:ext cx="868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D1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5349240" y="4251960"/>
            <a:ext cx="868680" cy="475488"/>
          </a:xfrm>
          <a:prstGeom prst="rect">
            <a:avLst/>
          </a:prstGeom>
          <a:solidFill>
            <a:srgbClr val="FFFFFF"/>
          </a:solidFill>
          <a:ln w="19050">
            <a:solidFill>
              <a:srgbClr val="0D1B3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349240" y="4251960"/>
            <a:ext cx="868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D1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3355848" y="47365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max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777240"/>
          </a:xfrm>
          <a:prstGeom prst="rect">
            <a:avLst/>
          </a:prstGeom>
          <a:solidFill>
            <a:srgbClr val="00A8CC"/>
          </a:solidFill>
          <a:ln/>
        </p:spPr>
      </p:sp>
      <p:sp>
        <p:nvSpPr>
          <p:cNvPr id="4" name="Text 2"/>
          <p:cNvSpPr/>
          <p:nvPr/>
        </p:nvSpPr>
        <p:spPr>
          <a:xfrm>
            <a:off x="347472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Example 2: print_all_pairs — O(n²)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0B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Design &amp; Analysis  |  MSc Artificial Intelligence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93268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every pair of elements from an array: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320" y="1353312"/>
            <a:ext cx="5394960" cy="1920240"/>
          </a:xfrm>
          <a:prstGeom prst="rect">
            <a:avLst/>
          </a:prstGeom>
          <a:solidFill>
            <a:srgbClr val="1E2D45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353312"/>
            <a:ext cx="109728" cy="1920240"/>
          </a:xfrm>
          <a:prstGeom prst="rect">
            <a:avLst/>
          </a:prstGeom>
          <a:solidFill>
            <a:srgbClr val="00A8CC"/>
          </a:solidFill>
          <a:ln/>
        </p:spPr>
      </p:sp>
      <p:sp>
        <p:nvSpPr>
          <p:cNvPr id="10" name="Text 8"/>
          <p:cNvSpPr/>
          <p:nvPr/>
        </p:nvSpPr>
        <p:spPr>
          <a:xfrm>
            <a:off x="438912" y="1353312"/>
            <a:ext cx="5193792" cy="19202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print_all_pairs(arr):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i in range(len(arr)):       # ← outer loop: n times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j in range(len(arr)):   # ← inner loop: n times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print(arr[i], arr[j])   # ← basic operation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Total operations: n × n = n²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852160" y="1353312"/>
            <a:ext cx="297180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852160" y="1353312"/>
            <a:ext cx="2971800" cy="36576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13" name="Text 11"/>
          <p:cNvSpPr/>
          <p:nvPr/>
        </p:nvSpPr>
        <p:spPr>
          <a:xfrm>
            <a:off x="5961888" y="135331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Nested Loops = n²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961888" y="178308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3 → 3×3 = 9 pairs printed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10 → 10×10 = 100 pairs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100 → 10,000 pairs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1000 → 1,000,000 pairs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Grows quadratically!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74320" y="3429000"/>
            <a:ext cx="8549640" cy="731520"/>
          </a:xfrm>
          <a:prstGeom prst="rect">
            <a:avLst/>
          </a:prstGeom>
          <a:solidFill>
            <a:srgbClr val="C0392B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57200" y="34290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Verdict: Nested loops — n × n operations → Time Complexity: O(n²)  |  Space Complexity: O(1)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20040" y="4343400"/>
            <a:ext cx="475488" cy="338328"/>
          </a:xfrm>
          <a:prstGeom prst="rect">
            <a:avLst/>
          </a:prstGeom>
          <a:solidFill>
            <a:srgbClr val="00A8CC"/>
          </a:solidFill>
          <a:ln w="10160">
            <a:solidFill>
              <a:srgbClr val="AABBC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50392" y="4343400"/>
            <a:ext cx="475488" cy="338328"/>
          </a:xfrm>
          <a:prstGeom prst="rect">
            <a:avLst/>
          </a:prstGeom>
          <a:solidFill>
            <a:srgbClr val="E8EEF8"/>
          </a:solidFill>
          <a:ln w="10160">
            <a:solidFill>
              <a:srgbClr val="AABBC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380744" y="4343400"/>
            <a:ext cx="475488" cy="338328"/>
          </a:xfrm>
          <a:prstGeom prst="rect">
            <a:avLst/>
          </a:prstGeom>
          <a:solidFill>
            <a:srgbClr val="E8EEF8"/>
          </a:solidFill>
          <a:ln w="10160">
            <a:solidFill>
              <a:srgbClr val="AABBC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911096" y="4343400"/>
            <a:ext cx="475488" cy="338328"/>
          </a:xfrm>
          <a:prstGeom prst="rect">
            <a:avLst/>
          </a:prstGeom>
          <a:solidFill>
            <a:srgbClr val="E8EEF8"/>
          </a:solidFill>
          <a:ln w="10160">
            <a:solidFill>
              <a:srgbClr val="AABBC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" y="4727448"/>
            <a:ext cx="475488" cy="338328"/>
          </a:xfrm>
          <a:prstGeom prst="rect">
            <a:avLst/>
          </a:prstGeom>
          <a:solidFill>
            <a:srgbClr val="E8EEF8"/>
          </a:solidFill>
          <a:ln w="10160">
            <a:solidFill>
              <a:srgbClr val="AABBC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50392" y="4727448"/>
            <a:ext cx="475488" cy="338328"/>
          </a:xfrm>
          <a:prstGeom prst="rect">
            <a:avLst/>
          </a:prstGeom>
          <a:solidFill>
            <a:srgbClr val="00A8CC"/>
          </a:solidFill>
          <a:ln w="10160">
            <a:solidFill>
              <a:srgbClr val="AABBC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380744" y="4727448"/>
            <a:ext cx="475488" cy="338328"/>
          </a:xfrm>
          <a:prstGeom prst="rect">
            <a:avLst/>
          </a:prstGeom>
          <a:solidFill>
            <a:srgbClr val="E8EEF8"/>
          </a:solidFill>
          <a:ln w="10160">
            <a:solidFill>
              <a:srgbClr val="AABBC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911096" y="4727448"/>
            <a:ext cx="475488" cy="338328"/>
          </a:xfrm>
          <a:prstGeom prst="rect">
            <a:avLst/>
          </a:prstGeom>
          <a:solidFill>
            <a:srgbClr val="E8EEF8"/>
          </a:solidFill>
          <a:ln w="10160">
            <a:solidFill>
              <a:srgbClr val="AABBC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" y="5111496"/>
            <a:ext cx="475488" cy="338328"/>
          </a:xfrm>
          <a:prstGeom prst="rect">
            <a:avLst/>
          </a:prstGeom>
          <a:solidFill>
            <a:srgbClr val="E8EEF8"/>
          </a:solidFill>
          <a:ln w="10160">
            <a:solidFill>
              <a:srgbClr val="AABBC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50392" y="5111496"/>
            <a:ext cx="475488" cy="338328"/>
          </a:xfrm>
          <a:prstGeom prst="rect">
            <a:avLst/>
          </a:prstGeom>
          <a:solidFill>
            <a:srgbClr val="E8EEF8"/>
          </a:solidFill>
          <a:ln w="10160">
            <a:solidFill>
              <a:srgbClr val="AABBC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380744" y="5111496"/>
            <a:ext cx="475488" cy="338328"/>
          </a:xfrm>
          <a:prstGeom prst="rect">
            <a:avLst/>
          </a:prstGeom>
          <a:solidFill>
            <a:srgbClr val="00A8CC"/>
          </a:solidFill>
          <a:ln w="10160">
            <a:solidFill>
              <a:srgbClr val="AABBC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11096" y="5111496"/>
            <a:ext cx="475488" cy="338328"/>
          </a:xfrm>
          <a:prstGeom prst="rect">
            <a:avLst/>
          </a:prstGeom>
          <a:solidFill>
            <a:srgbClr val="E8EEF8"/>
          </a:solidFill>
          <a:ln w="10160">
            <a:solidFill>
              <a:srgbClr val="AABBC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" y="5495544"/>
            <a:ext cx="475488" cy="338328"/>
          </a:xfrm>
          <a:prstGeom prst="rect">
            <a:avLst/>
          </a:prstGeom>
          <a:solidFill>
            <a:srgbClr val="E8EEF8"/>
          </a:solidFill>
          <a:ln w="10160">
            <a:solidFill>
              <a:srgbClr val="AABBC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50392" y="5495544"/>
            <a:ext cx="475488" cy="338328"/>
          </a:xfrm>
          <a:prstGeom prst="rect">
            <a:avLst/>
          </a:prstGeom>
          <a:solidFill>
            <a:srgbClr val="E8EEF8"/>
          </a:solidFill>
          <a:ln w="10160">
            <a:solidFill>
              <a:srgbClr val="AABBC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380744" y="5495544"/>
            <a:ext cx="475488" cy="338328"/>
          </a:xfrm>
          <a:prstGeom prst="rect">
            <a:avLst/>
          </a:prstGeom>
          <a:solidFill>
            <a:srgbClr val="E8EEF8"/>
          </a:solidFill>
          <a:ln w="10160">
            <a:solidFill>
              <a:srgbClr val="AABBC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911096" y="5495544"/>
            <a:ext cx="475488" cy="338328"/>
          </a:xfrm>
          <a:prstGeom prst="rect">
            <a:avLst/>
          </a:prstGeom>
          <a:solidFill>
            <a:srgbClr val="00A8CC"/>
          </a:solidFill>
          <a:ln w="10160">
            <a:solidFill>
              <a:srgbClr val="AABBC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514600" y="4434840"/>
            <a:ext cx="5943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cell = one print call  (n × n grid)</a:t>
            </a:r>
            <a:endParaRPr lang="en-US" sz="12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777240"/>
          </a:xfrm>
          <a:prstGeom prst="rect">
            <a:avLst/>
          </a:prstGeom>
          <a:solidFill>
            <a:srgbClr val="00A8CC"/>
          </a:solidFill>
          <a:ln/>
        </p:spPr>
      </p:sp>
      <p:sp>
        <p:nvSpPr>
          <p:cNvPr id="4" name="Text 2"/>
          <p:cNvSpPr/>
          <p:nvPr/>
        </p:nvSpPr>
        <p:spPr>
          <a:xfrm>
            <a:off x="347472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Example 3: binary_search — O(log n)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0B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Design &amp; Analysis  |  MSc Artificial Intelligence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93268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for a target in a SORTED array — halve the search space each time: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320" y="1353312"/>
            <a:ext cx="5394960" cy="2606040"/>
          </a:xfrm>
          <a:prstGeom prst="rect">
            <a:avLst/>
          </a:prstGeom>
          <a:solidFill>
            <a:srgbClr val="1E2D45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353312"/>
            <a:ext cx="109728" cy="2606040"/>
          </a:xfrm>
          <a:prstGeom prst="rect">
            <a:avLst/>
          </a:prstGeom>
          <a:solidFill>
            <a:srgbClr val="00A8CC"/>
          </a:solidFill>
          <a:ln/>
        </p:spPr>
      </p:sp>
      <p:sp>
        <p:nvSpPr>
          <p:cNvPr id="10" name="Text 8"/>
          <p:cNvSpPr/>
          <p:nvPr/>
        </p:nvSpPr>
        <p:spPr>
          <a:xfrm>
            <a:off x="438912" y="1353312"/>
            <a:ext cx="5193792" cy="26060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binary_search(arr, target):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low, high = 0, len(arr) - 1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low &lt;= high:              # ← runs at most log₂(n) times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mid = (low + high) // 2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arr[mid] == target: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 mid              # ← found!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elif arr[mid] &lt; target: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low = mid + 1           # ← discard left half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else: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high = mid - 1          # ← discard right half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-1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852160" y="1353312"/>
            <a:ext cx="2971800" cy="2606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852160" y="1353312"/>
            <a:ext cx="2971800" cy="384048"/>
          </a:xfrm>
          <a:prstGeom prst="rect">
            <a:avLst/>
          </a:prstGeom>
          <a:solidFill>
            <a:srgbClr val="1A56B0"/>
          </a:solidFill>
          <a:ln/>
        </p:spPr>
      </p:sp>
      <p:sp>
        <p:nvSpPr>
          <p:cNvPr id="13" name="Text 11"/>
          <p:cNvSpPr/>
          <p:nvPr/>
        </p:nvSpPr>
        <p:spPr>
          <a:xfrm>
            <a:off x="5961888" y="135331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O(log n)?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961888" y="1810512"/>
            <a:ext cx="2743200" cy="2029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iteration halves n: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1024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512 → 256 → 128 → 64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32 → 16 → 8 → 4 → 2 → 1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steps: log₂(1024) = 10 ✓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74320" y="4114800"/>
            <a:ext cx="8549640" cy="731520"/>
          </a:xfrm>
          <a:prstGeom prst="rect">
            <a:avLst/>
          </a:prstGeom>
          <a:solidFill>
            <a:srgbClr val="00A8CC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57200" y="41148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Verdict: Input halved each step → Time Complexity: O(log n)  |  Space Complexity: O(1)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777240"/>
          </a:xfrm>
          <a:prstGeom prst="rect">
            <a:avLst/>
          </a:prstGeom>
          <a:solidFill>
            <a:srgbClr val="00A8CC"/>
          </a:solidFill>
          <a:ln/>
        </p:spPr>
      </p:sp>
      <p:sp>
        <p:nvSpPr>
          <p:cNvPr id="4" name="Text 2"/>
          <p:cNvSpPr/>
          <p:nvPr/>
        </p:nvSpPr>
        <p:spPr>
          <a:xfrm>
            <a:off x="347472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to Analyze Any Algorithm — 4-Step Method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0B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Design &amp; Analysis  |  MSc Artificial Intelligence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960120"/>
            <a:ext cx="8595360" cy="8961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960120"/>
            <a:ext cx="658368" cy="896112"/>
          </a:xfrm>
          <a:prstGeom prst="rect">
            <a:avLst/>
          </a:prstGeom>
          <a:solidFill>
            <a:srgbClr val="1A56B0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960120"/>
            <a:ext cx="65836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042416" y="1005840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Identify the Basic Operation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42416" y="1399032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executed operation (comparison, assignment, print, arithmetic)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274320" y="1947672"/>
            <a:ext cx="8595360" cy="8961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1947672"/>
            <a:ext cx="658368" cy="896112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14" name="Text 12"/>
          <p:cNvSpPr/>
          <p:nvPr/>
        </p:nvSpPr>
        <p:spPr>
          <a:xfrm>
            <a:off x="274320" y="1947672"/>
            <a:ext cx="65836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042416" y="1993392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Identify the Input Size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42416" y="2386584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Usually n — length of array, number of nodes, digits in a number, etc.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274320" y="2935224"/>
            <a:ext cx="8595360" cy="8961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2935224"/>
            <a:ext cx="658368" cy="896112"/>
          </a:xfrm>
          <a:prstGeom prst="rect">
            <a:avLst/>
          </a:prstGeom>
          <a:solidFill>
            <a:srgbClr val="1A56B0"/>
          </a:solidFill>
          <a:ln/>
        </p:spPr>
      </p:sp>
      <p:sp>
        <p:nvSpPr>
          <p:cNvPr id="19" name="Text 17"/>
          <p:cNvSpPr/>
          <p:nvPr/>
        </p:nvSpPr>
        <p:spPr>
          <a:xfrm>
            <a:off x="274320" y="2935224"/>
            <a:ext cx="65836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1042416" y="2980944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Count How Many Times It Runs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42416" y="3374136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 operations to n: single loop → n; nested loops → n²; halving → log n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274320" y="3922776"/>
            <a:ext cx="8595360" cy="8961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3922776"/>
            <a:ext cx="658368" cy="896112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24" name="Text 22"/>
          <p:cNvSpPr/>
          <p:nvPr/>
        </p:nvSpPr>
        <p:spPr>
          <a:xfrm>
            <a:off x="274320" y="3922776"/>
            <a:ext cx="65836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1042416" y="3968496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Express in Big O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042416" y="4361688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constants and lower-order terms. Keep the dominant term only.</a:t>
            </a:r>
            <a:endParaRPr lang="en-US" sz="12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A56B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A8CC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148840"/>
            <a:ext cx="8229600" cy="54864"/>
          </a:xfrm>
          <a:prstGeom prst="rect">
            <a:avLst/>
          </a:prstGeom>
          <a:solidFill>
            <a:srgbClr val="00A8CC">
              <a:alpha val="5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4864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0" b="1" dirty="0">
                <a:solidFill>
                  <a:srgbClr val="FFFFFF">
                    <a:alpha val="80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07</a:t>
            </a:r>
            <a:endParaRPr lang="en-US" sz="9000" dirty="0"/>
          </a:p>
        </p:txBody>
      </p:sp>
      <p:sp>
        <p:nvSpPr>
          <p:cNvPr id="5" name="Text 3"/>
          <p:cNvSpPr/>
          <p:nvPr/>
        </p:nvSpPr>
        <p:spPr>
          <a:xfrm>
            <a:off x="2194560" y="100584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Summary &amp; Quick Review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2194560" y="1965960"/>
            <a:ext cx="6583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learned today</a:t>
            </a:r>
            <a:endParaRPr lang="en-US" sz="17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777240"/>
          </a:xfrm>
          <a:prstGeom prst="rect">
            <a:avLst/>
          </a:prstGeom>
          <a:solidFill>
            <a:srgbClr val="00A8CC"/>
          </a:solidFill>
          <a:ln/>
        </p:spPr>
      </p:sp>
      <p:sp>
        <p:nvSpPr>
          <p:cNvPr id="4" name="Text 2"/>
          <p:cNvSpPr/>
          <p:nvPr/>
        </p:nvSpPr>
        <p:spPr>
          <a:xfrm>
            <a:off x="347472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Strategy Summary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0B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Design &amp; Analysis  |  MSc Artificial Intelligence</a:t>
            </a:r>
            <a:endParaRPr lang="en-US" sz="9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60120"/>
          <a:ext cx="8595360" cy="3474720"/>
        </p:xfrm>
        <a:graphic>
          <a:graphicData uri="http://schemas.openxmlformats.org/drawingml/2006/table">
            <a:tbl>
              <a:tblPr/>
              <a:tblGrid>
                <a:gridCol w="1737360"/>
                <a:gridCol w="2011680"/>
                <a:gridCol w="2011680"/>
                <a:gridCol w="1828800"/>
                <a:gridCol w="1005840"/>
              </a:tblGrid>
              <a:tr h="868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Strategy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Idea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 To Use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Classic Examples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Typical Complexity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Divide &amp; Conquer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Split → Solve each → Merge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Sub-problems are independent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Merge Sort, Binary Search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 log n) / O(log 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Greedy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local choice at each step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 optimum → global optimum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Dijkstra, Task Scheduling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Often O(n) or O(n log 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Dynamic Programming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C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 &amp; reuse sub-solutions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Overlapping sub-problems + optimal substructure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Fibonacci, Knapsack, LCS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O(n²) to O(n) with memoization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365760" y="457200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1A5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Remember: Design tells you HOW — Analysis tells you HOW WELL.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777240"/>
          </a:xfrm>
          <a:prstGeom prst="rect">
            <a:avLst/>
          </a:prstGeom>
          <a:solidFill>
            <a:srgbClr val="00A8CC"/>
          </a:solidFill>
          <a:ln/>
        </p:spPr>
      </p:sp>
      <p:sp>
        <p:nvSpPr>
          <p:cNvPr id="4" name="Text 2"/>
          <p:cNvSpPr/>
          <p:nvPr/>
        </p:nvSpPr>
        <p:spPr>
          <a:xfrm>
            <a:off x="347472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Big O Quick Reference Card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0B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Design &amp; Analysis  |  MSc Artificial Intelligence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960120"/>
            <a:ext cx="420624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960120"/>
            <a:ext cx="1417320" cy="118872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960120"/>
            <a:ext cx="1417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O(1)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783080" y="10515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Constant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783080" y="150876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Array access by index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2240280"/>
            <a:ext cx="420624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240280"/>
            <a:ext cx="1417320" cy="1188720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14" name="Text 12"/>
          <p:cNvSpPr/>
          <p:nvPr/>
        </p:nvSpPr>
        <p:spPr>
          <a:xfrm>
            <a:off x="274320" y="2240280"/>
            <a:ext cx="1417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O(log n)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783080" y="23317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Logarithmic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783080" y="27889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Binary Search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3520440"/>
            <a:ext cx="420624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3520440"/>
            <a:ext cx="1417320" cy="1188720"/>
          </a:xfrm>
          <a:prstGeom prst="rect">
            <a:avLst/>
          </a:prstGeom>
          <a:solidFill>
            <a:srgbClr val="F1C40F"/>
          </a:solidFill>
          <a:ln/>
        </p:spPr>
      </p:sp>
      <p:sp>
        <p:nvSpPr>
          <p:cNvPr id="19" name="Text 17"/>
          <p:cNvSpPr/>
          <p:nvPr/>
        </p:nvSpPr>
        <p:spPr>
          <a:xfrm>
            <a:off x="274320" y="3520440"/>
            <a:ext cx="1417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O(n)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1783080" y="36118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Linear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783080" y="40690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find_max, linear search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709160" y="960120"/>
            <a:ext cx="420624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09160" y="960120"/>
            <a:ext cx="1417320" cy="118872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4" name="Text 22"/>
          <p:cNvSpPr/>
          <p:nvPr/>
        </p:nvSpPr>
        <p:spPr>
          <a:xfrm>
            <a:off x="4709160" y="960120"/>
            <a:ext cx="1417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O(n log n)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6217920" y="10515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Linearithmic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217920" y="150876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Merge Sort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709160" y="2240280"/>
            <a:ext cx="420624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09160" y="2240280"/>
            <a:ext cx="1417320" cy="118872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29" name="Text 27"/>
          <p:cNvSpPr/>
          <p:nvPr/>
        </p:nvSpPr>
        <p:spPr>
          <a:xfrm>
            <a:off x="4709160" y="2240280"/>
            <a:ext cx="1417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O(n²)</a:t>
            </a:r>
            <a:endParaRPr lang="en-US" sz="1900" dirty="0"/>
          </a:p>
        </p:txBody>
      </p:sp>
      <p:sp>
        <p:nvSpPr>
          <p:cNvPr id="30" name="Text 28"/>
          <p:cNvSpPr/>
          <p:nvPr/>
        </p:nvSpPr>
        <p:spPr>
          <a:xfrm>
            <a:off x="6217920" y="23317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Quadratic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6217920" y="27889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print_all_pairs, Bubble Sort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709160" y="3520440"/>
            <a:ext cx="420624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09160" y="3520440"/>
            <a:ext cx="1417320" cy="1188720"/>
          </a:xfrm>
          <a:prstGeom prst="rect">
            <a:avLst/>
          </a:prstGeom>
          <a:solidFill>
            <a:srgbClr val="922B21"/>
          </a:solidFill>
          <a:ln/>
        </p:spPr>
      </p:sp>
      <p:sp>
        <p:nvSpPr>
          <p:cNvPr id="34" name="Text 32"/>
          <p:cNvSpPr/>
          <p:nvPr/>
        </p:nvSpPr>
        <p:spPr>
          <a:xfrm>
            <a:off x="4709160" y="3520440"/>
            <a:ext cx="1417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O(2ⁿ)</a:t>
            </a:r>
            <a:endParaRPr lang="en-US" sz="1900" dirty="0"/>
          </a:p>
        </p:txBody>
      </p:sp>
      <p:sp>
        <p:nvSpPr>
          <p:cNvPr id="35" name="Text 33"/>
          <p:cNvSpPr/>
          <p:nvPr/>
        </p:nvSpPr>
        <p:spPr>
          <a:xfrm>
            <a:off x="6217920" y="36118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Exponential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6217920" y="40690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Naïve Fibonacci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777240"/>
          </a:xfrm>
          <a:prstGeom prst="rect">
            <a:avLst/>
          </a:prstGeom>
          <a:solidFill>
            <a:srgbClr val="00A8CC"/>
          </a:solidFill>
          <a:ln/>
        </p:spPr>
      </p:sp>
      <p:sp>
        <p:nvSpPr>
          <p:cNvPr id="4" name="Text 2"/>
          <p:cNvSpPr/>
          <p:nvPr/>
        </p:nvSpPr>
        <p:spPr>
          <a:xfrm>
            <a:off x="347472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Takeaways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0B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Design &amp; Analysis  |  MSc Artificial Intelligence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960120"/>
            <a:ext cx="420624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960120"/>
            <a:ext cx="4206240" cy="45720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9" name="Text 7"/>
          <p:cNvSpPr/>
          <p:nvPr/>
        </p:nvSpPr>
        <p:spPr>
          <a:xfrm>
            <a:off x="384048" y="960120"/>
            <a:ext cx="3986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⚙  Design is about HOW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84048" y="1490472"/>
            <a:ext cx="3986784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right strategy — Divide &amp; Conquer, Greedy, or DP — based on the problem's structure.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09160" y="960120"/>
            <a:ext cx="420624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960120"/>
            <a:ext cx="4206240" cy="457200"/>
          </a:xfrm>
          <a:prstGeom prst="rect">
            <a:avLst/>
          </a:prstGeom>
          <a:solidFill>
            <a:srgbClr val="1A56B0"/>
          </a:solidFill>
          <a:ln/>
        </p:spPr>
      </p:sp>
      <p:sp>
        <p:nvSpPr>
          <p:cNvPr id="13" name="Text 11"/>
          <p:cNvSpPr/>
          <p:nvPr/>
        </p:nvSpPr>
        <p:spPr>
          <a:xfrm>
            <a:off x="4818888" y="960120"/>
            <a:ext cx="3986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📊  Analysis is about HOW WELL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818888" y="1490472"/>
            <a:ext cx="3986784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time and space complexity to measure efficiency. Always consider worst-case behaviour.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74320" y="2880360"/>
            <a:ext cx="420624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2880360"/>
            <a:ext cx="4206240" cy="45720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17" name="Text 15"/>
          <p:cNvSpPr/>
          <p:nvPr/>
        </p:nvSpPr>
        <p:spPr>
          <a:xfrm>
            <a:off x="384048" y="2880360"/>
            <a:ext cx="3986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 Big O is your tool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84048" y="3410712"/>
            <a:ext cx="3986784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complexity in Big O. Drop constants, keep dominant term, compare algorithms objectively.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709160" y="2880360"/>
            <a:ext cx="420624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2880360"/>
            <a:ext cx="4206240" cy="457200"/>
          </a:xfrm>
          <a:prstGeom prst="rect">
            <a:avLst/>
          </a:prstGeom>
          <a:solidFill>
            <a:srgbClr val="1A56B0"/>
          </a:solidFill>
          <a:ln/>
        </p:spPr>
      </p:sp>
      <p:sp>
        <p:nvSpPr>
          <p:cNvPr id="21" name="Text 19"/>
          <p:cNvSpPr/>
          <p:nvPr/>
        </p:nvSpPr>
        <p:spPr>
          <a:xfrm>
            <a:off x="4818888" y="2880360"/>
            <a:ext cx="3986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🔁  Loops reveal complexity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818888" y="3410712"/>
            <a:ext cx="3986784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loop → O(n). Nested loops → O(n²). Halving → O(log n). Recursive divide → O(n log n).</a:t>
            </a:r>
            <a:endParaRPr lang="en-US" sz="13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A8CC"/>
          </a:solidFill>
          <a:ln/>
        </p:spPr>
      </p:sp>
      <p:sp>
        <p:nvSpPr>
          <p:cNvPr id="3" name="Shape 1"/>
          <p:cNvSpPr/>
          <p:nvPr/>
        </p:nvSpPr>
        <p:spPr>
          <a:xfrm>
            <a:off x="8979408" y="0"/>
            <a:ext cx="164592" cy="5143500"/>
          </a:xfrm>
          <a:prstGeom prst="rect">
            <a:avLst/>
          </a:prstGeom>
          <a:solidFill>
            <a:srgbClr val="00A8CC"/>
          </a:solidFill>
          <a:ln/>
        </p:spPr>
      </p:sp>
      <p:sp>
        <p:nvSpPr>
          <p:cNvPr id="4" name="Shape 2"/>
          <p:cNvSpPr/>
          <p:nvPr/>
        </p:nvSpPr>
        <p:spPr>
          <a:xfrm>
            <a:off x="164592" y="2240280"/>
            <a:ext cx="8814816" cy="54864"/>
          </a:xfrm>
          <a:prstGeom prst="rect">
            <a:avLst/>
          </a:prstGeom>
          <a:solidFill>
            <a:srgbClr val="1A56B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77724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25786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2  |  MSc Artificial Intelligence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57200" y="299923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0B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Open University of Kenya  ·  January 2026 Cohort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4564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B0B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&amp; Conquer  ·  Greedy  ·  Dynamic Programming  ·  Big O Notation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Designing and Analyzing Algorithms</dc:title>
  <dc:subject>PptxGenJS Presentation</dc:subject>
  <dc:creator>CS Department</dc:creator>
  <cp:lastModifiedBy>CS Department</cp:lastModifiedBy>
  <cp:revision>1</cp:revision>
  <dcterms:created xsi:type="dcterms:W3CDTF">2026-02-16T13:45:38Z</dcterms:created>
  <dcterms:modified xsi:type="dcterms:W3CDTF">2026-02-16T13:45:38Z</dcterms:modified>
</cp:coreProperties>
</file>