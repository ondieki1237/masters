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52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69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27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29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69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011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247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13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901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9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61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Complex math formulas on a blackboard">
            <a:extLst>
              <a:ext uri="{FF2B5EF4-FFF2-40B4-BE49-F238E27FC236}">
                <a16:creationId xmlns:a16="http://schemas.microsoft.com/office/drawing/2014/main" id="{FFF352B6-9D6B-773A-88BD-3967A17A566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7578" b="5367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DCDA4F-36DC-E4EF-1EA8-8092187579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8408416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600" b="1">
                <a:solidFill>
                  <a:srgbClr val="FFFFFF"/>
                </a:solidFill>
              </a:rPr>
              <a:t>Module 1: Introduction To Algorithms</a:t>
            </a:r>
            <a:br>
              <a:rPr lang="en-US" sz="5600" b="1">
                <a:solidFill>
                  <a:srgbClr val="FFFFFF"/>
                </a:solidFill>
              </a:rPr>
            </a:br>
            <a:endParaRPr lang="en-KE" sz="56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EA2000-AD17-7545-B138-72445F23AD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11674130" cy="1724029"/>
          </a:xfrm>
        </p:spPr>
        <p:txBody>
          <a:bodyPr anchor="t">
            <a:normAutofit/>
          </a:bodyPr>
          <a:lstStyle/>
          <a:p>
            <a:r>
              <a:rPr lang="en-US" sz="3200" b="1" i="0" dirty="0">
                <a:solidFill>
                  <a:srgbClr val="FFFFFF"/>
                </a:solidFill>
              </a:rPr>
              <a:t>Group 1 Assignment:</a:t>
            </a:r>
          </a:p>
          <a:p>
            <a:r>
              <a:rPr lang="en-US" sz="3200" b="1" i="0" dirty="0">
                <a:solidFill>
                  <a:srgbClr val="FFFFFF"/>
                </a:solidFill>
              </a:rPr>
              <a:t>Python code to implement the Average Calculator Algorithm</a:t>
            </a:r>
            <a:r>
              <a:rPr lang="en-US" sz="2400" dirty="0">
                <a:solidFill>
                  <a:srgbClr val="FFFFFF"/>
                </a:solidFill>
              </a:rPr>
              <a:t>.</a:t>
            </a:r>
            <a:endParaRPr lang="en-KE" sz="2400" dirty="0">
              <a:solidFill>
                <a:srgbClr val="FFFFFF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2914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AF3766F-DEF3-4802-BB0D-7A18EDD970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BE22FC-7DC0-7D41-4C74-632B977A5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869" y="1000768"/>
            <a:ext cx="3566452" cy="29855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Group Members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D0C058D-27D4-3139-E199-E2C11099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94E0531-D614-3CB6-996E-FF0184A33A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6300216"/>
            <a:ext cx="11165482" cy="45719"/>
          </a:xfrm>
          <a:custGeom>
            <a:avLst/>
            <a:gdLst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5021183 w 11165482"/>
              <a:gd name="connsiteY2" fmla="*/ 0 h 45719"/>
              <a:gd name="connsiteX3" fmla="*/ 6144299 w 11165482"/>
              <a:gd name="connsiteY3" fmla="*/ 0 h 45719"/>
              <a:gd name="connsiteX4" fmla="*/ 8715708 w 11165482"/>
              <a:gd name="connsiteY4" fmla="*/ 0 h 45719"/>
              <a:gd name="connsiteX5" fmla="*/ 11165482 w 11165482"/>
              <a:gd name="connsiteY5" fmla="*/ 0 h 45719"/>
              <a:gd name="connsiteX6" fmla="*/ 11165482 w 11165482"/>
              <a:gd name="connsiteY6" fmla="*/ 45719 h 45719"/>
              <a:gd name="connsiteX7" fmla="*/ 8715708 w 11165482"/>
              <a:gd name="connsiteY7" fmla="*/ 45719 h 45719"/>
              <a:gd name="connsiteX8" fmla="*/ 6144299 w 11165482"/>
              <a:gd name="connsiteY8" fmla="*/ 45719 h 45719"/>
              <a:gd name="connsiteX9" fmla="*/ 5021183 w 11165482"/>
              <a:gd name="connsiteY9" fmla="*/ 45719 h 45719"/>
              <a:gd name="connsiteX10" fmla="*/ 3694525 w 11165482"/>
              <a:gd name="connsiteY10" fmla="*/ 45719 h 45719"/>
              <a:gd name="connsiteX11" fmla="*/ 0 w 11165482"/>
              <a:gd name="connsiteY11" fmla="*/ 45719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3694525 w 11165482"/>
              <a:gd name="connsiteY9" fmla="*/ 45719 h 45719"/>
              <a:gd name="connsiteX10" fmla="*/ 0 w 11165482"/>
              <a:gd name="connsiteY10" fmla="*/ 45719 h 45719"/>
              <a:gd name="connsiteX11" fmla="*/ 0 w 11165482"/>
              <a:gd name="connsiteY11" fmla="*/ 0 h 45719"/>
              <a:gd name="connsiteX0" fmla="*/ 0 w 11165482"/>
              <a:gd name="connsiteY0" fmla="*/ 0 h 45719"/>
              <a:gd name="connsiteX1" fmla="*/ 3694525 w 11165482"/>
              <a:gd name="connsiteY1" fmla="*/ 0 h 45719"/>
              <a:gd name="connsiteX2" fmla="*/ 6144299 w 11165482"/>
              <a:gd name="connsiteY2" fmla="*/ 0 h 45719"/>
              <a:gd name="connsiteX3" fmla="*/ 8715708 w 11165482"/>
              <a:gd name="connsiteY3" fmla="*/ 0 h 45719"/>
              <a:gd name="connsiteX4" fmla="*/ 11165482 w 11165482"/>
              <a:gd name="connsiteY4" fmla="*/ 0 h 45719"/>
              <a:gd name="connsiteX5" fmla="*/ 11165482 w 11165482"/>
              <a:gd name="connsiteY5" fmla="*/ 45719 h 45719"/>
              <a:gd name="connsiteX6" fmla="*/ 8715708 w 11165482"/>
              <a:gd name="connsiteY6" fmla="*/ 45719 h 45719"/>
              <a:gd name="connsiteX7" fmla="*/ 6144299 w 11165482"/>
              <a:gd name="connsiteY7" fmla="*/ 45719 h 45719"/>
              <a:gd name="connsiteX8" fmla="*/ 5021183 w 11165482"/>
              <a:gd name="connsiteY8" fmla="*/ 45719 h 45719"/>
              <a:gd name="connsiteX9" fmla="*/ 0 w 11165482"/>
              <a:gd name="connsiteY9" fmla="*/ 45719 h 45719"/>
              <a:gd name="connsiteX10" fmla="*/ 0 w 11165482"/>
              <a:gd name="connsiteY10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6144299 w 11165482"/>
              <a:gd name="connsiteY6" fmla="*/ 45719 h 45719"/>
              <a:gd name="connsiteX7" fmla="*/ 5021183 w 11165482"/>
              <a:gd name="connsiteY7" fmla="*/ 45719 h 45719"/>
              <a:gd name="connsiteX8" fmla="*/ 0 w 11165482"/>
              <a:gd name="connsiteY8" fmla="*/ 45719 h 45719"/>
              <a:gd name="connsiteX9" fmla="*/ 0 w 11165482"/>
              <a:gd name="connsiteY9" fmla="*/ 0 h 45719"/>
              <a:gd name="connsiteX0" fmla="*/ 0 w 11165482"/>
              <a:gd name="connsiteY0" fmla="*/ 0 h 45719"/>
              <a:gd name="connsiteX1" fmla="*/ 6144299 w 11165482"/>
              <a:gd name="connsiteY1" fmla="*/ 0 h 45719"/>
              <a:gd name="connsiteX2" fmla="*/ 8715708 w 11165482"/>
              <a:gd name="connsiteY2" fmla="*/ 0 h 45719"/>
              <a:gd name="connsiteX3" fmla="*/ 11165482 w 11165482"/>
              <a:gd name="connsiteY3" fmla="*/ 0 h 45719"/>
              <a:gd name="connsiteX4" fmla="*/ 11165482 w 11165482"/>
              <a:gd name="connsiteY4" fmla="*/ 45719 h 45719"/>
              <a:gd name="connsiteX5" fmla="*/ 8715708 w 11165482"/>
              <a:gd name="connsiteY5" fmla="*/ 45719 h 45719"/>
              <a:gd name="connsiteX6" fmla="*/ 5021183 w 11165482"/>
              <a:gd name="connsiteY6" fmla="*/ 45719 h 45719"/>
              <a:gd name="connsiteX7" fmla="*/ 0 w 11165482"/>
              <a:gd name="connsiteY7" fmla="*/ 45719 h 45719"/>
              <a:gd name="connsiteX8" fmla="*/ 0 w 11165482"/>
              <a:gd name="connsiteY8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5021183 w 11165482"/>
              <a:gd name="connsiteY5" fmla="*/ 45719 h 45719"/>
              <a:gd name="connsiteX6" fmla="*/ 0 w 11165482"/>
              <a:gd name="connsiteY6" fmla="*/ 45719 h 45719"/>
              <a:gd name="connsiteX7" fmla="*/ 0 w 11165482"/>
              <a:gd name="connsiteY7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8715708 w 11165482"/>
              <a:gd name="connsiteY4" fmla="*/ 45719 h 45719"/>
              <a:gd name="connsiteX5" fmla="*/ 0 w 11165482"/>
              <a:gd name="connsiteY5" fmla="*/ 45719 h 45719"/>
              <a:gd name="connsiteX6" fmla="*/ 0 w 11165482"/>
              <a:gd name="connsiteY6" fmla="*/ 0 h 45719"/>
              <a:gd name="connsiteX0" fmla="*/ 0 w 11165482"/>
              <a:gd name="connsiteY0" fmla="*/ 0 h 45719"/>
              <a:gd name="connsiteX1" fmla="*/ 8715708 w 11165482"/>
              <a:gd name="connsiteY1" fmla="*/ 0 h 45719"/>
              <a:gd name="connsiteX2" fmla="*/ 11165482 w 11165482"/>
              <a:gd name="connsiteY2" fmla="*/ 0 h 45719"/>
              <a:gd name="connsiteX3" fmla="*/ 11165482 w 11165482"/>
              <a:gd name="connsiteY3" fmla="*/ 45719 h 45719"/>
              <a:gd name="connsiteX4" fmla="*/ 0 w 11165482"/>
              <a:gd name="connsiteY4" fmla="*/ 45719 h 45719"/>
              <a:gd name="connsiteX5" fmla="*/ 0 w 11165482"/>
              <a:gd name="connsiteY5" fmla="*/ 0 h 45719"/>
              <a:gd name="connsiteX0" fmla="*/ 0 w 11165482"/>
              <a:gd name="connsiteY0" fmla="*/ 0 h 45719"/>
              <a:gd name="connsiteX1" fmla="*/ 11165482 w 11165482"/>
              <a:gd name="connsiteY1" fmla="*/ 0 h 45719"/>
              <a:gd name="connsiteX2" fmla="*/ 11165482 w 11165482"/>
              <a:gd name="connsiteY2" fmla="*/ 45719 h 45719"/>
              <a:gd name="connsiteX3" fmla="*/ 0 w 11165482"/>
              <a:gd name="connsiteY3" fmla="*/ 45719 h 45719"/>
              <a:gd name="connsiteX4" fmla="*/ 0 w 11165482"/>
              <a:gd name="connsiteY4" fmla="*/ 0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65482" h="45719">
                <a:moveTo>
                  <a:pt x="0" y="0"/>
                </a:moveTo>
                <a:lnTo>
                  <a:pt x="11165482" y="0"/>
                </a:lnTo>
                <a:lnTo>
                  <a:pt x="11165482" y="45719"/>
                </a:lnTo>
                <a:lnTo>
                  <a:pt x="0" y="45719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1C9E13-3201-2E76-98BC-7B013083D1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402080"/>
              </p:ext>
            </p:extLst>
          </p:nvPr>
        </p:nvGraphicFramePr>
        <p:xfrm>
          <a:off x="4822371" y="1000768"/>
          <a:ext cx="6368044" cy="5249310"/>
        </p:xfrm>
        <a:graphic>
          <a:graphicData uri="http://schemas.openxmlformats.org/drawingml/2006/table">
            <a:tbl>
              <a:tblPr>
                <a:solidFill>
                  <a:schemeClr val="tx1">
                    <a:lumMod val="75000"/>
                    <a:lumOff val="25000"/>
                  </a:schemeClr>
                </a:solidFill>
                <a:tableStyleId>{5C22544A-7EE6-4342-B048-85BDC9FD1C3A}</a:tableStyleId>
              </a:tblPr>
              <a:tblGrid>
                <a:gridCol w="2788622">
                  <a:extLst>
                    <a:ext uri="{9D8B030D-6E8A-4147-A177-3AD203B41FA5}">
                      <a16:colId xmlns:a16="http://schemas.microsoft.com/office/drawing/2014/main" val="4029188180"/>
                    </a:ext>
                  </a:extLst>
                </a:gridCol>
                <a:gridCol w="3579422">
                  <a:extLst>
                    <a:ext uri="{9D8B030D-6E8A-4147-A177-3AD203B41FA5}">
                      <a16:colId xmlns:a16="http://schemas.microsoft.com/office/drawing/2014/main" val="3025285130"/>
                    </a:ext>
                  </a:extLst>
                </a:gridCol>
              </a:tblGrid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Felix Rono </a:t>
                      </a:r>
                      <a:endParaRPr lang="en-US" sz="1600" b="0" i="0" u="none" strike="noStrike" cap="none" spc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Edna Mwenda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58186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Julius Munah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Irine owando otieno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966289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Ruth Angwa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Mark Ogutu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397800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Awuor Gift Maggy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Mwamba Mati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313425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Hellen Mati Moses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Sheillah J Kamarei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85701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Ronald Kimutai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Gideon Kosgei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7939093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James Odipo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RONALD TANUI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011474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Victor Keya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Tekviah Munandi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893493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Ivy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Joseph Oyugi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756138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Duncan Leteri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Stephen Waweru Kahuthu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350320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Caleb Tonya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Felix Okal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9423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Abigael Kanyasi Lew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Lawrence Mugambi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12425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Ezekiel Bungei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Raphael Oyoo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803986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Timothy muimi musya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Samwel kipsang </a:t>
                      </a:r>
                      <a:endParaRPr lang="en-US" sz="1600" b="1" i="0" u="none" strike="noStrike" cap="none" spc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542679"/>
                  </a:ext>
                </a:extLst>
              </a:tr>
              <a:tr h="330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6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Vincent Otieno </a:t>
                      </a:r>
                      <a:endParaRPr lang="en-US" sz="1600" b="1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 Black" panose="020B0A04020102020204" pitchFamily="34" charset="0"/>
                      </a:endParaRPr>
                    </a:p>
                  </a:txBody>
                  <a:tcPr marL="68974" marR="3685" marT="53057" marB="53057" anchor="b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KE" sz="16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8974" marR="3685" marT="53057" marB="53057" anchor="b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005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549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A59A91-97EF-E9A5-92AD-7CF9D84F2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  <a:endParaRPr lang="en-KE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51EAD-1B8A-DE29-B2BE-EEB276E02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635777"/>
            <a:ext cx="7750628" cy="4982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Design and implementation of average calculator algorithm</a:t>
            </a:r>
          </a:p>
          <a:p>
            <a:pPr marL="0" indent="0">
              <a:buNone/>
            </a:pPr>
            <a:r>
              <a:rPr lang="en-US" sz="2200" dirty="0"/>
              <a:t>Objective:</a:t>
            </a:r>
          </a:p>
          <a:p>
            <a:r>
              <a:rPr lang="en-US" sz="2200" dirty="0"/>
              <a:t>In this graded lab activity, you are expected to create a flowchart, write pseudocode, and implement the algorithm in Python. This activity aims to assess your ability to develop basic algorithms and translate them into code.</a:t>
            </a:r>
          </a:p>
          <a:p>
            <a:pPr marL="0" indent="0">
              <a:buNone/>
            </a:pPr>
            <a:r>
              <a:rPr lang="en-US" sz="2200" dirty="0"/>
              <a:t>Task: Implementing the Average Calculator Algorithm</a:t>
            </a:r>
          </a:p>
          <a:p>
            <a:r>
              <a:rPr lang="en-US" sz="2200" dirty="0"/>
              <a:t>The Average Calculator Algorithm is a basic algorithm that calculates the average of a set of numbers. It involves summing the numbers and then dividing by the count of the numbers.</a:t>
            </a:r>
          </a:p>
          <a:p>
            <a:endParaRPr lang="en-KE" sz="1700" dirty="0"/>
          </a:p>
        </p:txBody>
      </p:sp>
      <p:pic>
        <p:nvPicPr>
          <p:cNvPr id="7" name="Graphic 6" descr="Calculator">
            <a:extLst>
              <a:ext uri="{FF2B5EF4-FFF2-40B4-BE49-F238E27FC236}">
                <a16:creationId xmlns:a16="http://schemas.microsoft.com/office/drawing/2014/main" id="{C4D6B1D5-1CEF-F435-64D5-24DEEAB6E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5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5AD66-355F-7D05-37FD-52A01EF08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04" y="729342"/>
            <a:ext cx="5302647" cy="402772"/>
          </a:xfrm>
        </p:spPr>
        <p:txBody>
          <a:bodyPr>
            <a:normAutofit/>
          </a:bodyPr>
          <a:lstStyle/>
          <a:p>
            <a:r>
              <a:rPr lang="en-US" sz="1600" dirty="0"/>
              <a:t>Python Code on </a:t>
            </a:r>
            <a:r>
              <a:rPr lang="en-US" sz="1600" dirty="0" err="1"/>
              <a:t>Jupyter</a:t>
            </a:r>
            <a:r>
              <a:rPr lang="en-US" sz="1600" dirty="0"/>
              <a:t> Notebook</a:t>
            </a:r>
            <a:endParaRPr lang="en-KE"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B32358-0BBB-7819-6079-02D4DF680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7" y="1278714"/>
            <a:ext cx="6125430" cy="51061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3644E19-7EA9-F270-974C-B5293F170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307" y="1497819"/>
            <a:ext cx="6039693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25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94FEC-71B4-E12C-E607-0F62FB0AF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E102C-09B9-BB7B-CF13-7F6DE59EE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1752602"/>
            <a:ext cx="11409535" cy="5029199"/>
          </a:xfrm>
        </p:spPr>
        <p:txBody>
          <a:bodyPr>
            <a:normAutofit/>
          </a:bodyPr>
          <a:lstStyle/>
          <a:p>
            <a:r>
              <a:rPr lang="en-US" sz="2400" dirty="0"/>
              <a:t>The Average Calculator code demonstrates the effective use of loops, error handling to build a reliable and user-friendly application. </a:t>
            </a:r>
          </a:p>
          <a:p>
            <a:r>
              <a:rPr lang="en-US" sz="2400" dirty="0"/>
              <a:t>By incorporating( “TRY” and “EXCEPT”)blocks, the program prevents crashes caused by invalid inputs and ensures that users enter valid numerical values before proceeding.</a:t>
            </a:r>
          </a:p>
          <a:p>
            <a:r>
              <a:rPr lang="en-US" sz="2400" dirty="0"/>
              <a:t>The use of input validation and repetition structures (“while” and “for” loops) guarantees accuracy in calculating the total sum and computing the average. </a:t>
            </a:r>
          </a:p>
          <a:p>
            <a:r>
              <a:rPr lang="en-US" sz="2400" dirty="0"/>
              <a:t>This implementation highlights the importance of writing robust code that not only performs calculations correctly but also handles real-world user behavior gracefully.</a:t>
            </a:r>
          </a:p>
        </p:txBody>
      </p:sp>
    </p:spTree>
    <p:extLst>
      <p:ext uri="{BB962C8B-B14F-4D97-AF65-F5344CB8AC3E}">
        <p14:creationId xmlns:p14="http://schemas.microsoft.com/office/powerpoint/2010/main" val="1651116457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287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 Narrow</vt:lpstr>
      <vt:lpstr>Arial</vt:lpstr>
      <vt:lpstr>Arial Black</vt:lpstr>
      <vt:lpstr>Bierstadt</vt:lpstr>
      <vt:lpstr>GestaltVTI</vt:lpstr>
      <vt:lpstr>Module 1: Introduction To Algorithms </vt:lpstr>
      <vt:lpstr>Group Members</vt:lpstr>
      <vt:lpstr>Introduction</vt:lpstr>
      <vt:lpstr>Python Code on Jupyter Notebook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 keya</dc:creator>
  <cp:lastModifiedBy>victor keya</cp:lastModifiedBy>
  <cp:revision>2</cp:revision>
  <dcterms:created xsi:type="dcterms:W3CDTF">2026-02-09T10:57:16Z</dcterms:created>
  <dcterms:modified xsi:type="dcterms:W3CDTF">2026-02-09T12:38:22Z</dcterms:modified>
</cp:coreProperties>
</file>